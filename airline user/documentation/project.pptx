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5" autoAdjust="0"/>
    <p:restoredTop sz="94660"/>
  </p:normalViewPr>
  <p:slideViewPr>
    <p:cSldViewPr snapToGrid="0">
      <p:cViewPr varScale="1">
        <p:scale>
          <a:sx n="78" d="100"/>
          <a:sy n="78" d="100"/>
        </p:scale>
        <p:origin x="74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54B1072-BB3E-41DF-8CD1-D1FFFC73588C}"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596629-F630-418D-82E9-36AF47C681A7}" type="slidenum">
              <a:rPr lang="en-IN" smtClean="0"/>
              <a:t>‹#›</a:t>
            </a:fld>
            <a:endParaRPr lang="en-IN"/>
          </a:p>
        </p:txBody>
      </p:sp>
    </p:spTree>
    <p:extLst>
      <p:ext uri="{BB962C8B-B14F-4D97-AF65-F5344CB8AC3E}">
        <p14:creationId xmlns:p14="http://schemas.microsoft.com/office/powerpoint/2010/main" val="924639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4B1072-BB3E-41DF-8CD1-D1FFFC73588C}"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596629-F630-418D-82E9-36AF47C681A7}" type="slidenum">
              <a:rPr lang="en-IN" smtClean="0"/>
              <a:t>‹#›</a:t>
            </a:fld>
            <a:endParaRPr lang="en-IN"/>
          </a:p>
        </p:txBody>
      </p:sp>
    </p:spTree>
    <p:extLst>
      <p:ext uri="{BB962C8B-B14F-4D97-AF65-F5344CB8AC3E}">
        <p14:creationId xmlns:p14="http://schemas.microsoft.com/office/powerpoint/2010/main" val="240283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4B1072-BB3E-41DF-8CD1-D1FFFC73588C}"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596629-F630-418D-82E9-36AF47C681A7}" type="slidenum">
              <a:rPr lang="en-IN" smtClean="0"/>
              <a:t>‹#›</a:t>
            </a:fld>
            <a:endParaRPr lang="en-IN"/>
          </a:p>
        </p:txBody>
      </p:sp>
    </p:spTree>
    <p:extLst>
      <p:ext uri="{BB962C8B-B14F-4D97-AF65-F5344CB8AC3E}">
        <p14:creationId xmlns:p14="http://schemas.microsoft.com/office/powerpoint/2010/main" val="836079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4B1072-BB3E-41DF-8CD1-D1FFFC73588C}" type="datetimeFigureOut">
              <a:rPr lang="en-IN" smtClean="0"/>
              <a:t>02-01-2026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596629-F630-418D-82E9-36AF47C681A7}" type="slidenum">
              <a:rPr lang="en-IN" smtClean="0"/>
              <a:t>‹#›</a:t>
            </a:fld>
            <a:endParaRPr lang="en-IN"/>
          </a:p>
        </p:txBody>
      </p:sp>
    </p:spTree>
    <p:extLst>
      <p:ext uri="{BB962C8B-B14F-4D97-AF65-F5344CB8AC3E}">
        <p14:creationId xmlns:p14="http://schemas.microsoft.com/office/powerpoint/2010/main" val="3307494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4B1072-BB3E-41DF-8CD1-D1FFFC73588C}" type="datetimeFigureOut">
              <a:rPr lang="en-IN" smtClean="0"/>
              <a:t>02-01-2026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A596629-F630-418D-82E9-36AF47C681A7}" type="slidenum">
              <a:rPr lang="en-IN" smtClean="0"/>
              <a:t>‹#›</a:t>
            </a:fld>
            <a:endParaRPr lang="en-IN"/>
          </a:p>
        </p:txBody>
      </p:sp>
    </p:spTree>
    <p:extLst>
      <p:ext uri="{BB962C8B-B14F-4D97-AF65-F5344CB8AC3E}">
        <p14:creationId xmlns:p14="http://schemas.microsoft.com/office/powerpoint/2010/main" val="1936913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4B1072-BB3E-41DF-8CD1-D1FFFC73588C}" type="datetimeFigureOut">
              <a:rPr lang="en-IN" smtClean="0"/>
              <a:t>02-01-2026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A596629-F630-418D-82E9-36AF47C681A7}" type="slidenum">
              <a:rPr lang="en-IN" smtClean="0"/>
              <a:t>‹#›</a:t>
            </a:fld>
            <a:endParaRPr lang="en-IN"/>
          </a:p>
        </p:txBody>
      </p:sp>
    </p:spTree>
    <p:extLst>
      <p:ext uri="{BB962C8B-B14F-4D97-AF65-F5344CB8AC3E}">
        <p14:creationId xmlns:p14="http://schemas.microsoft.com/office/powerpoint/2010/main" val="2087809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4B1072-BB3E-41DF-8CD1-D1FFFC73588C}" type="datetimeFigureOut">
              <a:rPr lang="en-IN" smtClean="0"/>
              <a:t>02-01-2026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A596629-F630-418D-82E9-36AF47C681A7}" type="slidenum">
              <a:rPr lang="en-IN" smtClean="0"/>
              <a:t>‹#›</a:t>
            </a:fld>
            <a:endParaRPr lang="en-IN"/>
          </a:p>
        </p:txBody>
      </p:sp>
    </p:spTree>
    <p:extLst>
      <p:ext uri="{BB962C8B-B14F-4D97-AF65-F5344CB8AC3E}">
        <p14:creationId xmlns:p14="http://schemas.microsoft.com/office/powerpoint/2010/main" val="4122031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4B1072-BB3E-41DF-8CD1-D1FFFC73588C}" type="datetimeFigureOut">
              <a:rPr lang="en-IN" smtClean="0"/>
              <a:t>02-01-2026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596629-F630-418D-82E9-36AF47C681A7}" type="slidenum">
              <a:rPr lang="en-IN" smtClean="0"/>
              <a:t>‹#›</a:t>
            </a:fld>
            <a:endParaRPr lang="en-IN"/>
          </a:p>
        </p:txBody>
      </p:sp>
    </p:spTree>
    <p:extLst>
      <p:ext uri="{BB962C8B-B14F-4D97-AF65-F5344CB8AC3E}">
        <p14:creationId xmlns:p14="http://schemas.microsoft.com/office/powerpoint/2010/main" val="1035855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4B1072-BB3E-41DF-8CD1-D1FFFC73588C}" type="datetimeFigureOut">
              <a:rPr lang="en-IN" smtClean="0"/>
              <a:t>02-01-2026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596629-F630-418D-82E9-36AF47C681A7}" type="slidenum">
              <a:rPr lang="en-IN" smtClean="0"/>
              <a:t>‹#›</a:t>
            </a:fld>
            <a:endParaRPr lang="en-IN"/>
          </a:p>
        </p:txBody>
      </p:sp>
    </p:spTree>
    <p:extLst>
      <p:ext uri="{BB962C8B-B14F-4D97-AF65-F5344CB8AC3E}">
        <p14:creationId xmlns:p14="http://schemas.microsoft.com/office/powerpoint/2010/main" val="1153073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4B1072-BB3E-41DF-8CD1-D1FFFC73588C}"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596629-F630-418D-82E9-36AF47C681A7}" type="slidenum">
              <a:rPr lang="en-IN" smtClean="0"/>
              <a:t>‹#›</a:t>
            </a:fld>
            <a:endParaRPr lang="en-IN"/>
          </a:p>
        </p:txBody>
      </p:sp>
    </p:spTree>
    <p:extLst>
      <p:ext uri="{BB962C8B-B14F-4D97-AF65-F5344CB8AC3E}">
        <p14:creationId xmlns:p14="http://schemas.microsoft.com/office/powerpoint/2010/main" val="2111291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4B1072-BB3E-41DF-8CD1-D1FFFC73588C}" type="datetimeFigureOut">
              <a:rPr lang="en-IN" smtClean="0"/>
              <a:t>02-01-2026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596629-F630-418D-82E9-36AF47C681A7}" type="slidenum">
              <a:rPr lang="en-IN" smtClean="0"/>
              <a:t>‹#›</a:t>
            </a:fld>
            <a:endParaRPr lang="en-IN"/>
          </a:p>
        </p:txBody>
      </p:sp>
    </p:spTree>
    <p:extLst>
      <p:ext uri="{BB962C8B-B14F-4D97-AF65-F5344CB8AC3E}">
        <p14:creationId xmlns:p14="http://schemas.microsoft.com/office/powerpoint/2010/main" val="84711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4B1072-BB3E-41DF-8CD1-D1FFFC73588C}" type="datetimeFigureOut">
              <a:rPr lang="en-IN" smtClean="0"/>
              <a:t>02-01-2026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596629-F630-418D-82E9-36AF47C681A7}" type="slidenum">
              <a:rPr lang="en-IN" smtClean="0"/>
              <a:t>‹#›</a:t>
            </a:fld>
            <a:endParaRPr lang="en-IN"/>
          </a:p>
        </p:txBody>
      </p:sp>
    </p:spTree>
    <p:extLst>
      <p:ext uri="{BB962C8B-B14F-4D97-AF65-F5344CB8AC3E}">
        <p14:creationId xmlns:p14="http://schemas.microsoft.com/office/powerpoint/2010/main" val="202876051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BAF9E-01F9-98B3-E4C3-095AC0D4F53B}"/>
              </a:ext>
            </a:extLst>
          </p:cNvPr>
          <p:cNvSpPr>
            <a:spLocks noGrp="1"/>
          </p:cNvSpPr>
          <p:nvPr>
            <p:ph type="ctrTitle"/>
          </p:nvPr>
        </p:nvSpPr>
        <p:spPr>
          <a:xfrm>
            <a:off x="188161" y="697475"/>
            <a:ext cx="11373354" cy="3002684"/>
          </a:xfrm>
        </p:spPr>
        <p:txBody>
          <a:bodyPr>
            <a:noAutofit/>
          </a:bodyPr>
          <a:lstStyle/>
          <a:p>
            <a:pPr algn="l"/>
            <a:r>
              <a:rPr lang="en-IN" b="1" dirty="0"/>
              <a:t>A</a:t>
            </a:r>
            <a:br>
              <a:rPr lang="en-IN" dirty="0"/>
            </a:br>
            <a:r>
              <a:rPr lang="en-IN" b="1" dirty="0"/>
              <a:t>Project Report On</a:t>
            </a:r>
            <a:br>
              <a:rPr lang="en-IN" dirty="0"/>
            </a:br>
            <a:r>
              <a:rPr lang="en-IN" b="1" dirty="0">
                <a:solidFill>
                  <a:schemeClr val="accent1"/>
                </a:solidFill>
                <a:effectLst>
                  <a:outerShdw blurRad="38100" dist="25400" dir="5400000" algn="ctr">
                    <a:srgbClr val="6E747A">
                      <a:alpha val="43000"/>
                    </a:srgbClr>
                  </a:outerShdw>
                </a:effectLst>
              </a:rPr>
              <a:t>Airlines ticket Booking System</a:t>
            </a:r>
            <a:br>
              <a:rPr lang="en-IN" dirty="0"/>
            </a:br>
            <a:endParaRPr lang="en-IN" dirty="0"/>
          </a:p>
        </p:txBody>
      </p:sp>
      <p:sp>
        <p:nvSpPr>
          <p:cNvPr id="3" name="Subtitle 2">
            <a:extLst>
              <a:ext uri="{FF2B5EF4-FFF2-40B4-BE49-F238E27FC236}">
                <a16:creationId xmlns:a16="http://schemas.microsoft.com/office/drawing/2014/main" id="{4B668519-41C6-6A5B-3764-5ADFFC802A5B}"/>
              </a:ext>
            </a:extLst>
          </p:cNvPr>
          <p:cNvSpPr>
            <a:spLocks noGrp="1"/>
          </p:cNvSpPr>
          <p:nvPr>
            <p:ph type="subTitle" idx="1"/>
          </p:nvPr>
        </p:nvSpPr>
        <p:spPr>
          <a:xfrm>
            <a:off x="1302838" y="4399109"/>
            <a:ext cx="9144000" cy="1655762"/>
          </a:xfrm>
        </p:spPr>
        <p:txBody>
          <a:bodyPr>
            <a:normAutofit fontScale="25000" lnSpcReduction="20000"/>
          </a:bodyPr>
          <a:lstStyle/>
          <a:p>
            <a:r>
              <a:rPr lang="en-IN" dirty="0"/>
              <a:t> </a:t>
            </a:r>
          </a:p>
          <a:p>
            <a:pPr algn="ctr"/>
            <a:r>
              <a:rPr lang="en-IN" sz="9600" b="1" dirty="0">
                <a:effectLst>
                  <a:reflection blurRad="6350" stA="53000" endA="300" endPos="35500" dir="5400000" sy="-90000" algn="bl"/>
                </a:effectLst>
              </a:rPr>
              <a:t>Developed By</a:t>
            </a:r>
            <a:endParaRPr lang="en-IN" sz="9600" b="1" dirty="0"/>
          </a:p>
          <a:p>
            <a:pPr algn="ctr"/>
            <a:r>
              <a:rPr lang="en-IN" sz="9600" b="1" dirty="0">
                <a:solidFill>
                  <a:schemeClr val="bg2">
                    <a:lumMod val="10000"/>
                  </a:schemeClr>
                </a:solidFill>
              </a:rPr>
              <a:t>Parmar Smita(5102)</a:t>
            </a:r>
            <a:endParaRPr lang="en-IN" sz="9600" dirty="0">
              <a:solidFill>
                <a:schemeClr val="bg2">
                  <a:lumMod val="10000"/>
                </a:schemeClr>
              </a:solidFill>
            </a:endParaRPr>
          </a:p>
          <a:p>
            <a:pPr algn="ctr"/>
            <a:r>
              <a:rPr lang="en-IN" sz="9600" b="1" dirty="0">
                <a:solidFill>
                  <a:schemeClr val="bg2">
                    <a:lumMod val="10000"/>
                  </a:schemeClr>
                </a:solidFill>
              </a:rPr>
              <a:t>Solanki Kinjal(5053)</a:t>
            </a:r>
            <a:endParaRPr lang="en-IN" sz="9600" dirty="0">
              <a:solidFill>
                <a:schemeClr val="bg2">
                  <a:lumMod val="10000"/>
                </a:schemeClr>
              </a:solidFill>
            </a:endParaRPr>
          </a:p>
          <a:p>
            <a:pPr algn="ctr"/>
            <a:r>
              <a:rPr lang="en-IN" sz="9600" b="1" dirty="0" err="1">
                <a:solidFill>
                  <a:schemeClr val="bg2">
                    <a:lumMod val="10000"/>
                  </a:schemeClr>
                </a:solidFill>
              </a:rPr>
              <a:t>Zanzarukiya</a:t>
            </a:r>
            <a:r>
              <a:rPr lang="en-IN" sz="9600" b="1" dirty="0">
                <a:solidFill>
                  <a:schemeClr val="bg2">
                    <a:lumMod val="10000"/>
                  </a:schemeClr>
                </a:solidFill>
              </a:rPr>
              <a:t> Vidhi(5110)</a:t>
            </a:r>
            <a:endParaRPr lang="en-IN" sz="9600" dirty="0">
              <a:solidFill>
                <a:schemeClr val="bg2">
                  <a:lumMod val="10000"/>
                </a:schemeClr>
              </a:solidFill>
            </a:endParaRPr>
          </a:p>
          <a:p>
            <a:pPr algn="ctr"/>
            <a:r>
              <a:rPr lang="en-IN" sz="9600" b="1" dirty="0">
                <a:solidFill>
                  <a:schemeClr val="bg2">
                    <a:lumMod val="10000"/>
                  </a:schemeClr>
                </a:solidFill>
              </a:rPr>
              <a:t>(Sem-V Bachelor of Computer Applications)</a:t>
            </a:r>
            <a:endParaRPr lang="en-IN" sz="9600" dirty="0">
              <a:solidFill>
                <a:schemeClr val="bg2">
                  <a:lumMod val="10000"/>
                </a:schemeClr>
              </a:solidFill>
            </a:endParaRPr>
          </a:p>
          <a:p>
            <a:endParaRPr lang="en-IN" dirty="0"/>
          </a:p>
        </p:txBody>
      </p:sp>
      <p:pic>
        <p:nvPicPr>
          <p:cNvPr id="4" name="Picture 3">
            <a:extLst>
              <a:ext uri="{FF2B5EF4-FFF2-40B4-BE49-F238E27FC236}">
                <a16:creationId xmlns:a16="http://schemas.microsoft.com/office/drawing/2014/main" id="{22920C38-D832-731F-F206-71335826CCB3}"/>
              </a:ext>
            </a:extLst>
          </p:cNvPr>
          <p:cNvPicPr>
            <a:picLocks noChangeAspect="1"/>
          </p:cNvPicPr>
          <p:nvPr/>
        </p:nvPicPr>
        <p:blipFill>
          <a:blip r:embed="rId2">
            <a:extLst>
              <a:ext uri="{28A0092B-C50C-407E-A947-70E740481C1C}">
                <a14:useLocalDpi xmlns:a14="http://schemas.microsoft.com/office/drawing/2010/main" val="0"/>
              </a:ext>
            </a:extLst>
          </a:blip>
          <a:srcRect t="19867" r="-776" b="25880"/>
          <a:stretch>
            <a:fillRect/>
          </a:stretch>
        </p:blipFill>
        <p:spPr>
          <a:xfrm flipH="1">
            <a:off x="6509755" y="353910"/>
            <a:ext cx="3298224" cy="1655023"/>
          </a:xfrm>
          <a:prstGeom prst="rect">
            <a:avLst/>
          </a:prstGeom>
        </p:spPr>
      </p:pic>
    </p:spTree>
    <p:extLst>
      <p:ext uri="{BB962C8B-B14F-4D97-AF65-F5344CB8AC3E}">
        <p14:creationId xmlns:p14="http://schemas.microsoft.com/office/powerpoint/2010/main" val="1495885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EF62734-0F32-259B-34B6-E5FA9536B0A8}"/>
              </a:ext>
            </a:extLst>
          </p:cNvPr>
          <p:cNvSpPr>
            <a:spLocks noChangeArrowheads="1"/>
          </p:cNvSpPr>
          <p:nvPr/>
        </p:nvSpPr>
        <p:spPr bwMode="auto">
          <a:xfrm>
            <a:off x="1233387" y="1061472"/>
            <a:ext cx="972522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Navgujarat</a:t>
            </a:r>
            <a:r>
              <a:rPr kumimoji="0" lang="en-US" altLang="en-US" sz="4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 College of Computer Applications</a:t>
            </a:r>
            <a:endParaRPr kumimoji="0" lang="en-US" altLang="en-US" sz="40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Ashram Road, Ahmedabad</a:t>
            </a:r>
            <a:endParaRPr kumimoji="0" lang="en-US" altLang="en-US" sz="40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pic>
        <p:nvPicPr>
          <p:cNvPr id="3073" name="Image 4" descr="http://navgujaratbca.com/images/image002_0000.jpg">
            <a:extLst>
              <a:ext uri="{FF2B5EF4-FFF2-40B4-BE49-F238E27FC236}">
                <a16:creationId xmlns:a16="http://schemas.microsoft.com/office/drawing/2014/main" id="{3528ABDF-93B4-9C51-CB2C-BC53CE2CBC1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6292" y="2612609"/>
            <a:ext cx="2670344" cy="248985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0CE53C6B-7AEC-5BBF-2C93-18A6C4510439}"/>
              </a:ext>
            </a:extLst>
          </p:cNvPr>
          <p:cNvSpPr>
            <a:spLocks noChangeArrowheads="1"/>
          </p:cNvSpPr>
          <p:nvPr/>
        </p:nvSpPr>
        <p:spPr bwMode="auto">
          <a:xfrm>
            <a:off x="4682685" y="5381029"/>
            <a:ext cx="217187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Internal Guide</a:t>
            </a:r>
            <a:endParaRPr kumimoji="0" lang="en-US" altLang="en-US" sz="24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Pro.Ankita</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 Patel</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4752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06AF3F-8A54-578B-37C9-D7EF08442A1D}"/>
              </a:ext>
            </a:extLst>
          </p:cNvPr>
          <p:cNvSpPr txBox="1"/>
          <p:nvPr/>
        </p:nvSpPr>
        <p:spPr>
          <a:xfrm>
            <a:off x="132520" y="122727"/>
            <a:ext cx="6944139" cy="5909310"/>
          </a:xfrm>
          <a:prstGeom prst="rect">
            <a:avLst/>
          </a:prstGeom>
          <a:noFill/>
        </p:spPr>
        <p:txBody>
          <a:bodyPr wrap="square">
            <a:spAutoFit/>
          </a:bodyPr>
          <a:lstStyle/>
          <a:p>
            <a:pPr algn="just"/>
            <a:r>
              <a:rPr lang="en-US" sz="2800" b="1" dirty="0">
                <a:solidFill>
                  <a:schemeClr val="accent1">
                    <a:lumMod val="75000"/>
                  </a:schemeClr>
                </a:solidFill>
              </a:rPr>
              <a:t>Content:</a:t>
            </a:r>
          </a:p>
          <a:p>
            <a:pPr algn="just"/>
            <a:br>
              <a:rPr lang="en-US" sz="4400" b="1" dirty="0">
                <a:solidFill>
                  <a:schemeClr val="accent1">
                    <a:lumMod val="75000"/>
                  </a:schemeClr>
                </a:solidFill>
              </a:rPr>
            </a:br>
            <a:r>
              <a:rPr lang="en-US" sz="2400" b="1" dirty="0">
                <a:solidFill>
                  <a:schemeClr val="accent1">
                    <a:lumMod val="75000"/>
                  </a:schemeClr>
                </a:solidFill>
              </a:rPr>
              <a:t>The Airline Ticket Booking System is a web-based application designed to simplify the process of booking flight tickets online. It provides users with real-time flight availability, seat selection, and secure payment options</a:t>
            </a:r>
          </a:p>
          <a:p>
            <a:pPr algn="just"/>
            <a:endParaRPr lang="en-US" sz="2400" b="1" dirty="0">
              <a:solidFill>
                <a:schemeClr val="accent1">
                  <a:lumMod val="75000"/>
                </a:schemeClr>
              </a:solidFill>
            </a:endParaRPr>
          </a:p>
          <a:p>
            <a:pPr algn="just"/>
            <a:r>
              <a:rPr lang="en-IN" sz="2400" b="1" dirty="0">
                <a:solidFill>
                  <a:schemeClr val="accent1">
                    <a:lumMod val="75000"/>
                  </a:schemeClr>
                </a:solidFill>
              </a:rPr>
              <a:t> In the traditional system, customers often have to visit travel agencies or airline offices to check flight availability, compare fares, or reserve seats. This method is time-consuming, prone to errors, and lacks real-time updates. To overcome these challenges, an efficient computerized system is required.</a:t>
            </a:r>
          </a:p>
          <a:p>
            <a:pPr algn="just"/>
            <a:endParaRPr lang="en-IN" b="1" dirty="0">
              <a:solidFill>
                <a:schemeClr val="accent1">
                  <a:lumMod val="75000"/>
                </a:schemeClr>
              </a:solidFill>
            </a:endParaRPr>
          </a:p>
        </p:txBody>
      </p:sp>
      <p:pic>
        <p:nvPicPr>
          <p:cNvPr id="2" name="Picture 1">
            <a:extLst>
              <a:ext uri="{FF2B5EF4-FFF2-40B4-BE49-F238E27FC236}">
                <a16:creationId xmlns:a16="http://schemas.microsoft.com/office/drawing/2014/main" id="{D0441CDD-870C-CDEF-8F31-8803AA285D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1644" y="413756"/>
            <a:ext cx="4292697" cy="5926957"/>
          </a:xfrm>
          <a:prstGeom prst="rect">
            <a:avLst/>
          </a:prstGeom>
        </p:spPr>
      </p:pic>
    </p:spTree>
    <p:extLst>
      <p:ext uri="{BB962C8B-B14F-4D97-AF65-F5344CB8AC3E}">
        <p14:creationId xmlns:p14="http://schemas.microsoft.com/office/powerpoint/2010/main" val="926325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289D65-4FB9-69FE-11E5-0277A13393B3}"/>
              </a:ext>
            </a:extLst>
          </p:cNvPr>
          <p:cNvSpPr txBox="1"/>
          <p:nvPr/>
        </p:nvSpPr>
        <p:spPr>
          <a:xfrm>
            <a:off x="2672350" y="44062"/>
            <a:ext cx="6094268" cy="904799"/>
          </a:xfrm>
          <a:prstGeom prst="rect">
            <a:avLst/>
          </a:prstGeom>
          <a:noFill/>
        </p:spPr>
        <p:txBody>
          <a:bodyPr wrap="square">
            <a:spAutoFit/>
          </a:bodyPr>
          <a:lstStyle/>
          <a:p>
            <a:pPr algn="ctr">
              <a:lnSpc>
                <a:spcPct val="107000"/>
              </a:lnSpc>
              <a:spcAft>
                <a:spcPts val="800"/>
              </a:spcAft>
              <a:buNone/>
            </a:pPr>
            <a:r>
              <a:rPr lang="en-IN" sz="2400" b="1" u="sng" kern="100" dirty="0">
                <a:solidFill>
                  <a:schemeClr val="accent1">
                    <a:lumMod val="50000"/>
                  </a:schemeClr>
                </a:solidFill>
                <a:effectLst/>
                <a:latin typeface="Calibri" panose="020F0502020204030204" pitchFamily="34" charset="0"/>
                <a:ea typeface="Calibri" panose="020F0502020204030204" pitchFamily="34" charset="0"/>
                <a:cs typeface="Shruti" panose="020B0502040204020203" pitchFamily="34" charset="0"/>
              </a:rPr>
              <a:t>SYSTEM FLOW DIAGRAM</a:t>
            </a:r>
            <a:endParaRPr lang="en-IN" sz="1200" b="1" kern="100" dirty="0">
              <a:solidFill>
                <a:schemeClr val="accent1">
                  <a:lumMod val="50000"/>
                </a:schemeClr>
              </a:solidFill>
              <a:effectLst/>
              <a:latin typeface="Calibri" panose="020F0502020204030204" pitchFamily="34" charset="0"/>
              <a:ea typeface="Calibri" panose="020F0502020204030204" pitchFamily="34" charset="0"/>
              <a:cs typeface="Shruti" panose="020B0502040204020203" pitchFamily="34" charset="0"/>
            </a:endParaRPr>
          </a:p>
          <a:p>
            <a:pPr algn="ctr">
              <a:lnSpc>
                <a:spcPct val="107000"/>
              </a:lnSpc>
              <a:spcAft>
                <a:spcPts val="800"/>
              </a:spcAft>
              <a:buNone/>
            </a:pPr>
            <a:r>
              <a:rPr lang="en-IN" sz="2000" b="1" u="none" strike="noStrike" kern="100" dirty="0">
                <a:solidFill>
                  <a:schemeClr val="accent1">
                    <a:lumMod val="50000"/>
                  </a:schemeClr>
                </a:solidFill>
                <a:effectLst/>
                <a:latin typeface="Calibri" panose="020F0502020204030204" pitchFamily="34" charset="0"/>
                <a:ea typeface="Calibri" panose="020F0502020204030204" pitchFamily="34" charset="0"/>
                <a:cs typeface="Shruti" panose="020B0502040204020203" pitchFamily="34" charset="0"/>
              </a:rPr>
              <a:t> </a:t>
            </a:r>
            <a:endParaRPr lang="en-IN" sz="1200" b="1" kern="100" dirty="0">
              <a:solidFill>
                <a:schemeClr val="accent1">
                  <a:lumMod val="50000"/>
                </a:schemeClr>
              </a:solidFill>
              <a:effectLst/>
              <a:latin typeface="Calibri" panose="020F0502020204030204" pitchFamily="34" charset="0"/>
              <a:ea typeface="Calibri" panose="020F0502020204030204" pitchFamily="34" charset="0"/>
              <a:cs typeface="Shruti" panose="020B0502040204020203" pitchFamily="34" charset="0"/>
            </a:endParaRPr>
          </a:p>
        </p:txBody>
      </p:sp>
      <p:sp>
        <p:nvSpPr>
          <p:cNvPr id="5" name="TextBox 4">
            <a:extLst>
              <a:ext uri="{FF2B5EF4-FFF2-40B4-BE49-F238E27FC236}">
                <a16:creationId xmlns:a16="http://schemas.microsoft.com/office/drawing/2014/main" id="{C6E8C4F3-B6AA-0F31-0338-E38818693235}"/>
              </a:ext>
            </a:extLst>
          </p:cNvPr>
          <p:cNvSpPr txBox="1"/>
          <p:nvPr/>
        </p:nvSpPr>
        <p:spPr>
          <a:xfrm>
            <a:off x="116898" y="900655"/>
            <a:ext cx="12227502" cy="375552"/>
          </a:xfrm>
          <a:prstGeom prst="rect">
            <a:avLst/>
          </a:prstGeom>
          <a:noFill/>
        </p:spPr>
        <p:txBody>
          <a:bodyPr wrap="square">
            <a:spAutoFit/>
          </a:bodyPr>
          <a:lstStyle/>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Shruti" panose="020B0502040204020203" pitchFamily="34" charset="0"/>
              </a:rPr>
              <a:t>System flow diagram is a basically a graphical and sequential representation of the major steps involved in a systematic process.</a:t>
            </a:r>
            <a:endParaRPr lang="en-IN" sz="12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7" name="TextBox 6">
            <a:extLst>
              <a:ext uri="{FF2B5EF4-FFF2-40B4-BE49-F238E27FC236}">
                <a16:creationId xmlns:a16="http://schemas.microsoft.com/office/drawing/2014/main" id="{C0D190A3-04D7-6AFF-E5FB-573F439949A3}"/>
              </a:ext>
            </a:extLst>
          </p:cNvPr>
          <p:cNvSpPr txBox="1"/>
          <p:nvPr/>
        </p:nvSpPr>
        <p:spPr>
          <a:xfrm>
            <a:off x="116898" y="1429902"/>
            <a:ext cx="6172200" cy="375552"/>
          </a:xfrm>
          <a:prstGeom prst="rect">
            <a:avLst/>
          </a:prstGeom>
          <a:noFill/>
        </p:spPr>
        <p:txBody>
          <a:bodyPr wrap="square">
            <a:spAutoFit/>
          </a:bodyPr>
          <a:lstStyle/>
          <a:p>
            <a:pPr algn="just">
              <a:lnSpc>
                <a:spcPct val="107000"/>
              </a:lnSpc>
              <a:spcAft>
                <a:spcPts val="800"/>
              </a:spcAft>
              <a:buNone/>
            </a:pPr>
            <a:r>
              <a:rPr lang="en-IN" sz="1800" u="sng" kern="100" dirty="0">
                <a:effectLst/>
                <a:latin typeface="Calibri" panose="020F0502020204030204" pitchFamily="34" charset="0"/>
                <a:ea typeface="Calibri" panose="020F0502020204030204" pitchFamily="34" charset="0"/>
                <a:cs typeface="Shruti" panose="020B0502040204020203" pitchFamily="34" charset="0"/>
              </a:rPr>
              <a:t>Symbols of system flow </a:t>
            </a:r>
            <a:r>
              <a:rPr lang="en-IN" sz="1600" u="sng" kern="100" dirty="0">
                <a:effectLst/>
                <a:latin typeface="Calibri" panose="020F0502020204030204" pitchFamily="34" charset="0"/>
                <a:ea typeface="Calibri" panose="020F0502020204030204" pitchFamily="34" charset="0"/>
                <a:cs typeface="Shruti" panose="020B0502040204020203" pitchFamily="34" charset="0"/>
              </a:rPr>
              <a:t>diagram</a:t>
            </a:r>
            <a:endParaRPr lang="en-IN" sz="105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9" name="TextBox 8">
            <a:extLst>
              <a:ext uri="{FF2B5EF4-FFF2-40B4-BE49-F238E27FC236}">
                <a16:creationId xmlns:a16="http://schemas.microsoft.com/office/drawing/2014/main" id="{6C68EC91-FD52-EF0B-2542-1E7F058B2D2F}"/>
              </a:ext>
            </a:extLst>
          </p:cNvPr>
          <p:cNvSpPr txBox="1"/>
          <p:nvPr/>
        </p:nvSpPr>
        <p:spPr>
          <a:xfrm>
            <a:off x="58449" y="2182281"/>
            <a:ext cx="6172200" cy="467564"/>
          </a:xfrm>
          <a:prstGeom prst="rect">
            <a:avLst/>
          </a:prstGeom>
          <a:noFill/>
        </p:spPr>
        <p:txBody>
          <a:bodyPr wrap="square">
            <a:spAutoFit/>
          </a:bodyPr>
          <a:lstStyle/>
          <a:p>
            <a:pPr algn="just">
              <a:lnSpc>
                <a:spcPct val="107000"/>
              </a:lnSpc>
              <a:spcAft>
                <a:spcPts val="800"/>
              </a:spcAft>
              <a:buNone/>
            </a:pPr>
            <a:r>
              <a:rPr lang="en-IN" sz="24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IN" sz="2400" b="1" kern="100" dirty="0">
                <a:effectLst/>
                <a:latin typeface="Calibri" panose="020F0502020204030204" pitchFamily="34" charset="0"/>
                <a:ea typeface="Calibri" panose="020F0502020204030204" pitchFamily="34" charset="0"/>
                <a:cs typeface="Shruti" panose="020B0502040204020203" pitchFamily="34" charset="0"/>
              </a:rPr>
              <a:t> Start/End point</a:t>
            </a:r>
            <a:endParaRPr lang="en-IN" sz="1400" b="1"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12" name="TextBox 11">
            <a:extLst>
              <a:ext uri="{FF2B5EF4-FFF2-40B4-BE49-F238E27FC236}">
                <a16:creationId xmlns:a16="http://schemas.microsoft.com/office/drawing/2014/main" id="{4766883E-71D5-1F4A-53B6-3AA021BC0428}"/>
              </a:ext>
            </a:extLst>
          </p:cNvPr>
          <p:cNvSpPr txBox="1"/>
          <p:nvPr/>
        </p:nvSpPr>
        <p:spPr>
          <a:xfrm>
            <a:off x="116898" y="2711528"/>
            <a:ext cx="7543492" cy="1260345"/>
          </a:xfrm>
          <a:prstGeom prst="rect">
            <a:avLst/>
          </a:prstGeom>
          <a:noFill/>
        </p:spPr>
        <p:txBody>
          <a:bodyPr wrap="square">
            <a:spAutoFit/>
          </a:bodyPr>
          <a:lstStyle/>
          <a:p>
            <a:pPr algn="just">
              <a:lnSpc>
                <a:spcPct val="107000"/>
              </a:lnSpc>
              <a:spcAft>
                <a:spcPts val="800"/>
              </a:spcAft>
              <a:buNone/>
            </a:pPr>
            <a:r>
              <a:rPr lang="en-IN" sz="2400" kern="100" dirty="0">
                <a:effectLst/>
                <a:latin typeface="Calibri" panose="020F0502020204030204" pitchFamily="34" charset="0"/>
                <a:ea typeface="Calibri" panose="020F0502020204030204" pitchFamily="34" charset="0"/>
                <a:cs typeface="Shruti" panose="020B0502040204020203" pitchFamily="34" charset="0"/>
              </a:rPr>
              <a:t>An oval represents a start or end point. The terminator symbol marks the starting or ending point of the system. It usually contains the word “Start” or “End”.</a:t>
            </a:r>
            <a:endParaRPr lang="en-IN" sz="16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14" name="Oval 13">
            <a:extLst>
              <a:ext uri="{FF2B5EF4-FFF2-40B4-BE49-F238E27FC236}">
                <a16:creationId xmlns:a16="http://schemas.microsoft.com/office/drawing/2014/main" id="{71E3AC70-9F7C-8B53-DF71-6CCDAE1EC159}"/>
              </a:ext>
            </a:extLst>
          </p:cNvPr>
          <p:cNvSpPr/>
          <p:nvPr/>
        </p:nvSpPr>
        <p:spPr>
          <a:xfrm>
            <a:off x="8458200" y="2555973"/>
            <a:ext cx="2078182" cy="968278"/>
          </a:xfrm>
          <a:prstGeom prst="ellips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85000"/>
                  <a:lumOff val="15000"/>
                </a:schemeClr>
              </a:solidFill>
            </a:endParaRPr>
          </a:p>
        </p:txBody>
      </p:sp>
      <p:sp>
        <p:nvSpPr>
          <p:cNvPr id="16" name="TextBox 15">
            <a:extLst>
              <a:ext uri="{FF2B5EF4-FFF2-40B4-BE49-F238E27FC236}">
                <a16:creationId xmlns:a16="http://schemas.microsoft.com/office/drawing/2014/main" id="{944A10C6-078C-110D-F707-122BE3F55035}"/>
              </a:ext>
            </a:extLst>
          </p:cNvPr>
          <p:cNvSpPr txBox="1"/>
          <p:nvPr/>
        </p:nvSpPr>
        <p:spPr>
          <a:xfrm>
            <a:off x="105468" y="4604498"/>
            <a:ext cx="6195060" cy="467564"/>
          </a:xfrm>
          <a:prstGeom prst="rect">
            <a:avLst/>
          </a:prstGeom>
          <a:noFill/>
        </p:spPr>
        <p:txBody>
          <a:bodyPr wrap="square">
            <a:spAutoFit/>
          </a:bodyPr>
          <a:lstStyle/>
          <a:p>
            <a:pPr algn="just">
              <a:lnSpc>
                <a:spcPct val="107000"/>
              </a:lnSpc>
              <a:spcAft>
                <a:spcPts val="800"/>
              </a:spcAft>
              <a:buNone/>
            </a:pPr>
            <a:r>
              <a:rPr lang="en-IN" sz="24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IN" sz="2400" b="1" kern="100" dirty="0">
                <a:effectLst/>
                <a:latin typeface="Calibri" panose="020F0502020204030204" pitchFamily="34" charset="0"/>
                <a:ea typeface="Calibri" panose="020F0502020204030204" pitchFamily="34" charset="0"/>
                <a:cs typeface="Shruti" panose="020B0502040204020203" pitchFamily="34" charset="0"/>
              </a:rPr>
              <a:t> Arrows</a:t>
            </a:r>
            <a:endParaRPr lang="en-IN" sz="1400" b="1"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18" name="TextBox 17">
            <a:extLst>
              <a:ext uri="{FF2B5EF4-FFF2-40B4-BE49-F238E27FC236}">
                <a16:creationId xmlns:a16="http://schemas.microsoft.com/office/drawing/2014/main" id="{330CAC2E-C8E2-7B7C-BC7C-09DCF99472C4}"/>
              </a:ext>
            </a:extLst>
          </p:cNvPr>
          <p:cNvSpPr txBox="1"/>
          <p:nvPr/>
        </p:nvSpPr>
        <p:spPr>
          <a:xfrm>
            <a:off x="116898" y="5321520"/>
            <a:ext cx="8122750" cy="865173"/>
          </a:xfrm>
          <a:prstGeom prst="rect">
            <a:avLst/>
          </a:prstGeom>
          <a:noFill/>
        </p:spPr>
        <p:txBody>
          <a:bodyPr wrap="square">
            <a:spAutoFit/>
          </a:bodyPr>
          <a:lstStyle/>
          <a:p>
            <a:pPr algn="just">
              <a:lnSpc>
                <a:spcPct val="107000"/>
              </a:lnSpc>
              <a:spcAft>
                <a:spcPts val="800"/>
              </a:spcAft>
              <a:buNone/>
            </a:pPr>
            <a:r>
              <a:rPr lang="en-IN" sz="2400" kern="100" dirty="0">
                <a:effectLst/>
                <a:latin typeface="Calibri" panose="020F0502020204030204" pitchFamily="34" charset="0"/>
                <a:ea typeface="Calibri" panose="020F0502020204030204" pitchFamily="34" charset="0"/>
                <a:cs typeface="Shruti" panose="020B0502040204020203" pitchFamily="34" charset="0"/>
              </a:rPr>
              <a:t>A line is a connector that shows relationships between the representative shapes.</a:t>
            </a:r>
            <a:endParaRPr lang="en-IN" sz="16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19" name="Arrow: Right 18">
            <a:extLst>
              <a:ext uri="{FF2B5EF4-FFF2-40B4-BE49-F238E27FC236}">
                <a16:creationId xmlns:a16="http://schemas.microsoft.com/office/drawing/2014/main" id="{BE9267A6-9926-D271-45AB-703F23260A16}"/>
              </a:ext>
            </a:extLst>
          </p:cNvPr>
          <p:cNvSpPr/>
          <p:nvPr/>
        </p:nvSpPr>
        <p:spPr>
          <a:xfrm>
            <a:off x="8892020" y="5188756"/>
            <a:ext cx="1585731" cy="1130702"/>
          </a:xfrm>
          <a:prstGeom prst="right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1">
                  <a:lumMod val="75000"/>
                </a:schemeClr>
              </a:solidFill>
            </a:endParaRPr>
          </a:p>
        </p:txBody>
      </p:sp>
    </p:spTree>
    <p:extLst>
      <p:ext uri="{BB962C8B-B14F-4D97-AF65-F5344CB8AC3E}">
        <p14:creationId xmlns:p14="http://schemas.microsoft.com/office/powerpoint/2010/main" val="330732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2443B0-B7AD-F472-1DB1-1A065ABF08BD}"/>
              </a:ext>
            </a:extLst>
          </p:cNvPr>
          <p:cNvSpPr txBox="1"/>
          <p:nvPr/>
        </p:nvSpPr>
        <p:spPr>
          <a:xfrm>
            <a:off x="118641" y="224055"/>
            <a:ext cx="6094070" cy="467564"/>
          </a:xfrm>
          <a:prstGeom prst="rect">
            <a:avLst/>
          </a:prstGeom>
          <a:noFill/>
        </p:spPr>
        <p:txBody>
          <a:bodyPr wrap="square">
            <a:spAutoFit/>
          </a:bodyPr>
          <a:lstStyle/>
          <a:p>
            <a:pPr algn="just">
              <a:lnSpc>
                <a:spcPct val="107000"/>
              </a:lnSpc>
              <a:spcAft>
                <a:spcPts val="800"/>
              </a:spcAft>
              <a:buNone/>
            </a:pPr>
            <a:r>
              <a:rPr lang="en-IN" sz="2400" kern="100" dirty="0">
                <a:effectLst/>
                <a:latin typeface="Calibri" panose="020F0502020204030204" pitchFamily="34" charset="0"/>
                <a:ea typeface="Calibri" panose="020F0502020204030204" pitchFamily="34" charset="0"/>
                <a:cs typeface="Shruti" panose="020B0502040204020203" pitchFamily="34" charset="0"/>
              </a:rPr>
              <a:t> </a:t>
            </a:r>
            <a:r>
              <a:rPr lang="en-IN" sz="24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IN" sz="2400" b="1" kern="100" dirty="0">
                <a:effectLst/>
                <a:latin typeface="Calibri" panose="020F0502020204030204" pitchFamily="34" charset="0"/>
                <a:ea typeface="Calibri" panose="020F0502020204030204" pitchFamily="34" charset="0"/>
                <a:cs typeface="Shruti" panose="020B0502040204020203" pitchFamily="34" charset="0"/>
              </a:rPr>
              <a:t> Process</a:t>
            </a:r>
            <a:endParaRPr lang="en-IN" sz="24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5" name="TextBox 4">
            <a:extLst>
              <a:ext uri="{FF2B5EF4-FFF2-40B4-BE49-F238E27FC236}">
                <a16:creationId xmlns:a16="http://schemas.microsoft.com/office/drawing/2014/main" id="{EEE1BCE3-83D6-BBDA-D7BD-7789B00A28C3}"/>
              </a:ext>
            </a:extLst>
          </p:cNvPr>
          <p:cNvSpPr txBox="1"/>
          <p:nvPr/>
        </p:nvSpPr>
        <p:spPr>
          <a:xfrm>
            <a:off x="280688" y="915417"/>
            <a:ext cx="6094070" cy="865173"/>
          </a:xfrm>
          <a:prstGeom prst="rect">
            <a:avLst/>
          </a:prstGeom>
          <a:noFill/>
        </p:spPr>
        <p:txBody>
          <a:bodyPr wrap="square">
            <a:spAutoFit/>
          </a:bodyPr>
          <a:lstStyle/>
          <a:p>
            <a:pPr algn="just">
              <a:lnSpc>
                <a:spcPct val="107000"/>
              </a:lnSpc>
              <a:spcAft>
                <a:spcPts val="800"/>
              </a:spcAft>
              <a:buNone/>
            </a:pPr>
            <a:r>
              <a:rPr lang="en-IN" sz="2400" kern="100" dirty="0">
                <a:effectLst/>
                <a:latin typeface="Calibri" panose="020F0502020204030204" pitchFamily="34" charset="0"/>
                <a:ea typeface="Calibri" panose="020F0502020204030204" pitchFamily="34" charset="0"/>
                <a:cs typeface="Shruti" panose="020B0502040204020203" pitchFamily="34" charset="0"/>
              </a:rPr>
              <a:t>This shape is rectangle. A rectangle represents a process</a:t>
            </a:r>
            <a:r>
              <a:rPr lang="en-IN" sz="2400" kern="100" dirty="0">
                <a:latin typeface="Calibri" panose="020F0502020204030204" pitchFamily="34" charset="0"/>
                <a:ea typeface="Calibri" panose="020F0502020204030204" pitchFamily="34" charset="0"/>
                <a:cs typeface="Shruti" panose="020B0502040204020203" pitchFamily="34" charset="0"/>
              </a:rPr>
              <a:t> In system flow diagram</a:t>
            </a:r>
            <a:r>
              <a:rPr lang="en-IN" sz="2000" kern="100" dirty="0">
                <a:effectLst/>
                <a:latin typeface="Calibri" panose="020F0502020204030204" pitchFamily="34" charset="0"/>
                <a:ea typeface="Calibri" panose="020F0502020204030204" pitchFamily="34" charset="0"/>
                <a:cs typeface="Shruti" panose="020B0502040204020203" pitchFamily="34" charset="0"/>
              </a:rPr>
              <a:t>.</a:t>
            </a:r>
            <a:endParaRPr lang="en-IN" sz="14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6" name="Rectangle 5">
            <a:extLst>
              <a:ext uri="{FF2B5EF4-FFF2-40B4-BE49-F238E27FC236}">
                <a16:creationId xmlns:a16="http://schemas.microsoft.com/office/drawing/2014/main" id="{37B68953-6384-A4AB-ACD4-BE8F00FB7F53}"/>
              </a:ext>
            </a:extLst>
          </p:cNvPr>
          <p:cNvSpPr/>
          <p:nvPr/>
        </p:nvSpPr>
        <p:spPr>
          <a:xfrm>
            <a:off x="8553690" y="428707"/>
            <a:ext cx="2048720" cy="114545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1D19FC3-A3C7-7678-476F-357D7F4E5A5D}"/>
              </a:ext>
            </a:extLst>
          </p:cNvPr>
          <p:cNvSpPr txBox="1"/>
          <p:nvPr/>
        </p:nvSpPr>
        <p:spPr>
          <a:xfrm>
            <a:off x="280688" y="2913292"/>
            <a:ext cx="6094070" cy="467564"/>
          </a:xfrm>
          <a:prstGeom prst="rect">
            <a:avLst/>
          </a:prstGeom>
          <a:noFill/>
        </p:spPr>
        <p:txBody>
          <a:bodyPr wrap="square">
            <a:spAutoFit/>
          </a:bodyPr>
          <a:lstStyle/>
          <a:p>
            <a:pPr algn="just">
              <a:lnSpc>
                <a:spcPct val="107000"/>
              </a:lnSpc>
              <a:spcAft>
                <a:spcPts val="800"/>
              </a:spcAft>
              <a:buNone/>
            </a:pPr>
            <a:r>
              <a:rPr lang="en-IN" sz="24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IN" sz="2400" b="1" kern="100" dirty="0">
                <a:effectLst/>
                <a:latin typeface="Calibri" panose="020F0502020204030204" pitchFamily="34" charset="0"/>
                <a:ea typeface="Calibri" panose="020F0502020204030204" pitchFamily="34" charset="0"/>
                <a:cs typeface="Shruti" panose="020B0502040204020203" pitchFamily="34" charset="0"/>
              </a:rPr>
              <a:t> Decision</a:t>
            </a:r>
            <a:endParaRPr lang="en-IN" sz="14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10" name="TextBox 9">
            <a:extLst>
              <a:ext uri="{FF2B5EF4-FFF2-40B4-BE49-F238E27FC236}">
                <a16:creationId xmlns:a16="http://schemas.microsoft.com/office/drawing/2014/main" id="{1CD48AE3-3783-6A52-1D4F-7422D54C66AD}"/>
              </a:ext>
            </a:extLst>
          </p:cNvPr>
          <p:cNvSpPr txBox="1"/>
          <p:nvPr/>
        </p:nvSpPr>
        <p:spPr>
          <a:xfrm>
            <a:off x="280688" y="3710926"/>
            <a:ext cx="6094070" cy="2308324"/>
          </a:xfrm>
          <a:prstGeom prst="rect">
            <a:avLst/>
          </a:prstGeom>
          <a:noFill/>
        </p:spPr>
        <p:txBody>
          <a:bodyPr wrap="square">
            <a:spAutoFit/>
          </a:bodyPr>
          <a:lstStyle/>
          <a:p>
            <a:pPr algn="just">
              <a:spcAft>
                <a:spcPts val="800"/>
              </a:spcAft>
              <a:buNone/>
            </a:pPr>
            <a:r>
              <a:rPr lang="en-IN" sz="2400" kern="100" dirty="0">
                <a:effectLst/>
                <a:latin typeface="Calibri" panose="020F0502020204030204" pitchFamily="34" charset="0"/>
                <a:ea typeface="Calibri" panose="020F0502020204030204" pitchFamily="34" charset="0"/>
                <a:cs typeface="Shruti" panose="020B0502040204020203" pitchFamily="34" charset="0"/>
              </a:rPr>
              <a:t>A diamond indicates a decision. It appoints where the outcome of a decision dictates the next step. There can be multiple outcomes, but often there are just two – yes and no or true – false, then branches to different parts of the system flow diagram.</a:t>
            </a:r>
            <a:endParaRPr lang="en-IN" sz="16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11" name="Diamond 10">
            <a:extLst>
              <a:ext uri="{FF2B5EF4-FFF2-40B4-BE49-F238E27FC236}">
                <a16:creationId xmlns:a16="http://schemas.microsoft.com/office/drawing/2014/main" id="{1AEE4288-2976-F0F8-ACBC-2E1E37836944}"/>
              </a:ext>
            </a:extLst>
          </p:cNvPr>
          <p:cNvSpPr/>
          <p:nvPr/>
        </p:nvSpPr>
        <p:spPr>
          <a:xfrm>
            <a:off x="8958805" y="3602311"/>
            <a:ext cx="1643605" cy="1724318"/>
          </a:xfrm>
          <a:prstGeom prst="diamond">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50789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977133-69BA-95B9-5D90-5A890D04B03D}"/>
              </a:ext>
            </a:extLst>
          </p:cNvPr>
          <p:cNvSpPr txBox="1"/>
          <p:nvPr/>
        </p:nvSpPr>
        <p:spPr>
          <a:xfrm>
            <a:off x="4166886" y="208343"/>
            <a:ext cx="2951544" cy="461665"/>
          </a:xfrm>
          <a:prstGeom prst="rect">
            <a:avLst/>
          </a:prstGeom>
          <a:noFill/>
        </p:spPr>
        <p:txBody>
          <a:bodyPr wrap="square" rtlCol="0">
            <a:spAutoFit/>
          </a:bodyPr>
          <a:lstStyle/>
          <a:p>
            <a:pPr algn="ctr"/>
            <a:r>
              <a:rPr lang="en-US" sz="2400" b="1" dirty="0"/>
              <a:t>System flow diagram</a:t>
            </a:r>
            <a:endParaRPr lang="en-IN" sz="2400" b="1" dirty="0"/>
          </a:p>
        </p:txBody>
      </p:sp>
      <p:pic>
        <p:nvPicPr>
          <p:cNvPr id="6" name="Picture 5">
            <a:extLst>
              <a:ext uri="{FF2B5EF4-FFF2-40B4-BE49-F238E27FC236}">
                <a16:creationId xmlns:a16="http://schemas.microsoft.com/office/drawing/2014/main" id="{EF9C36C6-A21B-A465-E613-789E9087B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0" y="943897"/>
            <a:ext cx="6154993" cy="5914102"/>
          </a:xfrm>
          <a:prstGeom prst="rect">
            <a:avLst/>
          </a:prstGeom>
        </p:spPr>
      </p:pic>
    </p:spTree>
    <p:extLst>
      <p:ext uri="{BB962C8B-B14F-4D97-AF65-F5344CB8AC3E}">
        <p14:creationId xmlns:p14="http://schemas.microsoft.com/office/powerpoint/2010/main" val="3353726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03F890-E3C1-7030-AB3F-29D38567904E}"/>
              </a:ext>
            </a:extLst>
          </p:cNvPr>
          <p:cNvSpPr txBox="1"/>
          <p:nvPr/>
        </p:nvSpPr>
        <p:spPr>
          <a:xfrm>
            <a:off x="303836" y="1179620"/>
            <a:ext cx="11317146" cy="5195140"/>
          </a:xfrm>
          <a:prstGeom prst="rect">
            <a:avLst/>
          </a:prstGeom>
          <a:noFill/>
        </p:spPr>
        <p:txBody>
          <a:bodyPr wrap="square">
            <a:spAutoFit/>
          </a:bodyPr>
          <a:lstStyle/>
          <a:p>
            <a:pPr algn="just">
              <a:lnSpc>
                <a:spcPct val="107000"/>
              </a:lnSpc>
              <a:spcAft>
                <a:spcPts val="800"/>
              </a:spcAft>
              <a:buNone/>
            </a:pPr>
            <a:r>
              <a:rPr lang="en-IN" sz="2800" b="1" kern="100" dirty="0">
                <a:effectLst/>
                <a:latin typeface="Calibri" panose="020F0502020204030204" pitchFamily="34" charset="0"/>
                <a:ea typeface="Calibri" panose="020F0502020204030204" pitchFamily="34" charset="0"/>
                <a:cs typeface="Shruti" panose="020B0502040204020203" pitchFamily="34" charset="0"/>
              </a:rPr>
              <a:t>• What is UML and it’s use?</a:t>
            </a:r>
            <a:endParaRPr lang="en-IN" sz="16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r>
              <a:rPr lang="en-IN" sz="2400" kern="100" dirty="0">
                <a:effectLst/>
                <a:latin typeface="Calibri" panose="020F0502020204030204" pitchFamily="34" charset="0"/>
                <a:ea typeface="Calibri" panose="020F0502020204030204" pitchFamily="34" charset="0"/>
                <a:cs typeface="Shruti" panose="020B0502040204020203" pitchFamily="34" charset="0"/>
              </a:rPr>
              <a:t>Unified Modelling Language (UML) diagrams are graphical representation used for system design to illustrate various aspects of system. The overall goal of UML diagrams is to allow teams to visualize how a project is or will be working. UML can be used to develop diagrams and provide users with ready-to-use expressive modelling examples.</a:t>
            </a:r>
            <a:endParaRPr lang="en-IN" sz="16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endParaRPr lang="en-IN" sz="2800" b="1"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r>
              <a:rPr lang="en-IN" sz="2800" b="1" kern="100" dirty="0">
                <a:effectLst/>
                <a:latin typeface="Calibri" panose="020F0502020204030204" pitchFamily="34" charset="0"/>
                <a:ea typeface="Calibri" panose="020F0502020204030204" pitchFamily="34" charset="0"/>
                <a:cs typeface="Shruti" panose="020B0502040204020203" pitchFamily="34" charset="0"/>
              </a:rPr>
              <a:t>• What is the need of UML Diagrams?</a:t>
            </a:r>
            <a:endParaRPr lang="en-IN" sz="16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r>
              <a:rPr lang="en-IN" sz="2400" kern="100" dirty="0">
                <a:effectLst/>
                <a:latin typeface="Calibri" panose="020F0502020204030204" pitchFamily="34" charset="0"/>
                <a:ea typeface="Calibri" panose="020F0502020204030204" pitchFamily="34" charset="0"/>
                <a:cs typeface="Shruti" panose="020B0502040204020203" pitchFamily="34" charset="0"/>
              </a:rPr>
              <a:t>An UML Diagrams are basically used in software engineering and other business processes where modelling is useful. UML becomes essential to communicate with non- programmers’ essential requirements, functionalities, and processes of the system</a:t>
            </a:r>
            <a:r>
              <a:rPr lang="en-IN" sz="2400" b="1" kern="100" dirty="0">
                <a:effectLst/>
                <a:latin typeface="Calibri" panose="020F0502020204030204" pitchFamily="34" charset="0"/>
                <a:ea typeface="Calibri" panose="020F0502020204030204" pitchFamily="34" charset="0"/>
                <a:cs typeface="Shruti" panose="020B0502040204020203" pitchFamily="34" charset="0"/>
              </a:rPr>
              <a:t>.</a:t>
            </a:r>
            <a:endParaRPr lang="en-IN" sz="16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r>
              <a:rPr lang="en-IN" sz="2800" b="1" kern="100" dirty="0">
                <a:effectLst/>
                <a:latin typeface="Calibri" panose="020F0502020204030204" pitchFamily="34" charset="0"/>
                <a:ea typeface="Calibri" panose="020F0502020204030204" pitchFamily="34" charset="0"/>
                <a:cs typeface="Shruti" panose="020B0502040204020203" pitchFamily="34" charset="0"/>
              </a:rPr>
              <a:t> </a:t>
            </a:r>
            <a:endParaRPr lang="en-IN" sz="16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4" name="TextBox 3">
            <a:extLst>
              <a:ext uri="{FF2B5EF4-FFF2-40B4-BE49-F238E27FC236}">
                <a16:creationId xmlns:a16="http://schemas.microsoft.com/office/drawing/2014/main" id="{212DE590-970B-C767-D69B-4A21EC5A47AB}"/>
              </a:ext>
            </a:extLst>
          </p:cNvPr>
          <p:cNvSpPr txBox="1"/>
          <p:nvPr/>
        </p:nvSpPr>
        <p:spPr>
          <a:xfrm>
            <a:off x="152695" y="252407"/>
            <a:ext cx="8358849" cy="461665"/>
          </a:xfrm>
          <a:prstGeom prst="rect">
            <a:avLst/>
          </a:prstGeom>
          <a:noFill/>
        </p:spPr>
        <p:txBody>
          <a:bodyPr wrap="square">
            <a:spAutoFit/>
          </a:bodyPr>
          <a:lstStyle/>
          <a:p>
            <a:pPr marL="140335" rtl="0">
              <a:spcBef>
                <a:spcPts val="1430"/>
              </a:spcBef>
              <a:buNone/>
            </a:pPr>
            <a:r>
              <a:rPr lang="en-US" sz="2400" b="1" i="0" u="sng" dirty="0">
                <a:solidFill>
                  <a:schemeClr val="accent1">
                    <a:lumMod val="50000"/>
                  </a:schemeClr>
                </a:solidFill>
                <a:effectLst/>
                <a:latin typeface="Times New Roman" panose="02020603050405020304" pitchFamily="18" charset="0"/>
              </a:rPr>
              <a:t>UML(UNIFIED MODELLING LANGUAGE)</a:t>
            </a:r>
            <a:endParaRPr lang="en-US" sz="2400" dirty="0">
              <a:solidFill>
                <a:schemeClr val="accent1">
                  <a:lumMod val="50000"/>
                </a:schemeClr>
              </a:solidFill>
              <a:effectLst/>
            </a:endParaRPr>
          </a:p>
        </p:txBody>
      </p:sp>
    </p:spTree>
    <p:extLst>
      <p:ext uri="{BB962C8B-B14F-4D97-AF65-F5344CB8AC3E}">
        <p14:creationId xmlns:p14="http://schemas.microsoft.com/office/powerpoint/2010/main" val="254474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322D43-7340-6A9C-0D08-13B409742730}"/>
              </a:ext>
            </a:extLst>
          </p:cNvPr>
          <p:cNvSpPr txBox="1"/>
          <p:nvPr/>
        </p:nvSpPr>
        <p:spPr>
          <a:xfrm>
            <a:off x="231493" y="362632"/>
            <a:ext cx="11690431" cy="6085064"/>
          </a:xfrm>
          <a:prstGeom prst="rect">
            <a:avLst/>
          </a:prstGeom>
          <a:noFill/>
        </p:spPr>
        <p:txBody>
          <a:bodyPr wrap="square">
            <a:spAutoFit/>
          </a:bodyPr>
          <a:lstStyle/>
          <a:p>
            <a:pPr algn="just">
              <a:lnSpc>
                <a:spcPct val="107000"/>
              </a:lnSpc>
              <a:spcAft>
                <a:spcPts val="800"/>
              </a:spcAft>
              <a:buNone/>
            </a:pPr>
            <a:r>
              <a:rPr lang="en-IN" sz="2000" b="1" kern="100" dirty="0">
                <a:effectLst/>
                <a:latin typeface="Calibri" panose="020F0502020204030204" pitchFamily="34" charset="0"/>
                <a:ea typeface="Calibri" panose="020F0502020204030204" pitchFamily="34" charset="0"/>
                <a:cs typeface="Shruti" panose="020B0502040204020203" pitchFamily="34" charset="0"/>
              </a:rPr>
              <a:t>Types of UML Diagram:-</a:t>
            </a:r>
            <a:endParaRPr lang="en-IN" sz="11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Shruti" panose="020B0502040204020203" pitchFamily="34" charset="0"/>
              </a:rPr>
              <a:t> </a:t>
            </a:r>
            <a:endParaRPr lang="en-IN" sz="11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Shruti" panose="020B0502040204020203" pitchFamily="34" charset="0"/>
              </a:rPr>
              <a:t>• Use Case Diagram:</a:t>
            </a:r>
            <a:endParaRPr lang="en-IN" sz="1100" kern="100" dirty="0">
              <a:effectLst/>
              <a:latin typeface="Calibri" panose="020F0502020204030204" pitchFamily="34" charset="0"/>
              <a:ea typeface="Calibri" panose="020F0502020204030204" pitchFamily="34" charset="0"/>
              <a:cs typeface="Shruti" panose="020B0502040204020203" pitchFamily="34" charset="0"/>
            </a:endParaRPr>
          </a:p>
          <a:p>
            <a:pPr marL="457200"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Shruti" panose="020B0502040204020203" pitchFamily="34" charset="0"/>
              </a:rPr>
              <a:t>An UML use case diagram is the primary form of system/software requirements for a new software program underdeveloped.</a:t>
            </a:r>
            <a:endParaRPr lang="en-IN" sz="11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Shruti" panose="020B0502040204020203" pitchFamily="34" charset="0"/>
              </a:rPr>
              <a:t>• Activity Diagram: </a:t>
            </a:r>
            <a:endParaRPr lang="en-IN" sz="1100" kern="100" dirty="0">
              <a:effectLst/>
              <a:latin typeface="Calibri" panose="020F0502020204030204" pitchFamily="34" charset="0"/>
              <a:ea typeface="Calibri" panose="020F0502020204030204" pitchFamily="34" charset="0"/>
              <a:cs typeface="Shruti" panose="020B0502040204020203" pitchFamily="34" charset="0"/>
            </a:endParaRPr>
          </a:p>
          <a:p>
            <a:pPr indent="457200"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Shruti" panose="020B0502040204020203" pitchFamily="34" charset="0"/>
              </a:rPr>
              <a:t>An activity diagram is used by developers to understand      the flow of programs on a high level.</a:t>
            </a:r>
            <a:endParaRPr lang="en-IN" sz="11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Shruti" panose="020B0502040204020203" pitchFamily="34" charset="0"/>
              </a:rPr>
              <a:t> • Sequence Diagram:</a:t>
            </a:r>
            <a:endParaRPr lang="en-IN" sz="1100" kern="100" dirty="0">
              <a:effectLst/>
              <a:latin typeface="Calibri" panose="020F0502020204030204" pitchFamily="34" charset="0"/>
              <a:ea typeface="Calibri" panose="020F0502020204030204" pitchFamily="34" charset="0"/>
              <a:cs typeface="Shruti" panose="020B0502040204020203" pitchFamily="34" charset="0"/>
            </a:endParaRPr>
          </a:p>
          <a:p>
            <a:pPr indent="457200"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Shruti" panose="020B0502040204020203" pitchFamily="34" charset="0"/>
              </a:rPr>
              <a:t> sequence diagrams is used to document and understand the requirements to establish new systems or learn about existing systems. </a:t>
            </a:r>
            <a:endParaRPr lang="en-IN" sz="11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Shruti" panose="020B0502040204020203" pitchFamily="34" charset="0"/>
              </a:rPr>
              <a:t>• Class Diagram: </a:t>
            </a:r>
            <a:endParaRPr lang="en-IN" sz="1100" kern="100" dirty="0">
              <a:effectLst/>
              <a:latin typeface="Calibri" panose="020F0502020204030204" pitchFamily="34" charset="0"/>
              <a:ea typeface="Calibri" panose="020F0502020204030204" pitchFamily="34" charset="0"/>
              <a:cs typeface="Shruti" panose="020B0502040204020203" pitchFamily="34" charset="0"/>
            </a:endParaRPr>
          </a:p>
          <a:p>
            <a:pPr indent="457200"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Shruti" panose="020B0502040204020203" pitchFamily="34" charset="0"/>
              </a:rPr>
              <a:t>Class Diagram is a type of static structure diagram that describes the structure of a system by showing the system's classes, their attributes, operations (or methods), and the relationships among objects.</a:t>
            </a:r>
            <a:endParaRPr lang="en-IN" sz="1100" kern="100" dirty="0">
              <a:effectLst/>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3675527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3E22CD-899D-23BF-D3CB-6C3F00153018}"/>
              </a:ext>
            </a:extLst>
          </p:cNvPr>
          <p:cNvSpPr txBox="1"/>
          <p:nvPr/>
        </p:nvSpPr>
        <p:spPr>
          <a:xfrm>
            <a:off x="3298785" y="-732765"/>
            <a:ext cx="5136266" cy="1465529"/>
          </a:xfrm>
          <a:prstGeom prst="rect">
            <a:avLst/>
          </a:prstGeom>
          <a:noFill/>
        </p:spPr>
        <p:txBody>
          <a:bodyPr wrap="square">
            <a:spAutoFit/>
          </a:bodyPr>
          <a:lstStyle/>
          <a:p>
            <a:pPr algn="just">
              <a:lnSpc>
                <a:spcPct val="107000"/>
              </a:lnSpc>
              <a:spcAft>
                <a:spcPts val="800"/>
              </a:spcAft>
              <a:buNone/>
            </a:pPr>
            <a:r>
              <a:rPr lang="en-IN" sz="2400" b="1" kern="100" dirty="0">
                <a:effectLst/>
                <a:latin typeface="Calibri" panose="020F0502020204030204" pitchFamily="34" charset="0"/>
                <a:ea typeface="Calibri" panose="020F0502020204030204" pitchFamily="34" charset="0"/>
                <a:cs typeface="Shruti" panose="020B0502040204020203" pitchFamily="34" charset="0"/>
              </a:rPr>
              <a:t> </a:t>
            </a:r>
            <a:endParaRPr lang="en-IN" sz="14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07000"/>
              </a:lnSpc>
              <a:spcAft>
                <a:spcPts val="800"/>
              </a:spcAft>
              <a:buNone/>
            </a:pPr>
            <a:r>
              <a:rPr lang="en-IN" sz="2400" b="1" kern="100" dirty="0">
                <a:effectLst/>
                <a:latin typeface="Calibri" panose="020F0502020204030204" pitchFamily="34" charset="0"/>
                <a:ea typeface="Calibri" panose="020F0502020204030204" pitchFamily="34" charset="0"/>
                <a:cs typeface="Shruti" panose="020B0502040204020203" pitchFamily="34" charset="0"/>
              </a:rPr>
              <a:t> </a:t>
            </a:r>
            <a:endParaRPr lang="en-IN" sz="1400" kern="100" dirty="0">
              <a:effectLst/>
              <a:latin typeface="Calibri" panose="020F0502020204030204" pitchFamily="34" charset="0"/>
              <a:ea typeface="Calibri" panose="020F0502020204030204" pitchFamily="34" charset="0"/>
              <a:cs typeface="Shruti" panose="020B0502040204020203" pitchFamily="34" charset="0"/>
            </a:endParaRPr>
          </a:p>
          <a:p>
            <a:pPr algn="ctr">
              <a:lnSpc>
                <a:spcPct val="107000"/>
              </a:lnSpc>
              <a:spcAft>
                <a:spcPts val="800"/>
              </a:spcAft>
              <a:buNone/>
            </a:pPr>
            <a:r>
              <a:rPr lang="en-IN" sz="2400" b="1" u="sng" kern="100" dirty="0">
                <a:effectLst/>
                <a:latin typeface="Calibri" panose="020F0502020204030204" pitchFamily="34" charset="0"/>
                <a:ea typeface="Calibri" panose="020F0502020204030204" pitchFamily="34" charset="0"/>
                <a:cs typeface="Shruti" panose="020B0502040204020203" pitchFamily="34" charset="0"/>
              </a:rPr>
              <a:t>USE-CASE DIAGRAM</a:t>
            </a:r>
            <a:endParaRPr lang="en-IN" sz="14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5" name="TextBox 4">
            <a:extLst>
              <a:ext uri="{FF2B5EF4-FFF2-40B4-BE49-F238E27FC236}">
                <a16:creationId xmlns:a16="http://schemas.microsoft.com/office/drawing/2014/main" id="{294F9E87-5F43-5C0C-1FD6-49094BCD78D7}"/>
              </a:ext>
            </a:extLst>
          </p:cNvPr>
          <p:cNvSpPr txBox="1"/>
          <p:nvPr/>
        </p:nvSpPr>
        <p:spPr>
          <a:xfrm>
            <a:off x="130216" y="911818"/>
            <a:ext cx="6094070" cy="375552"/>
          </a:xfrm>
          <a:prstGeom prst="rect">
            <a:avLst/>
          </a:prstGeom>
          <a:noFill/>
        </p:spPr>
        <p:txBody>
          <a:bodyPr wrap="square">
            <a:spAutoFit/>
          </a:bodyPr>
          <a:lstStyle/>
          <a:p>
            <a:pPr algn="just">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Shruti" panose="020B0502040204020203" pitchFamily="34" charset="0"/>
              </a:rPr>
              <a:t>Symbols of use case diagram</a:t>
            </a:r>
            <a:endParaRPr lang="en-IN" sz="11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7" name="TextBox 6">
            <a:extLst>
              <a:ext uri="{FF2B5EF4-FFF2-40B4-BE49-F238E27FC236}">
                <a16:creationId xmlns:a16="http://schemas.microsoft.com/office/drawing/2014/main" id="{4AC556E5-5E0A-B6F5-4D84-AAF0FB2AAF61}"/>
              </a:ext>
            </a:extLst>
          </p:cNvPr>
          <p:cNvSpPr txBox="1"/>
          <p:nvPr/>
        </p:nvSpPr>
        <p:spPr>
          <a:xfrm>
            <a:off x="130216" y="1595655"/>
            <a:ext cx="6094070" cy="467564"/>
          </a:xfrm>
          <a:prstGeom prst="rect">
            <a:avLst/>
          </a:prstGeom>
          <a:noFill/>
        </p:spPr>
        <p:txBody>
          <a:bodyPr wrap="square">
            <a:spAutoFit/>
          </a:bodyPr>
          <a:lstStyle/>
          <a:p>
            <a:pPr algn="just">
              <a:lnSpc>
                <a:spcPct val="107000"/>
              </a:lnSpc>
              <a:spcAft>
                <a:spcPts val="800"/>
              </a:spcAft>
              <a:buNone/>
            </a:pPr>
            <a:r>
              <a:rPr lang="en-IN" sz="2400" b="1"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IN" sz="2400" b="1" kern="100" dirty="0">
                <a:effectLst/>
                <a:latin typeface="Calibri" panose="020F0502020204030204" pitchFamily="34" charset="0"/>
                <a:ea typeface="Calibri" panose="020F0502020204030204" pitchFamily="34" charset="0"/>
                <a:cs typeface="Shruti" panose="020B0502040204020203" pitchFamily="34" charset="0"/>
              </a:rPr>
              <a:t> Use-Cases</a:t>
            </a:r>
            <a:endParaRPr lang="en-IN" sz="1400" kern="100" dirty="0">
              <a:effectLst/>
              <a:latin typeface="Calibri" panose="020F0502020204030204" pitchFamily="34" charset="0"/>
              <a:ea typeface="Calibri" panose="020F0502020204030204" pitchFamily="34" charset="0"/>
              <a:cs typeface="Shruti" panose="020B0502040204020203" pitchFamily="34" charset="0"/>
            </a:endParaRPr>
          </a:p>
        </p:txBody>
      </p:sp>
      <p:grpSp>
        <p:nvGrpSpPr>
          <p:cNvPr id="2" name="Group 1">
            <a:extLst>
              <a:ext uri="{FF2B5EF4-FFF2-40B4-BE49-F238E27FC236}">
                <a16:creationId xmlns:a16="http://schemas.microsoft.com/office/drawing/2014/main" id="{CB8755C3-3E32-2359-BF1F-BBD759565DD9}"/>
              </a:ext>
            </a:extLst>
          </p:cNvPr>
          <p:cNvGrpSpPr>
            <a:grpSpLocks/>
          </p:cNvGrpSpPr>
          <p:nvPr/>
        </p:nvGrpSpPr>
        <p:grpSpPr>
          <a:xfrm>
            <a:off x="9255932" y="4140502"/>
            <a:ext cx="1070264" cy="1452563"/>
            <a:chOff x="3175" y="6350"/>
            <a:chExt cx="533400" cy="850900"/>
          </a:xfrm>
          <a:solidFill>
            <a:schemeClr val="accent1">
              <a:lumMod val="75000"/>
            </a:schemeClr>
          </a:solidFill>
        </p:grpSpPr>
        <p:sp>
          <p:nvSpPr>
            <p:cNvPr id="4" name="Graphic 27">
              <a:extLst>
                <a:ext uri="{FF2B5EF4-FFF2-40B4-BE49-F238E27FC236}">
                  <a16:creationId xmlns:a16="http://schemas.microsoft.com/office/drawing/2014/main" id="{BE4866A0-7EEC-4FB7-8FC8-998D7A75A212}"/>
                </a:ext>
              </a:extLst>
            </p:cNvPr>
            <p:cNvSpPr/>
            <p:nvPr/>
          </p:nvSpPr>
          <p:spPr>
            <a:xfrm>
              <a:off x="133350" y="6350"/>
              <a:ext cx="273050" cy="285750"/>
            </a:xfrm>
            <a:custGeom>
              <a:avLst/>
              <a:gdLst/>
              <a:ahLst/>
              <a:cxnLst/>
              <a:rect l="l" t="t" r="r" b="b"/>
              <a:pathLst>
                <a:path w="273050" h="285750">
                  <a:moveTo>
                    <a:pt x="136525" y="0"/>
                  </a:moveTo>
                  <a:lnTo>
                    <a:pt x="93345" y="7620"/>
                  </a:lnTo>
                  <a:lnTo>
                    <a:pt x="55880" y="27304"/>
                  </a:lnTo>
                  <a:lnTo>
                    <a:pt x="26035" y="58420"/>
                  </a:lnTo>
                  <a:lnTo>
                    <a:pt x="6985" y="97789"/>
                  </a:lnTo>
                  <a:lnTo>
                    <a:pt x="0" y="142875"/>
                  </a:lnTo>
                  <a:lnTo>
                    <a:pt x="6985" y="187960"/>
                  </a:lnTo>
                  <a:lnTo>
                    <a:pt x="26035" y="227329"/>
                  </a:lnTo>
                  <a:lnTo>
                    <a:pt x="55880" y="258445"/>
                  </a:lnTo>
                  <a:lnTo>
                    <a:pt x="93345" y="278764"/>
                  </a:lnTo>
                  <a:lnTo>
                    <a:pt x="136525" y="285750"/>
                  </a:lnTo>
                  <a:lnTo>
                    <a:pt x="179705" y="278764"/>
                  </a:lnTo>
                  <a:lnTo>
                    <a:pt x="217170" y="258445"/>
                  </a:lnTo>
                  <a:lnTo>
                    <a:pt x="247015" y="227329"/>
                  </a:lnTo>
                  <a:lnTo>
                    <a:pt x="266065" y="187960"/>
                  </a:lnTo>
                  <a:lnTo>
                    <a:pt x="273050" y="142875"/>
                  </a:lnTo>
                  <a:lnTo>
                    <a:pt x="266065" y="97789"/>
                  </a:lnTo>
                  <a:lnTo>
                    <a:pt x="247015" y="58420"/>
                  </a:lnTo>
                  <a:lnTo>
                    <a:pt x="217170" y="27304"/>
                  </a:lnTo>
                  <a:lnTo>
                    <a:pt x="179705" y="7620"/>
                  </a:lnTo>
                  <a:lnTo>
                    <a:pt x="136525" y="0"/>
                  </a:lnTo>
                  <a:close/>
                </a:path>
              </a:pathLst>
            </a:custGeom>
            <a:grpFill/>
          </p:spPr>
          <p:txBody>
            <a:bodyPr wrap="square" lIns="0" tIns="0" rIns="0" bIns="0" rtlCol="0">
              <a:prstTxWarp prst="textNoShape">
                <a:avLst/>
              </a:prstTxWarp>
              <a:noAutofit/>
            </a:bodyPr>
            <a:lstStyle/>
            <a:p>
              <a:endParaRPr lang="en-IN"/>
            </a:p>
          </p:txBody>
        </p:sp>
        <p:sp>
          <p:nvSpPr>
            <p:cNvPr id="6" name="Graphic 28">
              <a:extLst>
                <a:ext uri="{FF2B5EF4-FFF2-40B4-BE49-F238E27FC236}">
                  <a16:creationId xmlns:a16="http://schemas.microsoft.com/office/drawing/2014/main" id="{FB8243CC-8080-3A97-3F58-E4285444E686}"/>
                </a:ext>
              </a:extLst>
            </p:cNvPr>
            <p:cNvSpPr/>
            <p:nvPr/>
          </p:nvSpPr>
          <p:spPr>
            <a:xfrm>
              <a:off x="133350" y="6350"/>
              <a:ext cx="273050" cy="285750"/>
            </a:xfrm>
            <a:custGeom>
              <a:avLst/>
              <a:gdLst/>
              <a:ahLst/>
              <a:cxnLst/>
              <a:rect l="l" t="t" r="r" b="b"/>
              <a:pathLst>
                <a:path w="273050" h="285750">
                  <a:moveTo>
                    <a:pt x="0" y="142875"/>
                  </a:moveTo>
                  <a:lnTo>
                    <a:pt x="6985" y="97789"/>
                  </a:lnTo>
                  <a:lnTo>
                    <a:pt x="26035" y="58420"/>
                  </a:lnTo>
                  <a:lnTo>
                    <a:pt x="55880" y="27304"/>
                  </a:lnTo>
                  <a:lnTo>
                    <a:pt x="93345" y="7620"/>
                  </a:lnTo>
                  <a:lnTo>
                    <a:pt x="136525" y="0"/>
                  </a:lnTo>
                  <a:lnTo>
                    <a:pt x="179705" y="7620"/>
                  </a:lnTo>
                  <a:lnTo>
                    <a:pt x="217170" y="27304"/>
                  </a:lnTo>
                  <a:lnTo>
                    <a:pt x="247015" y="58420"/>
                  </a:lnTo>
                  <a:lnTo>
                    <a:pt x="266065" y="97789"/>
                  </a:lnTo>
                  <a:lnTo>
                    <a:pt x="273050" y="142875"/>
                  </a:lnTo>
                  <a:lnTo>
                    <a:pt x="266065" y="187960"/>
                  </a:lnTo>
                  <a:lnTo>
                    <a:pt x="247015" y="227329"/>
                  </a:lnTo>
                  <a:lnTo>
                    <a:pt x="217170" y="258445"/>
                  </a:lnTo>
                  <a:lnTo>
                    <a:pt x="179705" y="278764"/>
                  </a:lnTo>
                  <a:lnTo>
                    <a:pt x="136525" y="285750"/>
                  </a:lnTo>
                  <a:lnTo>
                    <a:pt x="93345" y="278764"/>
                  </a:lnTo>
                  <a:lnTo>
                    <a:pt x="55880" y="258445"/>
                  </a:lnTo>
                  <a:lnTo>
                    <a:pt x="26035" y="227329"/>
                  </a:lnTo>
                  <a:lnTo>
                    <a:pt x="6985" y="187960"/>
                  </a:lnTo>
                  <a:lnTo>
                    <a:pt x="0" y="142875"/>
                  </a:lnTo>
                  <a:close/>
                </a:path>
              </a:pathLst>
            </a:custGeom>
            <a:grpFill/>
            <a:ln w="12700">
              <a:solidFill>
                <a:srgbClr val="416F9C"/>
              </a:solidFill>
              <a:prstDash val="solid"/>
            </a:ln>
          </p:spPr>
          <p:txBody>
            <a:bodyPr wrap="square" lIns="0" tIns="0" rIns="0" bIns="0" rtlCol="0">
              <a:prstTxWarp prst="textNoShape">
                <a:avLst/>
              </a:prstTxWarp>
              <a:noAutofit/>
            </a:bodyPr>
            <a:lstStyle/>
            <a:p>
              <a:endParaRPr lang="en-IN" dirty="0"/>
            </a:p>
          </p:txBody>
        </p:sp>
        <p:sp>
          <p:nvSpPr>
            <p:cNvPr id="9" name="Graphic 29">
              <a:extLst>
                <a:ext uri="{FF2B5EF4-FFF2-40B4-BE49-F238E27FC236}">
                  <a16:creationId xmlns:a16="http://schemas.microsoft.com/office/drawing/2014/main" id="{A5E9E468-2BE1-BD3A-F732-29EBBC11A039}"/>
                </a:ext>
              </a:extLst>
            </p:cNvPr>
            <p:cNvSpPr/>
            <p:nvPr/>
          </p:nvSpPr>
          <p:spPr>
            <a:xfrm>
              <a:off x="3175" y="292100"/>
              <a:ext cx="533400" cy="565150"/>
            </a:xfrm>
            <a:custGeom>
              <a:avLst/>
              <a:gdLst/>
              <a:ahLst/>
              <a:cxnLst/>
              <a:rect l="l" t="t" r="r" b="b"/>
              <a:pathLst>
                <a:path w="533400" h="565150">
                  <a:moveTo>
                    <a:pt x="0" y="149225"/>
                  </a:moveTo>
                  <a:lnTo>
                    <a:pt x="533400" y="158750"/>
                  </a:lnTo>
                </a:path>
                <a:path w="533400" h="565150">
                  <a:moveTo>
                    <a:pt x="262255" y="0"/>
                  </a:moveTo>
                  <a:lnTo>
                    <a:pt x="276225" y="412750"/>
                  </a:lnTo>
                </a:path>
                <a:path w="533400" h="565150">
                  <a:moveTo>
                    <a:pt x="269240" y="412750"/>
                  </a:moveTo>
                  <a:lnTo>
                    <a:pt x="161925" y="565150"/>
                  </a:lnTo>
                </a:path>
                <a:path w="533400" h="565150">
                  <a:moveTo>
                    <a:pt x="276225" y="400050"/>
                  </a:moveTo>
                  <a:lnTo>
                    <a:pt x="454025" y="552450"/>
                  </a:lnTo>
                </a:path>
              </a:pathLst>
            </a:custGeom>
            <a:grpFill/>
            <a:ln w="6350">
              <a:solidFill>
                <a:srgbClr val="000000"/>
              </a:solidFill>
              <a:prstDash val="solid"/>
            </a:ln>
          </p:spPr>
          <p:txBody>
            <a:bodyPr wrap="square" lIns="0" tIns="0" rIns="0" bIns="0" rtlCol="0">
              <a:prstTxWarp prst="textNoShape">
                <a:avLst/>
              </a:prstTxWarp>
              <a:noAutofit/>
            </a:bodyPr>
            <a:lstStyle/>
            <a:p>
              <a:endParaRPr lang="en-IN"/>
            </a:p>
          </p:txBody>
        </p:sp>
      </p:grpSp>
      <p:sp>
        <p:nvSpPr>
          <p:cNvPr id="14" name="Oval 13">
            <a:extLst>
              <a:ext uri="{FF2B5EF4-FFF2-40B4-BE49-F238E27FC236}">
                <a16:creationId xmlns:a16="http://schemas.microsoft.com/office/drawing/2014/main" id="{C2C1F2CE-16FF-DE1F-0EC0-FB5C16A17891}"/>
              </a:ext>
            </a:extLst>
          </p:cNvPr>
          <p:cNvSpPr/>
          <p:nvPr/>
        </p:nvSpPr>
        <p:spPr>
          <a:xfrm>
            <a:off x="8557222" y="1595654"/>
            <a:ext cx="1906422" cy="856600"/>
          </a:xfrm>
          <a:prstGeom prst="ellips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FAEA05A2-C0EB-FC21-05ED-84DC9586F480}"/>
              </a:ext>
            </a:extLst>
          </p:cNvPr>
          <p:cNvSpPr txBox="1"/>
          <p:nvPr/>
        </p:nvSpPr>
        <p:spPr>
          <a:xfrm>
            <a:off x="-361085" y="2179284"/>
            <a:ext cx="6094268" cy="677108"/>
          </a:xfrm>
          <a:prstGeom prst="rect">
            <a:avLst/>
          </a:prstGeom>
          <a:noFill/>
        </p:spPr>
        <p:txBody>
          <a:bodyPr wrap="square">
            <a:spAutoFit/>
          </a:bodyPr>
          <a:lstStyle/>
          <a:p>
            <a:pPr marL="667385">
              <a:lnSpc>
                <a:spcPct val="95000"/>
              </a:lnSpc>
              <a:spcBef>
                <a:spcPts val="875"/>
              </a:spcBef>
              <a:buNone/>
            </a:pPr>
            <a:r>
              <a:rPr lang="en-US" sz="2000" dirty="0">
                <a:effectLst/>
                <a:latin typeface="Times New Roman" panose="02020603050405020304" pitchFamily="18" charset="0"/>
                <a:ea typeface="Times New Roman" panose="02020603050405020304" pitchFamily="18" charset="0"/>
              </a:rPr>
              <a:t>Draw use cases using ovals. label the ovals with verbs that represent the system’s </a:t>
            </a:r>
            <a:r>
              <a:rPr lang="en-US" sz="2000" spc="-10" dirty="0">
                <a:effectLst/>
                <a:latin typeface="Times New Roman" panose="02020603050405020304" pitchFamily="18" charset="0"/>
                <a:ea typeface="Times New Roman" panose="02020603050405020304" pitchFamily="18" charset="0"/>
              </a:rPr>
              <a:t>functions.</a:t>
            </a:r>
            <a:endParaRPr lang="en-IN" sz="2000" dirty="0">
              <a:effectLst/>
              <a:latin typeface="Times New Roman" panose="02020603050405020304" pitchFamily="18" charset="0"/>
              <a:ea typeface="Times New Roman" panose="02020603050405020304" pitchFamily="18" charset="0"/>
            </a:endParaRPr>
          </a:p>
        </p:txBody>
      </p:sp>
      <p:sp>
        <p:nvSpPr>
          <p:cNvPr id="20" name="TextBox 19">
            <a:extLst>
              <a:ext uri="{FF2B5EF4-FFF2-40B4-BE49-F238E27FC236}">
                <a16:creationId xmlns:a16="http://schemas.microsoft.com/office/drawing/2014/main" id="{9EFD178D-6EFC-70AB-20C1-55DCEC09B6A5}"/>
              </a:ext>
            </a:extLst>
          </p:cNvPr>
          <p:cNvSpPr txBox="1"/>
          <p:nvPr/>
        </p:nvSpPr>
        <p:spPr>
          <a:xfrm>
            <a:off x="130216" y="3829253"/>
            <a:ext cx="6276108" cy="461665"/>
          </a:xfrm>
          <a:prstGeom prst="rect">
            <a:avLst/>
          </a:prstGeom>
          <a:noFill/>
        </p:spPr>
        <p:txBody>
          <a:bodyPr wrap="square">
            <a:spAutoFit/>
          </a:bodyPr>
          <a:lstStyle/>
          <a:p>
            <a:r>
              <a:rPr lang="en-IN" sz="2400" b="1" dirty="0"/>
              <a:t>❖ Actors</a:t>
            </a:r>
          </a:p>
        </p:txBody>
      </p:sp>
      <p:sp>
        <p:nvSpPr>
          <p:cNvPr id="22" name="TextBox 21">
            <a:extLst>
              <a:ext uri="{FF2B5EF4-FFF2-40B4-BE49-F238E27FC236}">
                <a16:creationId xmlns:a16="http://schemas.microsoft.com/office/drawing/2014/main" id="{045F8222-DD15-CA1D-0415-F6935D0D555A}"/>
              </a:ext>
            </a:extLst>
          </p:cNvPr>
          <p:cNvSpPr txBox="1"/>
          <p:nvPr/>
        </p:nvSpPr>
        <p:spPr>
          <a:xfrm>
            <a:off x="-361085" y="4605102"/>
            <a:ext cx="6276108" cy="987963"/>
          </a:xfrm>
          <a:prstGeom prst="rect">
            <a:avLst/>
          </a:prstGeom>
          <a:noFill/>
        </p:spPr>
        <p:txBody>
          <a:bodyPr wrap="square">
            <a:spAutoFit/>
          </a:bodyPr>
          <a:lstStyle/>
          <a:p>
            <a:pPr marL="685800" marR="236855" algn="just">
              <a:lnSpc>
                <a:spcPct val="97000"/>
              </a:lnSpc>
              <a:spcBef>
                <a:spcPts val="5"/>
              </a:spcBef>
              <a:buNone/>
            </a:pPr>
            <a:r>
              <a:rPr lang="en-US" sz="2000" dirty="0">
                <a:effectLst/>
                <a:latin typeface="Times New Roman" panose="02020603050405020304" pitchFamily="18" charset="0"/>
                <a:ea typeface="Times New Roman" panose="02020603050405020304" pitchFamily="18" charset="0"/>
              </a:rPr>
              <a:t>Actors are the users of a system. When one system is the actor of another system label the actor system with the actor stereotype.</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74726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69C74C-012E-6D65-DB02-FEF8106B14BB}"/>
              </a:ext>
            </a:extLst>
          </p:cNvPr>
          <p:cNvSpPr txBox="1"/>
          <p:nvPr/>
        </p:nvSpPr>
        <p:spPr>
          <a:xfrm>
            <a:off x="200025" y="137452"/>
            <a:ext cx="6094268" cy="461665"/>
          </a:xfrm>
          <a:prstGeom prst="rect">
            <a:avLst/>
          </a:prstGeom>
          <a:noFill/>
        </p:spPr>
        <p:txBody>
          <a:bodyPr wrap="square">
            <a:spAutoFit/>
          </a:bodyPr>
          <a:lstStyle/>
          <a:p>
            <a:r>
              <a:rPr lang="en-IN" sz="2400" b="1" dirty="0"/>
              <a:t>❖ System Boundary </a:t>
            </a:r>
          </a:p>
        </p:txBody>
      </p:sp>
      <p:sp>
        <p:nvSpPr>
          <p:cNvPr id="5" name="TextBox 4">
            <a:extLst>
              <a:ext uri="{FF2B5EF4-FFF2-40B4-BE49-F238E27FC236}">
                <a16:creationId xmlns:a16="http://schemas.microsoft.com/office/drawing/2014/main" id="{021FCED3-791F-CF7A-C0BF-4A5AEDD51C97}"/>
              </a:ext>
            </a:extLst>
          </p:cNvPr>
          <p:cNvSpPr txBox="1"/>
          <p:nvPr/>
        </p:nvSpPr>
        <p:spPr>
          <a:xfrm>
            <a:off x="-361084" y="909935"/>
            <a:ext cx="6094268" cy="1015663"/>
          </a:xfrm>
          <a:prstGeom prst="rect">
            <a:avLst/>
          </a:prstGeom>
          <a:noFill/>
        </p:spPr>
        <p:txBody>
          <a:bodyPr wrap="square">
            <a:spAutoFit/>
          </a:bodyPr>
          <a:lstStyle/>
          <a:p>
            <a:pPr marL="670560" marR="480060" algn="just">
              <a:lnSpc>
                <a:spcPct val="100000"/>
              </a:lnSpc>
              <a:spcBef>
                <a:spcPts val="810"/>
              </a:spcBef>
              <a:buNone/>
            </a:pPr>
            <a:r>
              <a:rPr lang="en-US" sz="2000" dirty="0">
                <a:effectLst/>
                <a:latin typeface="Times New Roman" panose="02020603050405020304" pitchFamily="18" charset="0"/>
                <a:ea typeface="Times New Roman" panose="02020603050405020304" pitchFamily="18" charset="0"/>
              </a:rPr>
              <a:t>Draw</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system’s</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boundaries</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using</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rectangle</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that</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contains</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use</a:t>
            </a:r>
            <a:r>
              <a:rPr lang="en-US" sz="2000" spc="2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cases, place actor outsides the system’s boundaries.</a:t>
            </a:r>
            <a:endParaRPr lang="en-IN" sz="2000"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D981DCF0-CE81-C6C9-DE86-61DD129724B1}"/>
              </a:ext>
            </a:extLst>
          </p:cNvPr>
          <p:cNvSpPr txBox="1"/>
          <p:nvPr/>
        </p:nvSpPr>
        <p:spPr>
          <a:xfrm>
            <a:off x="17029" y="2475931"/>
            <a:ext cx="6277264" cy="461665"/>
          </a:xfrm>
          <a:prstGeom prst="rect">
            <a:avLst/>
          </a:prstGeom>
          <a:noFill/>
        </p:spPr>
        <p:txBody>
          <a:bodyPr wrap="square">
            <a:spAutoFit/>
          </a:bodyPr>
          <a:lstStyle/>
          <a:p>
            <a:pPr marL="140335" rtl="0" fontAlgn="base">
              <a:spcBef>
                <a:spcPts val="345"/>
              </a:spcBef>
            </a:pPr>
            <a:r>
              <a:rPr lang="en-US" sz="2400" b="1" i="0" u="none" strike="noStrike" dirty="0">
                <a:solidFill>
                  <a:srgbClr val="000000"/>
                </a:solidFill>
                <a:effectLst/>
                <a:latin typeface="Times New Roman" panose="02020603050405020304" pitchFamily="18" charset="0"/>
              </a:rPr>
              <a:t>❖ Relationships</a:t>
            </a:r>
            <a:endParaRPr lang="en-US" sz="2400" b="0" i="0" u="none" strike="noStrike" dirty="0">
              <a:solidFill>
                <a:srgbClr val="000000"/>
              </a:solidFill>
              <a:effectLst/>
              <a:latin typeface="Noto Sans Symbols" panose="020B0502040504020204" pitchFamily="34" charset="0"/>
            </a:endParaRPr>
          </a:p>
        </p:txBody>
      </p:sp>
      <p:sp>
        <p:nvSpPr>
          <p:cNvPr id="7" name="TextBox 6">
            <a:extLst>
              <a:ext uri="{FF2B5EF4-FFF2-40B4-BE49-F238E27FC236}">
                <a16:creationId xmlns:a16="http://schemas.microsoft.com/office/drawing/2014/main" id="{4792D784-3509-8053-2F69-76975EC49007}"/>
              </a:ext>
            </a:extLst>
          </p:cNvPr>
          <p:cNvSpPr txBox="1"/>
          <p:nvPr/>
        </p:nvSpPr>
        <p:spPr>
          <a:xfrm>
            <a:off x="8667199" y="3370630"/>
            <a:ext cx="3260788" cy="2585323"/>
          </a:xfrm>
          <a:prstGeom prst="rect">
            <a:avLst/>
          </a:prstGeom>
          <a:noFill/>
        </p:spPr>
        <p:txBody>
          <a:bodyPr wrap="square">
            <a:spAutoFit/>
          </a:bodyPr>
          <a:lstStyle/>
          <a:p>
            <a:pPr marL="740410" rtl="0">
              <a:buNone/>
            </a:pPr>
            <a:r>
              <a:rPr lang="en-US" sz="1800" b="0" i="0" u="none" strike="noStrike">
                <a:solidFill>
                  <a:srgbClr val="000000"/>
                </a:solidFill>
                <a:effectLst/>
                <a:latin typeface="Arial" panose="020B0604020202020204" pitchFamily="34" charset="0"/>
              </a:rPr>
              <a:t>&lt;&lt;include&gt;&gt;</a:t>
            </a:r>
          </a:p>
          <a:p>
            <a:pPr marL="740410" rtl="0">
              <a:buNone/>
            </a:pPr>
            <a:r>
              <a:rPr lang="en-US">
                <a:solidFill>
                  <a:srgbClr val="000000"/>
                </a:solidFill>
                <a:latin typeface="Arial" panose="020B0604020202020204" pitchFamily="34" charset="0"/>
              </a:rPr>
              <a:t> </a:t>
            </a:r>
            <a:endParaRPr lang="en-US">
              <a:effectLst/>
            </a:endParaRPr>
          </a:p>
          <a:p>
            <a:pPr>
              <a:buNone/>
            </a:pPr>
            <a:r>
              <a:rPr lang="en-US"/>
              <a:t> </a:t>
            </a:r>
            <a:br>
              <a:rPr lang="en-US"/>
            </a:br>
            <a:br>
              <a:rPr lang="en-US"/>
            </a:br>
            <a:endParaRPr lang="en-US"/>
          </a:p>
          <a:p>
            <a:pPr marL="731520" rtl="0">
              <a:spcBef>
                <a:spcPts val="5"/>
              </a:spcBef>
              <a:buNone/>
            </a:pPr>
            <a:r>
              <a:rPr lang="en-US" sz="1800" b="0" i="0" u="none" strike="noStrike">
                <a:solidFill>
                  <a:srgbClr val="000000"/>
                </a:solidFill>
                <a:effectLst/>
                <a:latin typeface="Arial" panose="020B0604020202020204" pitchFamily="34" charset="0"/>
              </a:rPr>
              <a:t>&lt;&lt;extend&gt;&gt;</a:t>
            </a:r>
            <a:endParaRPr lang="en-US">
              <a:effectLst/>
            </a:endParaRPr>
          </a:p>
          <a:p>
            <a:pPr>
              <a:buNone/>
            </a:pPr>
            <a:br>
              <a:rPr lang="en-US"/>
            </a:br>
            <a:br>
              <a:rPr lang="en-US"/>
            </a:br>
            <a:endParaRPr lang="en-US"/>
          </a:p>
        </p:txBody>
      </p:sp>
      <p:sp>
        <p:nvSpPr>
          <p:cNvPr id="13" name="TextBox 12">
            <a:extLst>
              <a:ext uri="{FF2B5EF4-FFF2-40B4-BE49-F238E27FC236}">
                <a16:creationId xmlns:a16="http://schemas.microsoft.com/office/drawing/2014/main" id="{5DD89727-2DDF-4647-859A-D2F47A444495}"/>
              </a:ext>
            </a:extLst>
          </p:cNvPr>
          <p:cNvSpPr txBox="1"/>
          <p:nvPr/>
        </p:nvSpPr>
        <p:spPr>
          <a:xfrm>
            <a:off x="-304366" y="3370630"/>
            <a:ext cx="6278210" cy="2492990"/>
          </a:xfrm>
          <a:prstGeom prst="rect">
            <a:avLst/>
          </a:prstGeom>
          <a:noFill/>
        </p:spPr>
        <p:txBody>
          <a:bodyPr wrap="square">
            <a:spAutoFit/>
          </a:bodyPr>
          <a:lstStyle/>
          <a:p>
            <a:pPr marL="597535" marR="221615" algn="just" rtl="0">
              <a:buNone/>
            </a:pPr>
            <a:r>
              <a:rPr lang="en-US" sz="2000" b="0" i="0" u="none" strike="noStrike" dirty="0">
                <a:solidFill>
                  <a:srgbClr val="000000"/>
                </a:solidFill>
                <a:effectLst/>
                <a:latin typeface="Times New Roman" panose="02020603050405020304" pitchFamily="18" charset="0"/>
              </a:rPr>
              <a:t>Illustrate relationships between an actor and a use case with a simple line. For relationship among use cases, use arrows labelled either “uses” or “extends”. A “uses” relationship indicates that one use case is needed by another in order to perform a task.</a:t>
            </a:r>
            <a:endParaRPr lang="en-US" sz="2000" dirty="0">
              <a:effectLst/>
            </a:endParaRPr>
          </a:p>
          <a:p>
            <a:pPr>
              <a:buNone/>
            </a:pPr>
            <a:br>
              <a:rPr lang="en-US" dirty="0"/>
            </a:br>
            <a:endParaRPr lang="en-US" dirty="0"/>
          </a:p>
        </p:txBody>
      </p:sp>
      <p:sp>
        <p:nvSpPr>
          <p:cNvPr id="6" name="TextBox 5">
            <a:extLst>
              <a:ext uri="{FF2B5EF4-FFF2-40B4-BE49-F238E27FC236}">
                <a16:creationId xmlns:a16="http://schemas.microsoft.com/office/drawing/2014/main" id="{402B9E34-9D3C-47A4-0E84-CE4859CC912D}"/>
              </a:ext>
            </a:extLst>
          </p:cNvPr>
          <p:cNvSpPr txBox="1"/>
          <p:nvPr/>
        </p:nvSpPr>
        <p:spPr>
          <a:xfrm>
            <a:off x="-303420" y="5540454"/>
            <a:ext cx="6277264" cy="646331"/>
          </a:xfrm>
          <a:prstGeom prst="rect">
            <a:avLst/>
          </a:prstGeom>
          <a:noFill/>
        </p:spPr>
        <p:txBody>
          <a:bodyPr wrap="square">
            <a:spAutoFit/>
          </a:bodyPr>
          <a:lstStyle/>
          <a:p>
            <a:pPr marL="588010" algn="just" rtl="0">
              <a:buNone/>
            </a:pPr>
            <a:r>
              <a:rPr lang="en-US" sz="1800" b="0" i="0" u="none" strike="noStrike" dirty="0">
                <a:solidFill>
                  <a:srgbClr val="000000"/>
                </a:solidFill>
                <a:effectLst/>
                <a:latin typeface="Times New Roman" panose="02020603050405020304" pitchFamily="18" charset="0"/>
              </a:rPr>
              <a:t>An “extends” relationship indicates alternative options under a certain </a:t>
            </a:r>
            <a:r>
              <a:rPr lang="en-US" sz="1800" b="0" i="0" u="none" strike="noStrike" dirty="0" err="1">
                <a:solidFill>
                  <a:srgbClr val="000000"/>
                </a:solidFill>
                <a:effectLst/>
                <a:latin typeface="Times New Roman" panose="02020603050405020304" pitchFamily="18" charset="0"/>
              </a:rPr>
              <a:t>usecase</a:t>
            </a:r>
            <a:r>
              <a:rPr lang="en-US" sz="1800" b="0" i="0" u="none" strike="noStrike" dirty="0">
                <a:solidFill>
                  <a:srgbClr val="000000"/>
                </a:solidFill>
                <a:effectLst/>
                <a:latin typeface="Times New Roman" panose="02020603050405020304" pitchFamily="18" charset="0"/>
              </a:rPr>
              <a:t>.</a:t>
            </a:r>
            <a:endParaRPr lang="en-US" dirty="0">
              <a:effectLst/>
            </a:endParaRPr>
          </a:p>
        </p:txBody>
      </p:sp>
      <p:pic>
        <p:nvPicPr>
          <p:cNvPr id="2" name="Picture 1">
            <a:extLst>
              <a:ext uri="{FF2B5EF4-FFF2-40B4-BE49-F238E27FC236}">
                <a16:creationId xmlns:a16="http://schemas.microsoft.com/office/drawing/2014/main" id="{ADC2379C-8930-DB76-E47C-CD7C9516960E}"/>
              </a:ext>
            </a:extLst>
          </p:cNvPr>
          <p:cNvPicPr>
            <a:picLocks noChangeAspect="1"/>
          </p:cNvPicPr>
          <p:nvPr/>
        </p:nvPicPr>
        <p:blipFill>
          <a:blip r:embed="rId2"/>
          <a:stretch>
            <a:fillRect/>
          </a:stretch>
        </p:blipFill>
        <p:spPr>
          <a:xfrm>
            <a:off x="7943299" y="3429000"/>
            <a:ext cx="1447800" cy="304800"/>
          </a:xfrm>
          <a:prstGeom prst="rect">
            <a:avLst/>
          </a:prstGeom>
        </p:spPr>
      </p:pic>
      <p:pic>
        <p:nvPicPr>
          <p:cNvPr id="8" name="Picture 7">
            <a:extLst>
              <a:ext uri="{FF2B5EF4-FFF2-40B4-BE49-F238E27FC236}">
                <a16:creationId xmlns:a16="http://schemas.microsoft.com/office/drawing/2014/main" id="{3D8340AB-9EF3-3738-68E2-0F9F00DF9914}"/>
              </a:ext>
            </a:extLst>
          </p:cNvPr>
          <p:cNvPicPr>
            <a:picLocks noChangeAspect="1"/>
          </p:cNvPicPr>
          <p:nvPr/>
        </p:nvPicPr>
        <p:blipFill>
          <a:blip r:embed="rId3"/>
          <a:stretch>
            <a:fillRect/>
          </a:stretch>
        </p:blipFill>
        <p:spPr>
          <a:xfrm>
            <a:off x="7953131" y="4814832"/>
            <a:ext cx="1564621" cy="433065"/>
          </a:xfrm>
          <a:prstGeom prst="rect">
            <a:avLst/>
          </a:prstGeom>
        </p:spPr>
      </p:pic>
    </p:spTree>
    <p:extLst>
      <p:ext uri="{BB962C8B-B14F-4D97-AF65-F5344CB8AC3E}">
        <p14:creationId xmlns:p14="http://schemas.microsoft.com/office/powerpoint/2010/main" val="390543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246B0B-7992-703D-A16C-5A8FEBC6CCDC}"/>
              </a:ext>
            </a:extLst>
          </p:cNvPr>
          <p:cNvSpPr txBox="1"/>
          <p:nvPr/>
        </p:nvSpPr>
        <p:spPr>
          <a:xfrm>
            <a:off x="142240" y="101600"/>
            <a:ext cx="6217920" cy="461665"/>
          </a:xfrm>
          <a:prstGeom prst="rect">
            <a:avLst/>
          </a:prstGeom>
          <a:noFill/>
        </p:spPr>
        <p:txBody>
          <a:bodyPr wrap="square" rtlCol="0">
            <a:spAutoFit/>
          </a:bodyPr>
          <a:lstStyle/>
          <a:p>
            <a:r>
              <a:rPr lang="en-IN" sz="2400" u="sng" dirty="0">
                <a:latin typeface="Times New Roman" panose="02020603050405020304" pitchFamily="18" charset="0"/>
                <a:cs typeface="Times New Roman" panose="02020603050405020304" pitchFamily="18" charset="0"/>
              </a:rPr>
              <a:t>Use case diagram for admin</a:t>
            </a:r>
          </a:p>
        </p:txBody>
      </p:sp>
      <p:pic>
        <p:nvPicPr>
          <p:cNvPr id="8" name="Picture 7">
            <a:extLst>
              <a:ext uri="{FF2B5EF4-FFF2-40B4-BE49-F238E27FC236}">
                <a16:creationId xmlns:a16="http://schemas.microsoft.com/office/drawing/2014/main" id="{907995E4-8161-C3A4-3FC6-C35F9A24A1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5162" y="700087"/>
            <a:ext cx="5781675" cy="5457825"/>
          </a:xfrm>
          <a:prstGeom prst="rect">
            <a:avLst/>
          </a:prstGeom>
        </p:spPr>
      </p:pic>
    </p:spTree>
    <p:extLst>
      <p:ext uri="{BB962C8B-B14F-4D97-AF65-F5344CB8AC3E}">
        <p14:creationId xmlns:p14="http://schemas.microsoft.com/office/powerpoint/2010/main" val="3881173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FCC655-C6EB-0034-82B4-024174A9E85C}"/>
              </a:ext>
            </a:extLst>
          </p:cNvPr>
          <p:cNvSpPr txBox="1"/>
          <p:nvPr/>
        </p:nvSpPr>
        <p:spPr>
          <a:xfrm>
            <a:off x="0" y="-883131"/>
            <a:ext cx="6094028" cy="1361911"/>
          </a:xfrm>
          <a:prstGeom prst="rect">
            <a:avLst/>
          </a:prstGeom>
          <a:noFill/>
        </p:spPr>
        <p:txBody>
          <a:bodyPr wrap="square">
            <a:spAutoFit/>
          </a:bodyPr>
          <a:lstStyle/>
          <a:p>
            <a:pPr>
              <a:buNone/>
            </a:pPr>
            <a:br>
              <a:rPr lang="en-US" sz="2000" dirty="0"/>
            </a:br>
            <a:br>
              <a:rPr lang="en-US" sz="2000" b="1" i="0" u="none" strike="noStrike" dirty="0">
                <a:solidFill>
                  <a:srgbClr val="000000"/>
                </a:solidFill>
                <a:effectLst/>
                <a:latin typeface="Times New Roman" panose="02020603050405020304" pitchFamily="18" charset="0"/>
              </a:rPr>
            </a:br>
            <a:endParaRPr lang="en-US" sz="2000" dirty="0"/>
          </a:p>
          <a:p>
            <a:pPr marL="140335" rtl="0">
              <a:spcBef>
                <a:spcPts val="345"/>
              </a:spcBef>
              <a:buNone/>
            </a:pPr>
            <a:r>
              <a:rPr lang="en-US" sz="2000" b="1" i="0" u="sng" dirty="0">
                <a:effectLst/>
                <a:latin typeface="Times New Roman" panose="02020603050405020304" pitchFamily="18" charset="0"/>
              </a:rPr>
              <a:t>USE-CASE DIAGRAM FOR USER</a:t>
            </a:r>
            <a:endParaRPr lang="en-US" sz="2000" dirty="0">
              <a:effectLst/>
            </a:endParaRPr>
          </a:p>
        </p:txBody>
      </p:sp>
      <p:pic>
        <p:nvPicPr>
          <p:cNvPr id="5" name="Picture 4">
            <a:extLst>
              <a:ext uri="{FF2B5EF4-FFF2-40B4-BE49-F238E27FC236}">
                <a16:creationId xmlns:a16="http://schemas.microsoft.com/office/drawing/2014/main" id="{A5CAE012-A2C8-5D7B-ADD9-1AE80CDC43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6361" y="152400"/>
            <a:ext cx="4975123" cy="6553200"/>
          </a:xfrm>
          <a:prstGeom prst="rect">
            <a:avLst/>
          </a:prstGeom>
        </p:spPr>
      </p:pic>
    </p:spTree>
    <p:extLst>
      <p:ext uri="{BB962C8B-B14F-4D97-AF65-F5344CB8AC3E}">
        <p14:creationId xmlns:p14="http://schemas.microsoft.com/office/powerpoint/2010/main" val="1224087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9132A7-474F-812E-5A2E-F696845A0F6A}"/>
              </a:ext>
            </a:extLst>
          </p:cNvPr>
          <p:cNvSpPr txBox="1"/>
          <p:nvPr/>
        </p:nvSpPr>
        <p:spPr>
          <a:xfrm>
            <a:off x="0" y="165674"/>
            <a:ext cx="11656087" cy="7337906"/>
          </a:xfrm>
          <a:prstGeom prst="rect">
            <a:avLst/>
          </a:prstGeom>
          <a:noFill/>
        </p:spPr>
        <p:txBody>
          <a:bodyPr wrap="square">
            <a:spAutoFit/>
          </a:bodyPr>
          <a:lstStyle/>
          <a:p>
            <a:pPr marL="228600" rtl="0">
              <a:spcBef>
                <a:spcPts val="345"/>
              </a:spcBef>
              <a:buNone/>
            </a:pPr>
            <a:r>
              <a:rPr lang="en-US" sz="2800" b="1" i="0" u="sng" dirty="0">
                <a:solidFill>
                  <a:schemeClr val="accent1">
                    <a:lumMod val="75000"/>
                  </a:schemeClr>
                </a:solidFill>
                <a:effectLst/>
                <a:latin typeface="Times New Roman" panose="02020603050405020304" pitchFamily="18" charset="0"/>
              </a:rPr>
              <a:t>SEQUENCE DIAGRAMS</a:t>
            </a:r>
          </a:p>
          <a:p>
            <a:pPr marL="228600" rtl="0">
              <a:spcBef>
                <a:spcPts val="345"/>
              </a:spcBef>
              <a:buNone/>
            </a:pPr>
            <a:endParaRPr lang="en-US" sz="2000" b="1" u="sng" dirty="0">
              <a:solidFill>
                <a:srgbClr val="538DD3"/>
              </a:solidFill>
              <a:latin typeface="Times New Roman" panose="02020603050405020304" pitchFamily="18" charset="0"/>
            </a:endParaRPr>
          </a:p>
          <a:p>
            <a:pPr marL="228600" rtl="0">
              <a:spcBef>
                <a:spcPts val="345"/>
              </a:spcBef>
              <a:buNone/>
            </a:pPr>
            <a:endParaRPr lang="en-US" dirty="0">
              <a:effectLst/>
            </a:endParaRPr>
          </a:p>
          <a:p>
            <a:pPr marL="228600" algn="just" rtl="0">
              <a:spcBef>
                <a:spcPts val="390"/>
              </a:spcBef>
              <a:buNone/>
            </a:pPr>
            <a:r>
              <a:rPr lang="en-US" sz="3200" b="1" i="0" u="none" strike="noStrike" dirty="0">
                <a:solidFill>
                  <a:srgbClr val="000000"/>
                </a:solidFill>
                <a:effectLst/>
                <a:latin typeface="Times New Roman" panose="02020603050405020304" pitchFamily="18" charset="0"/>
              </a:rPr>
              <a:t>What is Sequence Diagram?</a:t>
            </a:r>
            <a:endParaRPr lang="en-US" sz="3200" b="1" dirty="0">
              <a:effectLst/>
            </a:endParaRPr>
          </a:p>
          <a:p>
            <a:pPr marL="228600" marR="480060" algn="just" rtl="0">
              <a:spcBef>
                <a:spcPts val="385"/>
              </a:spcBef>
              <a:buNone/>
            </a:pPr>
            <a:r>
              <a:rPr lang="en-US" sz="3200" b="0" i="0" u="none" strike="noStrike" dirty="0">
                <a:solidFill>
                  <a:srgbClr val="000000"/>
                </a:solidFill>
                <a:effectLst/>
                <a:latin typeface="Times New Roman" panose="02020603050405020304" pitchFamily="18" charset="0"/>
              </a:rPr>
              <a:t>Sequence diagram is an interaction diagram which focuses on message interchange between number of timelines.</a:t>
            </a:r>
            <a:endParaRPr lang="en-US" sz="3200" dirty="0">
              <a:effectLst/>
            </a:endParaRPr>
          </a:p>
          <a:p>
            <a:pPr algn="just">
              <a:buNone/>
            </a:pPr>
            <a:br>
              <a:rPr lang="en-US" sz="3200" dirty="0"/>
            </a:br>
            <a:endParaRPr lang="en-US" sz="3200" dirty="0"/>
          </a:p>
          <a:p>
            <a:pPr marL="228600" algn="just" rtl="0">
              <a:buNone/>
            </a:pPr>
            <a:r>
              <a:rPr lang="en-US" sz="3200" b="0" i="0" u="none" strike="noStrike" dirty="0">
                <a:solidFill>
                  <a:srgbClr val="000000"/>
                </a:solidFill>
                <a:effectLst/>
                <a:latin typeface="Times New Roman" panose="02020603050405020304" pitchFamily="18" charset="0"/>
              </a:rPr>
              <a:t>It represents the flow of messages in the system and can also be termed as Event Diagram.</a:t>
            </a:r>
            <a:endParaRPr lang="en-US" sz="3200" dirty="0">
              <a:effectLst/>
            </a:endParaRPr>
          </a:p>
          <a:p>
            <a:pPr marL="228600" marR="229235" algn="just" rtl="0">
              <a:spcBef>
                <a:spcPts val="1095"/>
              </a:spcBef>
              <a:buNone/>
            </a:pPr>
            <a:r>
              <a:rPr lang="en-US" sz="3200" b="0" i="0" u="none" strike="noStrike" dirty="0">
                <a:solidFill>
                  <a:srgbClr val="000000"/>
                </a:solidFill>
                <a:effectLst/>
                <a:latin typeface="Times New Roman" panose="02020603050405020304" pitchFamily="18" charset="0"/>
              </a:rPr>
              <a:t>It illustrates how the different parts of a system interact with each other to carry out a function, and the order in which the interactions occur when a particular use case is executed.</a:t>
            </a:r>
            <a:endParaRPr lang="en-US" sz="3200" dirty="0">
              <a:effectLst/>
            </a:endParaRPr>
          </a:p>
          <a:p>
            <a:pPr algn="just">
              <a:buNone/>
            </a:pPr>
            <a:br>
              <a:rPr lang="en-US" sz="3200" dirty="0"/>
            </a:br>
            <a:endParaRPr lang="en-US" sz="3200" dirty="0"/>
          </a:p>
        </p:txBody>
      </p:sp>
    </p:spTree>
    <p:extLst>
      <p:ext uri="{BB962C8B-B14F-4D97-AF65-F5344CB8AC3E}">
        <p14:creationId xmlns:p14="http://schemas.microsoft.com/office/powerpoint/2010/main" val="1258926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69785D-7A36-4BAA-2C1A-549FD805269E}"/>
              </a:ext>
            </a:extLst>
          </p:cNvPr>
          <p:cNvSpPr txBox="1"/>
          <p:nvPr/>
        </p:nvSpPr>
        <p:spPr>
          <a:xfrm>
            <a:off x="248747" y="1304730"/>
            <a:ext cx="11525558" cy="4708981"/>
          </a:xfrm>
          <a:prstGeom prst="rect">
            <a:avLst/>
          </a:prstGeom>
          <a:noFill/>
        </p:spPr>
        <p:txBody>
          <a:bodyPr wrap="square">
            <a:spAutoFit/>
          </a:bodyPr>
          <a:lstStyle/>
          <a:p>
            <a:r>
              <a:rPr lang="en-US" sz="2800" b="1" dirty="0"/>
              <a:t>Benefits of Sequence Diagram: </a:t>
            </a:r>
          </a:p>
          <a:p>
            <a:endParaRPr lang="en-US" sz="2400" b="1" dirty="0"/>
          </a:p>
          <a:p>
            <a:endParaRPr lang="en-US" sz="2400" b="1" dirty="0"/>
          </a:p>
          <a:p>
            <a:pPr algn="just"/>
            <a:r>
              <a:rPr lang="en-US" sz="2800" b="1" dirty="0"/>
              <a:t>Following are some advantages of sequence Diagram: </a:t>
            </a:r>
          </a:p>
          <a:p>
            <a:pPr algn="just"/>
            <a:endParaRPr lang="en-US" sz="2800" dirty="0"/>
          </a:p>
          <a:p>
            <a:pPr algn="just"/>
            <a:r>
              <a:rPr lang="en-US" sz="2800" dirty="0"/>
              <a:t>Sequence Diagram is used for high-level interactions hence helps in understanding </a:t>
            </a:r>
          </a:p>
          <a:p>
            <a:pPr algn="just"/>
            <a:r>
              <a:rPr lang="en-US" sz="2800" dirty="0"/>
              <a:t>developers design and complex system. </a:t>
            </a:r>
          </a:p>
          <a:p>
            <a:pPr algn="just"/>
            <a:r>
              <a:rPr lang="en-US" sz="2800" dirty="0"/>
              <a:t>It has easy maintenance. </a:t>
            </a:r>
          </a:p>
          <a:p>
            <a:pPr algn="just"/>
            <a:r>
              <a:rPr lang="en-US" sz="2800" dirty="0"/>
              <a:t>It depicts the message flow between the different objects. </a:t>
            </a:r>
          </a:p>
          <a:p>
            <a:pPr algn="just"/>
            <a:r>
              <a:rPr lang="en-US" sz="2800" dirty="0"/>
              <a:t>It can easily update as per the new change in the system.</a:t>
            </a:r>
          </a:p>
        </p:txBody>
      </p:sp>
    </p:spTree>
    <p:extLst>
      <p:ext uri="{BB962C8B-B14F-4D97-AF65-F5344CB8AC3E}">
        <p14:creationId xmlns:p14="http://schemas.microsoft.com/office/powerpoint/2010/main" val="3409550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EAD3EF-0E8F-F0F5-5FD9-8254AF5932CF}"/>
              </a:ext>
            </a:extLst>
          </p:cNvPr>
          <p:cNvSpPr txBox="1"/>
          <p:nvPr/>
        </p:nvSpPr>
        <p:spPr>
          <a:xfrm>
            <a:off x="185204" y="543564"/>
            <a:ext cx="5910796" cy="1777410"/>
          </a:xfrm>
          <a:prstGeom prst="rect">
            <a:avLst/>
          </a:prstGeom>
          <a:noFill/>
        </p:spPr>
        <p:txBody>
          <a:bodyPr wrap="square">
            <a:spAutoFit/>
          </a:bodyPr>
          <a:lstStyle/>
          <a:p>
            <a:pPr marL="228600" rtl="0">
              <a:spcBef>
                <a:spcPts val="1190"/>
              </a:spcBef>
              <a:buNone/>
            </a:pPr>
            <a:r>
              <a:rPr lang="en-US" sz="2400" b="1" i="0" u="sng" dirty="0">
                <a:solidFill>
                  <a:srgbClr val="000000"/>
                </a:solidFill>
                <a:effectLst/>
                <a:latin typeface="Times New Roman" panose="02020603050405020304" pitchFamily="18" charset="0"/>
              </a:rPr>
              <a:t>Symbols of Sequence diagram</a:t>
            </a:r>
            <a:endParaRPr lang="en-US" sz="2400" dirty="0">
              <a:effectLst/>
            </a:endParaRPr>
          </a:p>
          <a:p>
            <a:pPr marL="228600" rtl="0" fontAlgn="base">
              <a:spcBef>
                <a:spcPts val="885"/>
              </a:spcBef>
            </a:pPr>
            <a:endParaRPr lang="en-US" sz="2400" b="1" i="0" u="none" strike="noStrike" dirty="0">
              <a:solidFill>
                <a:srgbClr val="000000"/>
              </a:solidFill>
              <a:effectLst/>
              <a:latin typeface="Noto Sans Symbols" panose="020B0502040504020204" pitchFamily="34" charset="0"/>
            </a:endParaRPr>
          </a:p>
          <a:p>
            <a:pPr>
              <a:buNone/>
            </a:pPr>
            <a:br>
              <a:rPr lang="en-US" dirty="0"/>
            </a:br>
            <a:endParaRPr lang="en-US" dirty="0"/>
          </a:p>
          <a:p>
            <a:pPr marL="685800" rtl="0">
              <a:spcBef>
                <a:spcPts val="10"/>
              </a:spcBef>
              <a:buNone/>
            </a:pPr>
            <a:endParaRPr lang="en-US" dirty="0">
              <a:effectLst/>
            </a:endParaRPr>
          </a:p>
        </p:txBody>
      </p:sp>
      <p:sp>
        <p:nvSpPr>
          <p:cNvPr id="5" name="TextBox 4">
            <a:extLst>
              <a:ext uri="{FF2B5EF4-FFF2-40B4-BE49-F238E27FC236}">
                <a16:creationId xmlns:a16="http://schemas.microsoft.com/office/drawing/2014/main" id="{F298DFF3-EA21-BD87-7369-D3201BC376F8}"/>
              </a:ext>
            </a:extLst>
          </p:cNvPr>
          <p:cNvSpPr txBox="1"/>
          <p:nvPr/>
        </p:nvSpPr>
        <p:spPr>
          <a:xfrm>
            <a:off x="168458" y="2212566"/>
            <a:ext cx="6094028" cy="707886"/>
          </a:xfrm>
          <a:prstGeom prst="rect">
            <a:avLst/>
          </a:prstGeom>
          <a:noFill/>
        </p:spPr>
        <p:txBody>
          <a:bodyPr wrap="square">
            <a:spAutoFit/>
          </a:bodyPr>
          <a:lstStyle/>
          <a:p>
            <a:r>
              <a:rPr lang="en-US" sz="2000" b="0" i="0" u="none" strike="noStrike" dirty="0">
                <a:solidFill>
                  <a:srgbClr val="333333"/>
                </a:solidFill>
                <a:effectLst/>
                <a:latin typeface="Times New Roman" panose="02020603050405020304" pitchFamily="18" charset="0"/>
              </a:rPr>
              <a:t>It represents the role, which involves human users and external hardware or subjects</a:t>
            </a:r>
            <a:r>
              <a:rPr lang="en-US" sz="2000" b="0" i="0" u="none" strike="noStrike" dirty="0">
                <a:solidFill>
                  <a:srgbClr val="000000"/>
                </a:solidFill>
                <a:effectLst/>
                <a:latin typeface="Times New Roman" panose="02020603050405020304" pitchFamily="18" charset="0"/>
              </a:rPr>
              <a:t>.</a:t>
            </a:r>
            <a:endParaRPr lang="en-US" sz="2000" dirty="0"/>
          </a:p>
        </p:txBody>
      </p:sp>
      <p:sp>
        <p:nvSpPr>
          <p:cNvPr id="7" name="TextBox 6">
            <a:extLst>
              <a:ext uri="{FF2B5EF4-FFF2-40B4-BE49-F238E27FC236}">
                <a16:creationId xmlns:a16="http://schemas.microsoft.com/office/drawing/2014/main" id="{BBAFAA26-8F05-7056-A1A2-C848F239DAF8}"/>
              </a:ext>
            </a:extLst>
          </p:cNvPr>
          <p:cNvSpPr txBox="1"/>
          <p:nvPr/>
        </p:nvSpPr>
        <p:spPr>
          <a:xfrm>
            <a:off x="339871" y="1694739"/>
            <a:ext cx="6094028" cy="461665"/>
          </a:xfrm>
          <a:prstGeom prst="rect">
            <a:avLst/>
          </a:prstGeom>
          <a:noFill/>
        </p:spPr>
        <p:txBody>
          <a:bodyPr wrap="square">
            <a:spAutoFit/>
          </a:bodyPr>
          <a:lstStyle/>
          <a:p>
            <a:r>
              <a:rPr lang="en-US" sz="2400" b="1" i="0" u="none" strike="noStrike" dirty="0">
                <a:solidFill>
                  <a:srgbClr val="000000"/>
                </a:solidFill>
                <a:effectLst/>
                <a:latin typeface="Times New Roman" panose="02020603050405020304" pitchFamily="18" charset="0"/>
              </a:rPr>
              <a:t>❖ Actor</a:t>
            </a:r>
            <a:endParaRPr lang="en-US" sz="2400" dirty="0"/>
          </a:p>
        </p:txBody>
      </p:sp>
      <p:sp>
        <p:nvSpPr>
          <p:cNvPr id="11" name="TextBox 10">
            <a:extLst>
              <a:ext uri="{FF2B5EF4-FFF2-40B4-BE49-F238E27FC236}">
                <a16:creationId xmlns:a16="http://schemas.microsoft.com/office/drawing/2014/main" id="{95CA4F65-4606-7BBC-7881-CAAE0F9D17E7}"/>
              </a:ext>
            </a:extLst>
          </p:cNvPr>
          <p:cNvSpPr txBox="1"/>
          <p:nvPr/>
        </p:nvSpPr>
        <p:spPr>
          <a:xfrm>
            <a:off x="339871" y="3307579"/>
            <a:ext cx="6094028" cy="461665"/>
          </a:xfrm>
          <a:prstGeom prst="rect">
            <a:avLst/>
          </a:prstGeom>
          <a:noFill/>
        </p:spPr>
        <p:txBody>
          <a:bodyPr wrap="square">
            <a:spAutoFit/>
          </a:bodyPr>
          <a:lstStyle/>
          <a:p>
            <a:r>
              <a:rPr lang="en-US" sz="2400" b="1" i="0" u="none" strike="noStrike" dirty="0">
                <a:solidFill>
                  <a:srgbClr val="000000"/>
                </a:solidFill>
                <a:effectLst/>
                <a:latin typeface="Times New Roman" panose="02020603050405020304" pitchFamily="18" charset="0"/>
              </a:rPr>
              <a:t>❖Activation</a:t>
            </a:r>
            <a:endParaRPr lang="en-US" sz="2400" dirty="0"/>
          </a:p>
        </p:txBody>
      </p:sp>
      <p:sp>
        <p:nvSpPr>
          <p:cNvPr id="4" name="TextBox 3">
            <a:extLst>
              <a:ext uri="{FF2B5EF4-FFF2-40B4-BE49-F238E27FC236}">
                <a16:creationId xmlns:a16="http://schemas.microsoft.com/office/drawing/2014/main" id="{729F6EF7-F64C-2CE3-BEA2-202AE930EAE2}"/>
              </a:ext>
            </a:extLst>
          </p:cNvPr>
          <p:cNvSpPr txBox="1"/>
          <p:nvPr/>
        </p:nvSpPr>
        <p:spPr>
          <a:xfrm>
            <a:off x="-213772" y="3782020"/>
            <a:ext cx="6094028" cy="707886"/>
          </a:xfrm>
          <a:prstGeom prst="rect">
            <a:avLst/>
          </a:prstGeom>
          <a:noFill/>
        </p:spPr>
        <p:txBody>
          <a:bodyPr wrap="square">
            <a:spAutoFit/>
          </a:bodyPr>
          <a:lstStyle/>
          <a:p>
            <a:pPr marL="685800" rtl="0">
              <a:spcBef>
                <a:spcPts val="865"/>
              </a:spcBef>
              <a:buNone/>
            </a:pPr>
            <a:r>
              <a:rPr lang="en-US" sz="2000" b="0" i="0" u="none" strike="noStrike" dirty="0">
                <a:solidFill>
                  <a:srgbClr val="000000"/>
                </a:solidFill>
                <a:effectLst/>
                <a:latin typeface="Times New Roman" panose="02020603050405020304" pitchFamily="18" charset="0"/>
              </a:rPr>
              <a:t>It describes the time in which operations are performed by elements.</a:t>
            </a:r>
            <a:endParaRPr lang="en-US" sz="2000" dirty="0">
              <a:effectLst/>
            </a:endParaRPr>
          </a:p>
        </p:txBody>
      </p:sp>
      <p:sp>
        <p:nvSpPr>
          <p:cNvPr id="8" name="TextBox 7">
            <a:extLst>
              <a:ext uri="{FF2B5EF4-FFF2-40B4-BE49-F238E27FC236}">
                <a16:creationId xmlns:a16="http://schemas.microsoft.com/office/drawing/2014/main" id="{1D982E48-238A-140B-E276-CD5BDE746CD5}"/>
              </a:ext>
            </a:extLst>
          </p:cNvPr>
          <p:cNvSpPr txBox="1"/>
          <p:nvPr/>
        </p:nvSpPr>
        <p:spPr>
          <a:xfrm>
            <a:off x="339871" y="5163261"/>
            <a:ext cx="6300906" cy="461665"/>
          </a:xfrm>
          <a:prstGeom prst="rect">
            <a:avLst/>
          </a:prstGeom>
          <a:noFill/>
        </p:spPr>
        <p:txBody>
          <a:bodyPr wrap="square">
            <a:spAutoFit/>
          </a:bodyPr>
          <a:lstStyle/>
          <a:p>
            <a:r>
              <a:rPr lang="en-US" sz="2400" b="1" i="0" u="none" strike="noStrike" dirty="0">
                <a:solidFill>
                  <a:srgbClr val="000000"/>
                </a:solidFill>
                <a:effectLst/>
                <a:latin typeface="Times New Roman" panose="02020603050405020304" pitchFamily="18" charset="0"/>
              </a:rPr>
              <a:t>❖ Call message</a:t>
            </a:r>
            <a:endParaRPr lang="en-US" sz="2400" dirty="0"/>
          </a:p>
        </p:txBody>
      </p:sp>
      <p:sp>
        <p:nvSpPr>
          <p:cNvPr id="10" name="TextBox 9">
            <a:extLst>
              <a:ext uri="{FF2B5EF4-FFF2-40B4-BE49-F238E27FC236}">
                <a16:creationId xmlns:a16="http://schemas.microsoft.com/office/drawing/2014/main" id="{581C64D3-7A38-74F2-AC12-9CEB94BD8FB5}"/>
              </a:ext>
            </a:extLst>
          </p:cNvPr>
          <p:cNvSpPr txBox="1"/>
          <p:nvPr/>
        </p:nvSpPr>
        <p:spPr>
          <a:xfrm>
            <a:off x="354647" y="5878955"/>
            <a:ext cx="6300906" cy="400110"/>
          </a:xfrm>
          <a:prstGeom prst="rect">
            <a:avLst/>
          </a:prstGeom>
          <a:noFill/>
        </p:spPr>
        <p:txBody>
          <a:bodyPr wrap="square">
            <a:spAutoFit/>
          </a:bodyPr>
          <a:lstStyle/>
          <a:p>
            <a:r>
              <a:rPr lang="en-US" sz="2000" b="0" i="0" u="none" strike="noStrike" dirty="0">
                <a:solidFill>
                  <a:srgbClr val="282C33"/>
                </a:solidFill>
                <a:effectLst/>
                <a:latin typeface="Times New Roman" panose="02020603050405020304" pitchFamily="18" charset="0"/>
              </a:rPr>
              <a:t>This show both the call and the reply of the message.</a:t>
            </a:r>
            <a:endParaRPr lang="en-US" sz="2000" dirty="0"/>
          </a:p>
        </p:txBody>
      </p:sp>
      <p:pic>
        <p:nvPicPr>
          <p:cNvPr id="6" name="Picture 5">
            <a:extLst>
              <a:ext uri="{FF2B5EF4-FFF2-40B4-BE49-F238E27FC236}">
                <a16:creationId xmlns:a16="http://schemas.microsoft.com/office/drawing/2014/main" id="{CACB07EF-2887-7FE7-3818-FCEC57BB68A6}"/>
              </a:ext>
            </a:extLst>
          </p:cNvPr>
          <p:cNvPicPr>
            <a:picLocks noChangeAspect="1"/>
          </p:cNvPicPr>
          <p:nvPr/>
        </p:nvPicPr>
        <p:blipFill>
          <a:blip r:embed="rId2"/>
          <a:stretch>
            <a:fillRect/>
          </a:stretch>
        </p:blipFill>
        <p:spPr>
          <a:xfrm>
            <a:off x="8880968" y="1502390"/>
            <a:ext cx="1061551" cy="1420352"/>
          </a:xfrm>
          <a:prstGeom prst="rect">
            <a:avLst/>
          </a:prstGeom>
        </p:spPr>
      </p:pic>
      <p:pic>
        <p:nvPicPr>
          <p:cNvPr id="9" name="Picture 8">
            <a:extLst>
              <a:ext uri="{FF2B5EF4-FFF2-40B4-BE49-F238E27FC236}">
                <a16:creationId xmlns:a16="http://schemas.microsoft.com/office/drawing/2014/main" id="{F1AA5FC8-5F99-82E7-5DD7-FF0CE6C25AA1}"/>
              </a:ext>
            </a:extLst>
          </p:cNvPr>
          <p:cNvPicPr>
            <a:picLocks noChangeAspect="1"/>
          </p:cNvPicPr>
          <p:nvPr/>
        </p:nvPicPr>
        <p:blipFill>
          <a:blip r:embed="rId3"/>
          <a:stretch>
            <a:fillRect/>
          </a:stretch>
        </p:blipFill>
        <p:spPr>
          <a:xfrm>
            <a:off x="9011693" y="3233255"/>
            <a:ext cx="800100" cy="1726537"/>
          </a:xfrm>
          <a:prstGeom prst="rect">
            <a:avLst/>
          </a:prstGeom>
        </p:spPr>
      </p:pic>
      <p:pic>
        <p:nvPicPr>
          <p:cNvPr id="12" name="Picture 11">
            <a:extLst>
              <a:ext uri="{FF2B5EF4-FFF2-40B4-BE49-F238E27FC236}">
                <a16:creationId xmlns:a16="http://schemas.microsoft.com/office/drawing/2014/main" id="{8E3A1560-067F-AD6B-6710-33F8B57CA3F1}"/>
              </a:ext>
            </a:extLst>
          </p:cNvPr>
          <p:cNvPicPr>
            <a:picLocks noChangeAspect="1"/>
          </p:cNvPicPr>
          <p:nvPr/>
        </p:nvPicPr>
        <p:blipFill>
          <a:blip r:embed="rId4"/>
          <a:stretch>
            <a:fillRect/>
          </a:stretch>
        </p:blipFill>
        <p:spPr>
          <a:xfrm>
            <a:off x="8683080" y="5019675"/>
            <a:ext cx="1457325" cy="1838325"/>
          </a:xfrm>
          <a:prstGeom prst="rect">
            <a:avLst/>
          </a:prstGeom>
        </p:spPr>
      </p:pic>
    </p:spTree>
    <p:extLst>
      <p:ext uri="{BB962C8B-B14F-4D97-AF65-F5344CB8AC3E}">
        <p14:creationId xmlns:p14="http://schemas.microsoft.com/office/powerpoint/2010/main" val="545041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C48637-C489-617C-7003-F70F7C0393E8}"/>
              </a:ext>
            </a:extLst>
          </p:cNvPr>
          <p:cNvSpPr txBox="1"/>
          <p:nvPr/>
        </p:nvSpPr>
        <p:spPr>
          <a:xfrm>
            <a:off x="-402918" y="1033697"/>
            <a:ext cx="6094028" cy="707886"/>
          </a:xfrm>
          <a:prstGeom prst="rect">
            <a:avLst/>
          </a:prstGeom>
          <a:noFill/>
        </p:spPr>
        <p:txBody>
          <a:bodyPr wrap="square">
            <a:spAutoFit/>
          </a:bodyPr>
          <a:lstStyle/>
          <a:p>
            <a:pPr marL="685800" rtl="0">
              <a:spcBef>
                <a:spcPts val="315"/>
              </a:spcBef>
              <a:buNone/>
            </a:pPr>
            <a:endParaRPr lang="en-US" sz="2000" dirty="0">
              <a:effectLst/>
            </a:endParaRPr>
          </a:p>
        </p:txBody>
      </p:sp>
      <p:sp>
        <p:nvSpPr>
          <p:cNvPr id="7" name="TextBox 6">
            <a:extLst>
              <a:ext uri="{FF2B5EF4-FFF2-40B4-BE49-F238E27FC236}">
                <a16:creationId xmlns:a16="http://schemas.microsoft.com/office/drawing/2014/main" id="{206B5BFD-F8C3-C51B-2003-D84A376D647B}"/>
              </a:ext>
            </a:extLst>
          </p:cNvPr>
          <p:cNvSpPr txBox="1"/>
          <p:nvPr/>
        </p:nvSpPr>
        <p:spPr>
          <a:xfrm>
            <a:off x="-106394" y="369476"/>
            <a:ext cx="6294996" cy="828432"/>
          </a:xfrm>
          <a:prstGeom prst="rect">
            <a:avLst/>
          </a:prstGeom>
          <a:noFill/>
        </p:spPr>
        <p:txBody>
          <a:bodyPr wrap="square">
            <a:spAutoFit/>
          </a:bodyPr>
          <a:lstStyle/>
          <a:p>
            <a:pPr marL="228600" rtl="0" fontAlgn="base">
              <a:spcBef>
                <a:spcPts val="95"/>
              </a:spcBef>
            </a:pPr>
            <a:r>
              <a:rPr lang="en-US" sz="2400" b="1" i="0" u="none" strike="noStrike" dirty="0">
                <a:solidFill>
                  <a:srgbClr val="000000"/>
                </a:solidFill>
                <a:effectLst/>
                <a:latin typeface="Times New Roman" panose="02020603050405020304" pitchFamily="18" charset="0"/>
              </a:rPr>
              <a:t>❖ Return message</a:t>
            </a:r>
            <a:endParaRPr lang="en-US" sz="2400" b="1" i="0" u="none" strike="noStrike" dirty="0">
              <a:solidFill>
                <a:srgbClr val="000000"/>
              </a:solidFill>
              <a:effectLst/>
              <a:latin typeface="Noto Sans Symbols" panose="020B0502040504020204" pitchFamily="34" charset="0"/>
            </a:endParaRPr>
          </a:p>
          <a:p>
            <a:pPr marL="685800" rtl="0">
              <a:spcBef>
                <a:spcPts val="670"/>
              </a:spcBef>
              <a:buNone/>
            </a:pPr>
            <a:endParaRPr lang="en-US" dirty="0">
              <a:effectLst/>
            </a:endParaRPr>
          </a:p>
        </p:txBody>
      </p:sp>
      <p:sp>
        <p:nvSpPr>
          <p:cNvPr id="9" name="TextBox 8">
            <a:extLst>
              <a:ext uri="{FF2B5EF4-FFF2-40B4-BE49-F238E27FC236}">
                <a16:creationId xmlns:a16="http://schemas.microsoft.com/office/drawing/2014/main" id="{D1108831-5C48-083E-421C-C4BF6F669117}"/>
              </a:ext>
            </a:extLst>
          </p:cNvPr>
          <p:cNvSpPr txBox="1"/>
          <p:nvPr/>
        </p:nvSpPr>
        <p:spPr>
          <a:xfrm>
            <a:off x="205896" y="1187585"/>
            <a:ext cx="6294996" cy="400110"/>
          </a:xfrm>
          <a:prstGeom prst="rect">
            <a:avLst/>
          </a:prstGeom>
          <a:noFill/>
        </p:spPr>
        <p:txBody>
          <a:bodyPr wrap="square">
            <a:spAutoFit/>
          </a:bodyPr>
          <a:lstStyle/>
          <a:p>
            <a:r>
              <a:rPr lang="en-US" sz="2000" b="0" i="0" u="none" strike="noStrike" dirty="0">
                <a:solidFill>
                  <a:srgbClr val="000000"/>
                </a:solidFill>
                <a:effectLst/>
                <a:latin typeface="Times New Roman" panose="02020603050405020304" pitchFamily="18" charset="0"/>
              </a:rPr>
              <a:t>This shows the replies to the messages.</a:t>
            </a:r>
            <a:endParaRPr lang="en-US" sz="2000" dirty="0"/>
          </a:p>
        </p:txBody>
      </p:sp>
      <p:sp>
        <p:nvSpPr>
          <p:cNvPr id="11" name="TextBox 10">
            <a:extLst>
              <a:ext uri="{FF2B5EF4-FFF2-40B4-BE49-F238E27FC236}">
                <a16:creationId xmlns:a16="http://schemas.microsoft.com/office/drawing/2014/main" id="{A14AC3A1-D0CF-5AAD-E37E-C50EA37FADC6}"/>
              </a:ext>
            </a:extLst>
          </p:cNvPr>
          <p:cNvSpPr txBox="1"/>
          <p:nvPr/>
        </p:nvSpPr>
        <p:spPr>
          <a:xfrm>
            <a:off x="-106394" y="2139838"/>
            <a:ext cx="6297952" cy="461665"/>
          </a:xfrm>
          <a:prstGeom prst="rect">
            <a:avLst/>
          </a:prstGeom>
          <a:noFill/>
        </p:spPr>
        <p:txBody>
          <a:bodyPr wrap="square">
            <a:spAutoFit/>
          </a:bodyPr>
          <a:lstStyle/>
          <a:p>
            <a:pPr marL="228600" rtl="0" fontAlgn="base">
              <a:spcBef>
                <a:spcPts val="95"/>
              </a:spcBef>
            </a:pPr>
            <a:r>
              <a:rPr lang="en-US" sz="2400" b="1" i="0" u="none" strike="noStrike" dirty="0">
                <a:solidFill>
                  <a:srgbClr val="000000"/>
                </a:solidFill>
                <a:effectLst/>
                <a:latin typeface="Times New Roman" panose="02020603050405020304" pitchFamily="18" charset="0"/>
              </a:rPr>
              <a:t>❖ Self message</a:t>
            </a:r>
            <a:endParaRPr lang="en-US" sz="2400" b="1" i="0" u="none" strike="noStrike" dirty="0">
              <a:solidFill>
                <a:srgbClr val="000000"/>
              </a:solidFill>
              <a:effectLst/>
              <a:latin typeface="Noto Sans Symbols" panose="020B0502040504020204" pitchFamily="34" charset="0"/>
            </a:endParaRPr>
          </a:p>
        </p:txBody>
      </p:sp>
      <p:sp>
        <p:nvSpPr>
          <p:cNvPr id="13" name="TextBox 12">
            <a:extLst>
              <a:ext uri="{FF2B5EF4-FFF2-40B4-BE49-F238E27FC236}">
                <a16:creationId xmlns:a16="http://schemas.microsoft.com/office/drawing/2014/main" id="{FF775768-2054-4682-3A02-ECAB3435DC75}"/>
              </a:ext>
            </a:extLst>
          </p:cNvPr>
          <p:cNvSpPr txBox="1"/>
          <p:nvPr/>
        </p:nvSpPr>
        <p:spPr>
          <a:xfrm>
            <a:off x="-504880" y="3074057"/>
            <a:ext cx="6297952" cy="707886"/>
          </a:xfrm>
          <a:prstGeom prst="rect">
            <a:avLst/>
          </a:prstGeom>
          <a:noFill/>
        </p:spPr>
        <p:txBody>
          <a:bodyPr wrap="square">
            <a:spAutoFit/>
          </a:bodyPr>
          <a:lstStyle/>
          <a:p>
            <a:pPr marL="685800" rtl="0">
              <a:spcBef>
                <a:spcPts val="1545"/>
              </a:spcBef>
              <a:buNone/>
            </a:pPr>
            <a:r>
              <a:rPr lang="en-US" sz="2000" b="0" i="0" u="none" strike="noStrike" dirty="0">
                <a:solidFill>
                  <a:srgbClr val="000000"/>
                </a:solidFill>
                <a:effectLst/>
                <a:latin typeface="Times New Roman" panose="02020603050405020304" pitchFamily="18" charset="0"/>
              </a:rPr>
              <a:t>This shows the interactions between the same lifelines</a:t>
            </a:r>
            <a:r>
              <a:rPr lang="en-US" sz="1800" b="0" i="0" u="none" strike="noStrike" dirty="0">
                <a:solidFill>
                  <a:srgbClr val="000000"/>
                </a:solidFill>
                <a:effectLst/>
                <a:latin typeface="Times New Roman" panose="02020603050405020304" pitchFamily="18" charset="0"/>
              </a:rPr>
              <a:t>.</a:t>
            </a:r>
            <a:endParaRPr lang="en-US" dirty="0">
              <a:effectLst/>
            </a:endParaRPr>
          </a:p>
        </p:txBody>
      </p:sp>
      <p:sp>
        <p:nvSpPr>
          <p:cNvPr id="15" name="TextBox 14">
            <a:extLst>
              <a:ext uri="{FF2B5EF4-FFF2-40B4-BE49-F238E27FC236}">
                <a16:creationId xmlns:a16="http://schemas.microsoft.com/office/drawing/2014/main" id="{0D3A2AC3-2D48-45F4-9467-B832C3A5A38D}"/>
              </a:ext>
            </a:extLst>
          </p:cNvPr>
          <p:cNvSpPr txBox="1"/>
          <p:nvPr/>
        </p:nvSpPr>
        <p:spPr>
          <a:xfrm>
            <a:off x="205896" y="4662186"/>
            <a:ext cx="6348192" cy="461665"/>
          </a:xfrm>
          <a:prstGeom prst="rect">
            <a:avLst/>
          </a:prstGeom>
          <a:noFill/>
        </p:spPr>
        <p:txBody>
          <a:bodyPr wrap="square">
            <a:spAutoFit/>
          </a:bodyPr>
          <a:lstStyle/>
          <a:p>
            <a:r>
              <a:rPr lang="en-US" sz="2400" b="1" i="0" u="none" strike="noStrike" dirty="0">
                <a:solidFill>
                  <a:srgbClr val="000000"/>
                </a:solidFill>
                <a:effectLst/>
                <a:latin typeface="Times New Roman" panose="02020603050405020304" pitchFamily="18" charset="0"/>
              </a:rPr>
              <a:t>❖ Destroy message</a:t>
            </a:r>
            <a:endParaRPr lang="en-US" sz="2400" dirty="0"/>
          </a:p>
        </p:txBody>
      </p:sp>
      <p:sp>
        <p:nvSpPr>
          <p:cNvPr id="17" name="TextBox 16">
            <a:extLst>
              <a:ext uri="{FF2B5EF4-FFF2-40B4-BE49-F238E27FC236}">
                <a16:creationId xmlns:a16="http://schemas.microsoft.com/office/drawing/2014/main" id="{A3915D8D-90D3-1EA4-265B-3D92220226F9}"/>
              </a:ext>
            </a:extLst>
          </p:cNvPr>
          <p:cNvSpPr txBox="1"/>
          <p:nvPr/>
        </p:nvSpPr>
        <p:spPr>
          <a:xfrm>
            <a:off x="-402918" y="5452136"/>
            <a:ext cx="6348194" cy="1015663"/>
          </a:xfrm>
          <a:prstGeom prst="rect">
            <a:avLst/>
          </a:prstGeom>
          <a:noFill/>
        </p:spPr>
        <p:txBody>
          <a:bodyPr wrap="square">
            <a:spAutoFit/>
          </a:bodyPr>
          <a:lstStyle/>
          <a:p>
            <a:pPr marL="685800" rtl="0">
              <a:spcBef>
                <a:spcPts val="325"/>
              </a:spcBef>
              <a:buNone/>
            </a:pPr>
            <a:r>
              <a:rPr lang="en-US" sz="2000" b="0" i="0" u="none" strike="noStrike" dirty="0">
                <a:solidFill>
                  <a:srgbClr val="000000"/>
                </a:solidFill>
                <a:effectLst/>
                <a:latin typeface="Times New Roman" panose="02020603050405020304" pitchFamily="18" charset="0"/>
              </a:rPr>
              <a:t>Destroy message is a kind of message that represents the request of destroying the lifecycle of target lifeline.</a:t>
            </a:r>
            <a:endParaRPr lang="en-US" sz="2000" dirty="0">
              <a:effectLst/>
            </a:endParaRPr>
          </a:p>
        </p:txBody>
      </p:sp>
      <p:pic>
        <p:nvPicPr>
          <p:cNvPr id="2" name="Picture 1">
            <a:extLst>
              <a:ext uri="{FF2B5EF4-FFF2-40B4-BE49-F238E27FC236}">
                <a16:creationId xmlns:a16="http://schemas.microsoft.com/office/drawing/2014/main" id="{697AC3D8-AA4C-D468-91C9-AA36ADC09179}"/>
              </a:ext>
            </a:extLst>
          </p:cNvPr>
          <p:cNvPicPr>
            <a:picLocks noChangeAspect="1"/>
          </p:cNvPicPr>
          <p:nvPr/>
        </p:nvPicPr>
        <p:blipFill>
          <a:blip r:embed="rId2"/>
          <a:stretch>
            <a:fillRect/>
          </a:stretch>
        </p:blipFill>
        <p:spPr>
          <a:xfrm>
            <a:off x="8346014" y="270057"/>
            <a:ext cx="1457070" cy="1835055"/>
          </a:xfrm>
          <a:prstGeom prst="rect">
            <a:avLst/>
          </a:prstGeom>
        </p:spPr>
      </p:pic>
      <p:pic>
        <p:nvPicPr>
          <p:cNvPr id="3" name="Picture 2">
            <a:extLst>
              <a:ext uri="{FF2B5EF4-FFF2-40B4-BE49-F238E27FC236}">
                <a16:creationId xmlns:a16="http://schemas.microsoft.com/office/drawing/2014/main" id="{77E0E295-8958-8ED8-B802-910B54439864}"/>
              </a:ext>
            </a:extLst>
          </p:cNvPr>
          <p:cNvPicPr>
            <a:picLocks noChangeAspect="1"/>
          </p:cNvPicPr>
          <p:nvPr/>
        </p:nvPicPr>
        <p:blipFill>
          <a:blip r:embed="rId3"/>
          <a:stretch>
            <a:fillRect/>
          </a:stretch>
        </p:blipFill>
        <p:spPr>
          <a:xfrm>
            <a:off x="8346014" y="2370670"/>
            <a:ext cx="1304925" cy="1838325"/>
          </a:xfrm>
          <a:prstGeom prst="rect">
            <a:avLst/>
          </a:prstGeom>
        </p:spPr>
      </p:pic>
      <p:pic>
        <p:nvPicPr>
          <p:cNvPr id="6" name="Picture 5">
            <a:extLst>
              <a:ext uri="{FF2B5EF4-FFF2-40B4-BE49-F238E27FC236}">
                <a16:creationId xmlns:a16="http://schemas.microsoft.com/office/drawing/2014/main" id="{B2991FA9-6A44-C39A-A07E-B19C1B776835}"/>
              </a:ext>
            </a:extLst>
          </p:cNvPr>
          <p:cNvPicPr>
            <a:picLocks noChangeAspect="1"/>
          </p:cNvPicPr>
          <p:nvPr/>
        </p:nvPicPr>
        <p:blipFill>
          <a:blip r:embed="rId4"/>
          <a:stretch>
            <a:fillRect/>
          </a:stretch>
        </p:blipFill>
        <p:spPr>
          <a:xfrm>
            <a:off x="8298134" y="4593639"/>
            <a:ext cx="1504950" cy="2124075"/>
          </a:xfrm>
          <a:prstGeom prst="rect">
            <a:avLst/>
          </a:prstGeom>
        </p:spPr>
      </p:pic>
    </p:spTree>
    <p:extLst>
      <p:ext uri="{BB962C8B-B14F-4D97-AF65-F5344CB8AC3E}">
        <p14:creationId xmlns:p14="http://schemas.microsoft.com/office/powerpoint/2010/main" val="3010498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2C0641-0E6C-F6AA-54D2-08ED540CC216}"/>
              </a:ext>
            </a:extLst>
          </p:cNvPr>
          <p:cNvSpPr txBox="1"/>
          <p:nvPr/>
        </p:nvSpPr>
        <p:spPr>
          <a:xfrm>
            <a:off x="-83736" y="300758"/>
            <a:ext cx="6094028" cy="461665"/>
          </a:xfrm>
          <a:prstGeom prst="rect">
            <a:avLst/>
          </a:prstGeom>
          <a:noFill/>
        </p:spPr>
        <p:txBody>
          <a:bodyPr wrap="square">
            <a:spAutoFit/>
          </a:bodyPr>
          <a:lstStyle/>
          <a:p>
            <a:pPr marL="228600" rtl="0" fontAlgn="base">
              <a:spcBef>
                <a:spcPts val="90"/>
              </a:spcBef>
            </a:pPr>
            <a:endParaRPr lang="en-US" sz="2400" b="1" i="0" u="none" strike="noStrike" dirty="0">
              <a:solidFill>
                <a:srgbClr val="000000"/>
              </a:solidFill>
              <a:effectLst/>
              <a:latin typeface="Noto Sans Symbols" panose="020B0502040504020204" pitchFamily="34" charset="0"/>
            </a:endParaRPr>
          </a:p>
        </p:txBody>
      </p:sp>
      <p:sp>
        <p:nvSpPr>
          <p:cNvPr id="4" name="TextBox 3">
            <a:extLst>
              <a:ext uri="{FF2B5EF4-FFF2-40B4-BE49-F238E27FC236}">
                <a16:creationId xmlns:a16="http://schemas.microsoft.com/office/drawing/2014/main" id="{15EF6FCB-FCD8-013B-5A1C-45AF2E83A87A}"/>
              </a:ext>
            </a:extLst>
          </p:cNvPr>
          <p:cNvSpPr txBox="1"/>
          <p:nvPr/>
        </p:nvSpPr>
        <p:spPr>
          <a:xfrm>
            <a:off x="291402" y="131480"/>
            <a:ext cx="1828800" cy="461665"/>
          </a:xfrm>
          <a:prstGeom prst="rect">
            <a:avLst/>
          </a:prstGeom>
          <a:noFill/>
        </p:spPr>
        <p:txBody>
          <a:bodyPr wrap="square" rtlCol="0">
            <a:spAutoFit/>
          </a:bodyPr>
          <a:lstStyle/>
          <a:p>
            <a:pPr algn="l"/>
            <a:r>
              <a:rPr lang="en-US" sz="2400" b="1" dirty="0"/>
              <a:t>Login</a:t>
            </a:r>
          </a:p>
        </p:txBody>
      </p:sp>
      <p:pic>
        <p:nvPicPr>
          <p:cNvPr id="6" name="Picture 5">
            <a:extLst>
              <a:ext uri="{FF2B5EF4-FFF2-40B4-BE49-F238E27FC236}">
                <a16:creationId xmlns:a16="http://schemas.microsoft.com/office/drawing/2014/main" id="{F9DA5C36-7577-8221-41AE-77C772A524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0202" y="0"/>
            <a:ext cx="7102456" cy="6858000"/>
          </a:xfrm>
          <a:prstGeom prst="rect">
            <a:avLst/>
          </a:prstGeom>
        </p:spPr>
      </p:pic>
    </p:spTree>
    <p:extLst>
      <p:ext uri="{BB962C8B-B14F-4D97-AF65-F5344CB8AC3E}">
        <p14:creationId xmlns:p14="http://schemas.microsoft.com/office/powerpoint/2010/main" val="2507993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1FF468-CEEF-65C6-7E23-1D0D819928D4}"/>
              </a:ext>
            </a:extLst>
          </p:cNvPr>
          <p:cNvSpPr txBox="1"/>
          <p:nvPr/>
        </p:nvSpPr>
        <p:spPr>
          <a:xfrm>
            <a:off x="-414740" y="245009"/>
            <a:ext cx="6094028" cy="461665"/>
          </a:xfrm>
          <a:prstGeom prst="rect">
            <a:avLst/>
          </a:prstGeom>
          <a:noFill/>
        </p:spPr>
        <p:txBody>
          <a:bodyPr wrap="square">
            <a:spAutoFit/>
          </a:bodyPr>
          <a:lstStyle/>
          <a:p>
            <a:pPr marL="685800" rtl="0">
              <a:spcBef>
                <a:spcPts val="325"/>
              </a:spcBef>
              <a:buNone/>
            </a:pPr>
            <a:r>
              <a:rPr lang="en-US" sz="2400" b="1" dirty="0">
                <a:effectLst/>
              </a:rPr>
              <a:t>Manage users </a:t>
            </a:r>
          </a:p>
        </p:txBody>
      </p:sp>
      <p:pic>
        <p:nvPicPr>
          <p:cNvPr id="5" name="Picture 4">
            <a:extLst>
              <a:ext uri="{FF2B5EF4-FFF2-40B4-BE49-F238E27FC236}">
                <a16:creationId xmlns:a16="http://schemas.microsoft.com/office/drawing/2014/main" id="{D1943D26-AD4F-8162-0185-30BBAFCC3D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3368" y="0"/>
            <a:ext cx="7570838" cy="6858000"/>
          </a:xfrm>
          <a:prstGeom prst="rect">
            <a:avLst/>
          </a:prstGeom>
        </p:spPr>
      </p:pic>
    </p:spTree>
    <p:extLst>
      <p:ext uri="{BB962C8B-B14F-4D97-AF65-F5344CB8AC3E}">
        <p14:creationId xmlns:p14="http://schemas.microsoft.com/office/powerpoint/2010/main" val="823058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16EF99-DCE9-D285-62D6-728F0F1FF996}"/>
              </a:ext>
            </a:extLst>
          </p:cNvPr>
          <p:cNvSpPr txBox="1"/>
          <p:nvPr/>
        </p:nvSpPr>
        <p:spPr>
          <a:xfrm>
            <a:off x="174369" y="122695"/>
            <a:ext cx="6094028" cy="461665"/>
          </a:xfrm>
          <a:prstGeom prst="rect">
            <a:avLst/>
          </a:prstGeom>
          <a:noFill/>
        </p:spPr>
        <p:txBody>
          <a:bodyPr wrap="square">
            <a:spAutoFit/>
          </a:bodyPr>
          <a:lstStyle/>
          <a:p>
            <a:r>
              <a:rPr lang="en-US" sz="2400" b="1" dirty="0">
                <a:effectLst/>
              </a:rPr>
              <a:t>Manage Booking </a:t>
            </a:r>
            <a:endParaRPr lang="en-US" sz="2400" dirty="0"/>
          </a:p>
        </p:txBody>
      </p:sp>
      <p:pic>
        <p:nvPicPr>
          <p:cNvPr id="5" name="Picture 4">
            <a:extLst>
              <a:ext uri="{FF2B5EF4-FFF2-40B4-BE49-F238E27FC236}">
                <a16:creationId xmlns:a16="http://schemas.microsoft.com/office/drawing/2014/main" id="{EBC27300-A478-D76E-9C09-73ACB9110F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3871" y="0"/>
            <a:ext cx="7049729" cy="6858000"/>
          </a:xfrm>
          <a:prstGeom prst="rect">
            <a:avLst/>
          </a:prstGeom>
        </p:spPr>
      </p:pic>
    </p:spTree>
    <p:extLst>
      <p:ext uri="{BB962C8B-B14F-4D97-AF65-F5344CB8AC3E}">
        <p14:creationId xmlns:p14="http://schemas.microsoft.com/office/powerpoint/2010/main" val="554008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4286CA-F533-E555-EE07-4B178C70AA12}"/>
              </a:ext>
            </a:extLst>
          </p:cNvPr>
          <p:cNvSpPr txBox="1"/>
          <p:nvPr/>
        </p:nvSpPr>
        <p:spPr>
          <a:xfrm>
            <a:off x="245299" y="122695"/>
            <a:ext cx="6094028" cy="461665"/>
          </a:xfrm>
          <a:prstGeom prst="rect">
            <a:avLst/>
          </a:prstGeom>
          <a:noFill/>
        </p:spPr>
        <p:txBody>
          <a:bodyPr wrap="square">
            <a:spAutoFit/>
          </a:bodyPr>
          <a:lstStyle/>
          <a:p>
            <a:r>
              <a:rPr lang="en-US" sz="2400" b="1" dirty="0">
                <a:effectLst/>
              </a:rPr>
              <a:t>Manage </a:t>
            </a:r>
            <a:r>
              <a:rPr lang="en-US" sz="2400" b="1" dirty="0"/>
              <a:t>ticket </a:t>
            </a:r>
            <a:endParaRPr lang="en-US" sz="2400" dirty="0"/>
          </a:p>
        </p:txBody>
      </p:sp>
      <p:pic>
        <p:nvPicPr>
          <p:cNvPr id="5" name="Picture 4">
            <a:extLst>
              <a:ext uri="{FF2B5EF4-FFF2-40B4-BE49-F238E27FC236}">
                <a16:creationId xmlns:a16="http://schemas.microsoft.com/office/drawing/2014/main" id="{2556AFB3-7219-8EFD-40E3-53321DFD83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2698" y="0"/>
            <a:ext cx="7177548" cy="6858000"/>
          </a:xfrm>
          <a:prstGeom prst="rect">
            <a:avLst/>
          </a:prstGeom>
        </p:spPr>
      </p:pic>
    </p:spTree>
    <p:extLst>
      <p:ext uri="{BB962C8B-B14F-4D97-AF65-F5344CB8AC3E}">
        <p14:creationId xmlns:p14="http://schemas.microsoft.com/office/powerpoint/2010/main" val="823363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6D7B41-6D3D-99DF-869D-BDCD8FEF63E4}"/>
              </a:ext>
            </a:extLst>
          </p:cNvPr>
          <p:cNvSpPr txBox="1"/>
          <p:nvPr/>
        </p:nvSpPr>
        <p:spPr>
          <a:xfrm>
            <a:off x="280762" y="99052"/>
            <a:ext cx="6094028" cy="461665"/>
          </a:xfrm>
          <a:prstGeom prst="rect">
            <a:avLst/>
          </a:prstGeom>
          <a:noFill/>
        </p:spPr>
        <p:txBody>
          <a:bodyPr wrap="square">
            <a:spAutoFit/>
          </a:bodyPr>
          <a:lstStyle/>
          <a:p>
            <a:r>
              <a:rPr lang="en-US" sz="2400" b="1" dirty="0"/>
              <a:t>Payment</a:t>
            </a:r>
            <a:r>
              <a:rPr lang="en-US" b="1" dirty="0"/>
              <a:t> </a:t>
            </a:r>
            <a:endParaRPr lang="en-US" dirty="0"/>
          </a:p>
        </p:txBody>
      </p:sp>
      <p:pic>
        <p:nvPicPr>
          <p:cNvPr id="5" name="Picture 4">
            <a:extLst>
              <a:ext uri="{FF2B5EF4-FFF2-40B4-BE49-F238E27FC236}">
                <a16:creationId xmlns:a16="http://schemas.microsoft.com/office/drawing/2014/main" id="{54BE79B7-8497-F030-CBAC-FDC90D5176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7626" y="0"/>
            <a:ext cx="7020232" cy="6858000"/>
          </a:xfrm>
          <a:prstGeom prst="rect">
            <a:avLst/>
          </a:prstGeom>
        </p:spPr>
      </p:pic>
    </p:spTree>
    <p:extLst>
      <p:ext uri="{BB962C8B-B14F-4D97-AF65-F5344CB8AC3E}">
        <p14:creationId xmlns:p14="http://schemas.microsoft.com/office/powerpoint/2010/main" val="3469130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A16DC5-3BFC-1E64-9A27-64362979ABA8}"/>
              </a:ext>
            </a:extLst>
          </p:cNvPr>
          <p:cNvSpPr txBox="1"/>
          <p:nvPr/>
        </p:nvSpPr>
        <p:spPr>
          <a:xfrm>
            <a:off x="199983" y="194364"/>
            <a:ext cx="6094028" cy="461665"/>
          </a:xfrm>
          <a:prstGeom prst="rect">
            <a:avLst/>
          </a:prstGeom>
          <a:noFill/>
        </p:spPr>
        <p:txBody>
          <a:bodyPr wrap="square">
            <a:spAutoFit/>
          </a:bodyPr>
          <a:lstStyle/>
          <a:p>
            <a:pPr marL="140335" rtl="0">
              <a:spcBef>
                <a:spcPts val="1265"/>
              </a:spcBef>
              <a:buNone/>
            </a:pPr>
            <a:r>
              <a:rPr lang="en-US" sz="2400" b="1" i="0" u="sng" dirty="0">
                <a:solidFill>
                  <a:srgbClr val="538DD3"/>
                </a:solidFill>
                <a:effectLst/>
                <a:latin typeface="Times New Roman" panose="02020603050405020304" pitchFamily="18" charset="0"/>
              </a:rPr>
              <a:t>ACTIVITY DIAGRAM</a:t>
            </a:r>
            <a:endParaRPr lang="en-US" sz="2400" dirty="0">
              <a:effectLst/>
            </a:endParaRPr>
          </a:p>
        </p:txBody>
      </p:sp>
      <p:sp>
        <p:nvSpPr>
          <p:cNvPr id="5" name="TextBox 4">
            <a:extLst>
              <a:ext uri="{FF2B5EF4-FFF2-40B4-BE49-F238E27FC236}">
                <a16:creationId xmlns:a16="http://schemas.microsoft.com/office/drawing/2014/main" id="{E84946D6-9706-17EE-1159-9393BD5E15EC}"/>
              </a:ext>
            </a:extLst>
          </p:cNvPr>
          <p:cNvSpPr txBox="1"/>
          <p:nvPr/>
        </p:nvSpPr>
        <p:spPr>
          <a:xfrm>
            <a:off x="-236432" y="741084"/>
            <a:ext cx="12329919" cy="5375831"/>
          </a:xfrm>
          <a:prstGeom prst="rect">
            <a:avLst/>
          </a:prstGeom>
          <a:noFill/>
        </p:spPr>
        <p:txBody>
          <a:bodyPr wrap="square">
            <a:spAutoFit/>
          </a:bodyPr>
          <a:lstStyle/>
          <a:p>
            <a:pPr marL="228600" algn="just" rtl="0" fontAlgn="base">
              <a:spcBef>
                <a:spcPts val="5"/>
              </a:spcBef>
            </a:pPr>
            <a:r>
              <a:rPr lang="en-US" sz="2000" b="1" i="0" u="none" strike="noStrike" dirty="0">
                <a:solidFill>
                  <a:srgbClr val="000000"/>
                </a:solidFill>
                <a:effectLst/>
                <a:latin typeface="Times New Roman" panose="02020603050405020304" pitchFamily="18" charset="0"/>
              </a:rPr>
              <a:t>❖ What is Activity Diagram?</a:t>
            </a:r>
            <a:endParaRPr lang="en-US" sz="2000" b="1" i="0" u="none" strike="noStrike" dirty="0">
              <a:solidFill>
                <a:srgbClr val="000000"/>
              </a:solidFill>
              <a:effectLst/>
              <a:latin typeface="Noto Sans Symbols" panose="020B0502040504020204" pitchFamily="34" charset="0"/>
            </a:endParaRPr>
          </a:p>
          <a:p>
            <a:pPr marL="685800" marR="236855" algn="just" rtl="0">
              <a:spcBef>
                <a:spcPts val="120"/>
              </a:spcBef>
              <a:buNone/>
            </a:pPr>
            <a:endParaRPr lang="en-US" sz="2000" b="0" i="0" u="none" strike="noStrike" dirty="0">
              <a:solidFill>
                <a:srgbClr val="000000"/>
              </a:solidFill>
              <a:effectLst/>
              <a:latin typeface="Times New Roman" panose="02020603050405020304" pitchFamily="18" charset="0"/>
            </a:endParaRPr>
          </a:p>
          <a:p>
            <a:pPr marL="685800" marR="236855" algn="just" rtl="0">
              <a:spcBef>
                <a:spcPts val="120"/>
              </a:spcBef>
              <a:buNone/>
            </a:pPr>
            <a:r>
              <a:rPr lang="en-US" sz="2000" b="0" i="0" u="none" strike="noStrike" dirty="0">
                <a:solidFill>
                  <a:srgbClr val="000000"/>
                </a:solidFill>
                <a:effectLst/>
                <a:latin typeface="Times New Roman" panose="02020603050405020304" pitchFamily="18" charset="0"/>
              </a:rPr>
              <a:t>Activity Diagram is one of the important diagrams of UML. It represents the flow from one activity to another activity which can be shown as operations of system.</a:t>
            </a:r>
            <a:endParaRPr lang="en-US" sz="2000" dirty="0">
              <a:effectLst/>
            </a:endParaRPr>
          </a:p>
          <a:p>
            <a:pPr algn="just">
              <a:buNone/>
            </a:pPr>
            <a:br>
              <a:rPr lang="en-US" sz="2000" dirty="0"/>
            </a:br>
            <a:endParaRPr lang="en-US" sz="2000" dirty="0"/>
          </a:p>
          <a:p>
            <a:pPr marL="685800" algn="just" rtl="0">
              <a:buNone/>
            </a:pPr>
            <a:r>
              <a:rPr lang="en-US" sz="2000" b="0" i="0" u="none" strike="noStrike" dirty="0">
                <a:solidFill>
                  <a:srgbClr val="273039"/>
                </a:solidFill>
                <a:effectLst/>
                <a:latin typeface="Times New Roman" panose="02020603050405020304" pitchFamily="18" charset="0"/>
              </a:rPr>
              <a:t>An activity diagram portrays the control flow from a start point to a finish point showing the various decision paths that exist while the activity is being executed.</a:t>
            </a:r>
            <a:endParaRPr lang="en-US" sz="2000" dirty="0">
              <a:effectLst/>
            </a:endParaRPr>
          </a:p>
          <a:p>
            <a:pPr algn="just">
              <a:buNone/>
            </a:pPr>
            <a:r>
              <a:rPr lang="en-US" sz="2000" b="0" i="0" u="none" strike="noStrike" dirty="0">
                <a:solidFill>
                  <a:srgbClr val="273039"/>
                </a:solidFill>
                <a:effectLst/>
                <a:latin typeface="Times New Roman" panose="02020603050405020304" pitchFamily="18" charset="0"/>
              </a:rPr>
              <a:t>           </a:t>
            </a:r>
          </a:p>
          <a:p>
            <a:pPr algn="just">
              <a:buNone/>
            </a:pPr>
            <a:r>
              <a:rPr lang="en-US" sz="2000" dirty="0">
                <a:solidFill>
                  <a:srgbClr val="273039"/>
                </a:solidFill>
                <a:latin typeface="Times New Roman" panose="02020603050405020304" pitchFamily="18" charset="0"/>
              </a:rPr>
              <a:t>          </a:t>
            </a:r>
            <a:r>
              <a:rPr lang="en-US" sz="2000" b="0" i="0" u="none" strike="noStrike" dirty="0">
                <a:solidFill>
                  <a:srgbClr val="273039"/>
                </a:solidFill>
                <a:effectLst/>
                <a:latin typeface="Times New Roman" panose="02020603050405020304" pitchFamily="18" charset="0"/>
              </a:rPr>
              <a:t>It represents </a:t>
            </a:r>
            <a:r>
              <a:rPr lang="en-US" sz="2000" b="0" i="0" u="none" strike="noStrike" dirty="0">
                <a:solidFill>
                  <a:srgbClr val="000000"/>
                </a:solidFill>
                <a:effectLst/>
                <a:latin typeface="Times New Roman" panose="02020603050405020304" pitchFamily="18" charset="0"/>
              </a:rPr>
              <a:t>what activities can be done in parallel and whether there are alternative paths through the workflow.</a:t>
            </a:r>
            <a:endParaRPr lang="en-US" sz="2000" dirty="0">
              <a:effectLst/>
            </a:endParaRPr>
          </a:p>
          <a:p>
            <a:pPr marL="228600" algn="just" rtl="0" fontAlgn="base">
              <a:buFont typeface="Arial" panose="020B0604020202020204" pitchFamily="34" charset="0"/>
              <a:buChar char="•"/>
            </a:pPr>
            <a:endParaRPr lang="en-US" sz="2000" b="1" i="0" u="none" strike="noStrike" dirty="0">
              <a:solidFill>
                <a:srgbClr val="000000"/>
              </a:solidFill>
              <a:effectLst/>
              <a:latin typeface="Times New Roman" panose="02020603050405020304" pitchFamily="18" charset="0"/>
            </a:endParaRPr>
          </a:p>
          <a:p>
            <a:pPr marL="228600" algn="just" rtl="0" fontAlgn="base"/>
            <a:r>
              <a:rPr lang="en-US" sz="2000" b="1" i="0" u="none" strike="noStrike" dirty="0">
                <a:solidFill>
                  <a:srgbClr val="000000"/>
                </a:solidFill>
                <a:effectLst/>
                <a:latin typeface="Times New Roman" panose="02020603050405020304" pitchFamily="18" charset="0"/>
              </a:rPr>
              <a:t>❖ Benefits of Activity Diagram:</a:t>
            </a:r>
            <a:endParaRPr lang="en-US" sz="2000" b="1" i="0" u="none" strike="noStrike" dirty="0">
              <a:solidFill>
                <a:srgbClr val="000000"/>
              </a:solidFill>
              <a:effectLst/>
              <a:latin typeface="Noto Sans Symbols" panose="020B0502040504020204" pitchFamily="34" charset="0"/>
            </a:endParaRPr>
          </a:p>
          <a:p>
            <a:pPr marL="685800" marR="1231900" algn="just" rtl="0">
              <a:spcBef>
                <a:spcPts val="100"/>
              </a:spcBef>
              <a:buNone/>
            </a:pPr>
            <a:endParaRPr lang="en-US" sz="2000" b="0" i="0" u="none" strike="noStrike" dirty="0">
              <a:solidFill>
                <a:srgbClr val="333333"/>
              </a:solidFill>
              <a:effectLst/>
              <a:latin typeface="Times New Roman" panose="02020603050405020304" pitchFamily="18" charset="0"/>
            </a:endParaRPr>
          </a:p>
          <a:p>
            <a:pPr marL="685800" marR="1231900" algn="just" rtl="0">
              <a:spcBef>
                <a:spcPts val="100"/>
              </a:spcBef>
              <a:buNone/>
            </a:pPr>
            <a:r>
              <a:rPr lang="en-US" sz="2000" b="0" i="0" u="none" strike="noStrike" dirty="0">
                <a:solidFill>
                  <a:srgbClr val="333333"/>
                </a:solidFill>
                <a:effectLst/>
                <a:latin typeface="Times New Roman" panose="02020603050405020304" pitchFamily="18" charset="0"/>
              </a:rPr>
              <a:t>Shows the progress of workflow amongst the users, and the system. </a:t>
            </a:r>
            <a:r>
              <a:rPr lang="en-US" sz="2000" b="0" i="0" u="none" strike="noStrike" dirty="0">
                <a:solidFill>
                  <a:srgbClr val="000000"/>
                </a:solidFill>
                <a:effectLst/>
                <a:latin typeface="Times New Roman" panose="02020603050405020304" pitchFamily="18" charset="0"/>
              </a:rPr>
              <a:t>It provides the visual representation of logic of a particular algorithm. It represents the relationship between one activity to another activity. </a:t>
            </a:r>
            <a:r>
              <a:rPr lang="en-US" sz="2000" b="0" i="0" u="none" strike="noStrike" dirty="0">
                <a:solidFill>
                  <a:srgbClr val="333333"/>
                </a:solidFill>
                <a:effectLst/>
                <a:latin typeface="Times New Roman" panose="02020603050405020304" pitchFamily="18" charset="0"/>
              </a:rPr>
              <a:t>It provides a better understanding of how the system works.</a:t>
            </a:r>
            <a:endParaRPr lang="en-US" sz="2000" dirty="0">
              <a:effectLst/>
            </a:endParaRPr>
          </a:p>
          <a:p>
            <a:pPr marL="685800" algn="just" rtl="0">
              <a:buNone/>
            </a:pPr>
            <a:r>
              <a:rPr lang="en-US" sz="2000" b="0" i="0" u="none" strike="noStrike" dirty="0">
                <a:solidFill>
                  <a:srgbClr val="273039"/>
                </a:solidFill>
                <a:effectLst/>
                <a:latin typeface="Times New Roman" panose="02020603050405020304" pitchFamily="18" charset="0"/>
              </a:rPr>
              <a:t>We can use Activity diagrams to depict concurrent activities easily.</a:t>
            </a:r>
            <a:endParaRPr lang="en-US" sz="2000" dirty="0">
              <a:effectLst/>
            </a:endParaRPr>
          </a:p>
        </p:txBody>
      </p:sp>
    </p:spTree>
    <p:extLst>
      <p:ext uri="{BB962C8B-B14F-4D97-AF65-F5344CB8AC3E}">
        <p14:creationId xmlns:p14="http://schemas.microsoft.com/office/powerpoint/2010/main" val="1004045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EA9AB6-72DF-0896-D76E-BF4FC5F860D5}"/>
              </a:ext>
            </a:extLst>
          </p:cNvPr>
          <p:cNvSpPr txBox="1"/>
          <p:nvPr/>
        </p:nvSpPr>
        <p:spPr>
          <a:xfrm>
            <a:off x="0" y="0"/>
            <a:ext cx="6094028" cy="400110"/>
          </a:xfrm>
          <a:prstGeom prst="rect">
            <a:avLst/>
          </a:prstGeom>
          <a:noFill/>
        </p:spPr>
        <p:txBody>
          <a:bodyPr wrap="square">
            <a:spAutoFit/>
          </a:bodyPr>
          <a:lstStyle/>
          <a:p>
            <a:pPr marL="228600" rtl="0">
              <a:spcBef>
                <a:spcPts val="370"/>
              </a:spcBef>
              <a:buNone/>
            </a:pPr>
            <a:r>
              <a:rPr lang="en-US" sz="1800" b="1" i="0" u="sng" dirty="0">
                <a:solidFill>
                  <a:srgbClr val="000000"/>
                </a:solidFill>
                <a:effectLst/>
                <a:latin typeface="Times New Roman" panose="02020603050405020304" pitchFamily="18" charset="0"/>
              </a:rPr>
              <a:t>Symbols of </a:t>
            </a:r>
            <a:r>
              <a:rPr lang="en-US" sz="2000" b="1" i="0" u="sng" dirty="0">
                <a:solidFill>
                  <a:srgbClr val="000000"/>
                </a:solidFill>
                <a:effectLst/>
                <a:latin typeface="Times New Roman" panose="02020603050405020304" pitchFamily="18" charset="0"/>
              </a:rPr>
              <a:t>Activity</a:t>
            </a:r>
            <a:r>
              <a:rPr lang="en-US" sz="1800" b="1" i="0" u="sng" dirty="0">
                <a:solidFill>
                  <a:srgbClr val="000000"/>
                </a:solidFill>
                <a:effectLst/>
                <a:latin typeface="Times New Roman" panose="02020603050405020304" pitchFamily="18" charset="0"/>
              </a:rPr>
              <a:t> diagram</a:t>
            </a:r>
            <a:endParaRPr lang="en-US" dirty="0">
              <a:effectLst/>
            </a:endParaRPr>
          </a:p>
        </p:txBody>
      </p:sp>
      <p:sp>
        <p:nvSpPr>
          <p:cNvPr id="5" name="TextBox 4">
            <a:extLst>
              <a:ext uri="{FF2B5EF4-FFF2-40B4-BE49-F238E27FC236}">
                <a16:creationId xmlns:a16="http://schemas.microsoft.com/office/drawing/2014/main" id="{E079E23D-8D24-1196-9711-55051EE96895}"/>
              </a:ext>
            </a:extLst>
          </p:cNvPr>
          <p:cNvSpPr txBox="1"/>
          <p:nvPr/>
        </p:nvSpPr>
        <p:spPr>
          <a:xfrm>
            <a:off x="3048986" y="3244334"/>
            <a:ext cx="6094028" cy="369332"/>
          </a:xfrm>
          <a:prstGeom prst="rect">
            <a:avLst/>
          </a:prstGeom>
          <a:noFill/>
        </p:spPr>
        <p:txBody>
          <a:bodyPr wrap="square">
            <a:spAutoFit/>
          </a:bodyPr>
          <a:lstStyle/>
          <a:p>
            <a:r>
              <a:rPr lang="en-US" dirty="0"/>
              <a:t> </a:t>
            </a:r>
          </a:p>
        </p:txBody>
      </p:sp>
      <p:sp>
        <p:nvSpPr>
          <p:cNvPr id="7" name="TextBox 6">
            <a:extLst>
              <a:ext uri="{FF2B5EF4-FFF2-40B4-BE49-F238E27FC236}">
                <a16:creationId xmlns:a16="http://schemas.microsoft.com/office/drawing/2014/main" id="{B85F1F7E-316E-0CA7-7B97-26B0EBD7D1B3}"/>
              </a:ext>
            </a:extLst>
          </p:cNvPr>
          <p:cNvSpPr txBox="1"/>
          <p:nvPr/>
        </p:nvSpPr>
        <p:spPr>
          <a:xfrm>
            <a:off x="0" y="852725"/>
            <a:ext cx="6094028" cy="923330"/>
          </a:xfrm>
          <a:prstGeom prst="rect">
            <a:avLst/>
          </a:prstGeom>
          <a:noFill/>
        </p:spPr>
        <p:txBody>
          <a:bodyPr wrap="square">
            <a:spAutoFit/>
          </a:bodyPr>
          <a:lstStyle/>
          <a:p>
            <a:pPr marL="228600" rtl="0" fontAlgn="base">
              <a:spcBef>
                <a:spcPts val="860"/>
              </a:spcBef>
              <a:buFont typeface="Arial" panose="020B0604020202020204" pitchFamily="34" charset="0"/>
              <a:buChar char="•"/>
            </a:pPr>
            <a:r>
              <a:rPr lang="en-US" sz="1800" b="1" i="0" u="none" strike="noStrike" dirty="0">
                <a:solidFill>
                  <a:srgbClr val="000000"/>
                </a:solidFill>
                <a:effectLst/>
                <a:latin typeface="Times New Roman" panose="02020603050405020304" pitchFamily="18" charset="0"/>
              </a:rPr>
              <a:t>Start / Initial point</a:t>
            </a:r>
            <a:endParaRPr lang="en-US" sz="1800" b="1" i="0" u="none" strike="noStrike" dirty="0">
              <a:solidFill>
                <a:srgbClr val="000000"/>
              </a:solidFill>
              <a:effectLst/>
              <a:latin typeface="Noto Sans Symbols" panose="020B0502040504020204" pitchFamily="34" charset="0"/>
            </a:endParaRPr>
          </a:p>
          <a:p>
            <a:pPr marL="685800" rtl="0">
              <a:buNone/>
            </a:pPr>
            <a:endParaRPr lang="en-US" sz="1800" b="0" i="0" u="none" strike="noStrike" dirty="0">
              <a:solidFill>
                <a:srgbClr val="000000"/>
              </a:solidFill>
              <a:effectLst/>
              <a:latin typeface="Times New Roman" panose="02020603050405020304" pitchFamily="18" charset="0"/>
            </a:endParaRPr>
          </a:p>
          <a:p>
            <a:pPr marL="685800" rtl="0">
              <a:buNone/>
            </a:pPr>
            <a:r>
              <a:rPr lang="en-US" sz="1800" b="0" i="0" u="none" strike="noStrike" dirty="0">
                <a:solidFill>
                  <a:srgbClr val="000000"/>
                </a:solidFill>
                <a:effectLst/>
                <a:latin typeface="Times New Roman" panose="02020603050405020304" pitchFamily="18" charset="0"/>
              </a:rPr>
              <a:t>Represents the beginning of the process.</a:t>
            </a:r>
            <a:endParaRPr lang="en-US" dirty="0">
              <a:effectLst/>
            </a:endParaRPr>
          </a:p>
        </p:txBody>
      </p:sp>
      <p:sp>
        <p:nvSpPr>
          <p:cNvPr id="9" name="TextBox 8">
            <a:extLst>
              <a:ext uri="{FF2B5EF4-FFF2-40B4-BE49-F238E27FC236}">
                <a16:creationId xmlns:a16="http://schemas.microsoft.com/office/drawing/2014/main" id="{647D8369-F2E6-B716-48DD-925F45125B60}"/>
              </a:ext>
            </a:extLst>
          </p:cNvPr>
          <p:cNvSpPr txBox="1"/>
          <p:nvPr/>
        </p:nvSpPr>
        <p:spPr>
          <a:xfrm>
            <a:off x="0" y="1902148"/>
            <a:ext cx="7317564" cy="4588436"/>
          </a:xfrm>
          <a:prstGeom prst="rect">
            <a:avLst/>
          </a:prstGeom>
          <a:noFill/>
        </p:spPr>
        <p:txBody>
          <a:bodyPr wrap="square">
            <a:spAutoFit/>
          </a:bodyPr>
          <a:lstStyle/>
          <a:p>
            <a:pPr marL="228600" rtl="0" fontAlgn="base">
              <a:spcBef>
                <a:spcPts val="5"/>
              </a:spcBef>
              <a:buFont typeface="Arial" panose="020B0604020202020204" pitchFamily="34" charset="0"/>
              <a:buChar char="•"/>
            </a:pPr>
            <a:r>
              <a:rPr lang="en-US" sz="1800" b="1" i="0" u="none" strike="noStrike" dirty="0">
                <a:solidFill>
                  <a:srgbClr val="000000"/>
                </a:solidFill>
                <a:effectLst/>
                <a:latin typeface="Times New Roman" panose="02020603050405020304" pitchFamily="18" charset="0"/>
              </a:rPr>
              <a:t>End point</a:t>
            </a:r>
            <a:endParaRPr lang="en-US" sz="1800" b="1" i="0" u="none" strike="noStrike" dirty="0">
              <a:solidFill>
                <a:srgbClr val="000000"/>
              </a:solidFill>
              <a:effectLst/>
              <a:latin typeface="Noto Sans Symbols" panose="020B0502040504020204" pitchFamily="34" charset="0"/>
            </a:endParaRPr>
          </a:p>
          <a:p>
            <a:pPr>
              <a:buNone/>
            </a:pPr>
            <a:br>
              <a:rPr lang="en-US" dirty="0"/>
            </a:br>
            <a:r>
              <a:rPr lang="en-US" dirty="0"/>
              <a:t>              </a:t>
            </a:r>
            <a:r>
              <a:rPr lang="en-US" sz="1800" b="0" i="0" u="none" strike="noStrike" dirty="0">
                <a:solidFill>
                  <a:srgbClr val="000000"/>
                </a:solidFill>
                <a:effectLst/>
                <a:latin typeface="Times New Roman" panose="02020603050405020304" pitchFamily="18" charset="0"/>
              </a:rPr>
              <a:t>Represents the completion of all the flow and end of process.</a:t>
            </a:r>
            <a:br>
              <a:rPr lang="en-US" dirty="0"/>
            </a:br>
            <a:endParaRPr lang="en-US" sz="1800" b="0" i="0" u="none" strike="noStrike" dirty="0">
              <a:solidFill>
                <a:srgbClr val="000000"/>
              </a:solidFill>
              <a:effectLst/>
              <a:latin typeface="Noto Sans Symbols" panose="020B0502040504020204" pitchFamily="34" charset="0"/>
            </a:endParaRPr>
          </a:p>
          <a:p>
            <a:pPr marL="228600" rtl="0" fontAlgn="base">
              <a:buFont typeface="Arial" panose="020B0604020202020204" pitchFamily="34" charset="0"/>
              <a:buChar char="•"/>
            </a:pPr>
            <a:endParaRPr lang="en-US" sz="1800" b="1" i="0" u="none" strike="noStrike" dirty="0">
              <a:solidFill>
                <a:srgbClr val="000000"/>
              </a:solidFill>
              <a:effectLst/>
              <a:latin typeface="Times New Roman" panose="02020603050405020304" pitchFamily="18" charset="0"/>
            </a:endParaRPr>
          </a:p>
          <a:p>
            <a:pPr marL="228600" rtl="0" fontAlgn="base">
              <a:buFont typeface="Arial" panose="020B0604020202020204" pitchFamily="34" charset="0"/>
              <a:buChar char="•"/>
            </a:pPr>
            <a:r>
              <a:rPr lang="en-US" sz="1800" b="1" i="0" u="none" strike="noStrike" dirty="0">
                <a:solidFill>
                  <a:srgbClr val="000000"/>
                </a:solidFill>
                <a:effectLst/>
                <a:latin typeface="Times New Roman" panose="02020603050405020304" pitchFamily="18" charset="0"/>
              </a:rPr>
              <a:t>Activity</a:t>
            </a:r>
            <a:endParaRPr lang="en-US" sz="1800" b="1" i="0" u="none" strike="noStrike" dirty="0">
              <a:solidFill>
                <a:srgbClr val="000000"/>
              </a:solidFill>
              <a:effectLst/>
              <a:latin typeface="Noto Sans Symbols" panose="020B0502040504020204" pitchFamily="34" charset="0"/>
            </a:endParaRPr>
          </a:p>
          <a:p>
            <a:pPr marL="685800" rtl="0">
              <a:spcBef>
                <a:spcPts val="240"/>
              </a:spcBef>
              <a:buNone/>
            </a:pPr>
            <a:r>
              <a:rPr lang="en-US" sz="1800" b="0" i="0" u="none" strike="noStrike" dirty="0">
                <a:solidFill>
                  <a:srgbClr val="000000"/>
                </a:solidFill>
                <a:effectLst/>
                <a:latin typeface="Times New Roman" panose="02020603050405020304" pitchFamily="18" charset="0"/>
              </a:rPr>
              <a:t>Indicates the main activity with small description within the shape.</a:t>
            </a:r>
            <a:br>
              <a:rPr lang="en-US" dirty="0"/>
            </a:br>
            <a:endParaRPr lang="en-US" sz="1800" b="0" i="0" u="none" strike="noStrike" dirty="0">
              <a:solidFill>
                <a:srgbClr val="000000"/>
              </a:solidFill>
              <a:effectLst/>
              <a:latin typeface="Noto Sans Symbols" panose="020B0502040504020204" pitchFamily="34" charset="0"/>
            </a:endParaRPr>
          </a:p>
          <a:p>
            <a:pPr marL="228600" rtl="0" fontAlgn="base">
              <a:buFont typeface="Arial" panose="020B0604020202020204" pitchFamily="34" charset="0"/>
              <a:buChar char="•"/>
            </a:pPr>
            <a:endParaRPr lang="en-US" sz="1800" b="1" i="0" u="none" strike="noStrike" dirty="0">
              <a:solidFill>
                <a:srgbClr val="000000"/>
              </a:solidFill>
              <a:effectLst/>
              <a:latin typeface="Times New Roman" panose="02020603050405020304" pitchFamily="18" charset="0"/>
            </a:endParaRPr>
          </a:p>
          <a:p>
            <a:pPr marL="228600" rtl="0" fontAlgn="base">
              <a:buFont typeface="Arial" panose="020B0604020202020204" pitchFamily="34" charset="0"/>
              <a:buChar char="•"/>
            </a:pPr>
            <a:r>
              <a:rPr lang="en-US" sz="1800" b="1" i="0" u="none" strike="noStrike" dirty="0">
                <a:solidFill>
                  <a:srgbClr val="000000"/>
                </a:solidFill>
                <a:effectLst/>
                <a:latin typeface="Times New Roman" panose="02020603050405020304" pitchFamily="18" charset="0"/>
              </a:rPr>
              <a:t>Activity flow</a:t>
            </a:r>
            <a:endParaRPr lang="en-US" sz="1800" b="1" i="0" u="none" strike="noStrike" dirty="0">
              <a:solidFill>
                <a:srgbClr val="000000"/>
              </a:solidFill>
              <a:effectLst/>
              <a:latin typeface="Noto Sans Symbols" panose="020B0502040504020204" pitchFamily="34" charset="0"/>
            </a:endParaRPr>
          </a:p>
          <a:p>
            <a:pPr>
              <a:buNone/>
            </a:pPr>
            <a:br>
              <a:rPr lang="en-US" dirty="0"/>
            </a:br>
            <a:r>
              <a:rPr lang="en-US" dirty="0"/>
              <a:t>              </a:t>
            </a:r>
            <a:r>
              <a:rPr lang="en-US" sz="1800" b="0" i="0" u="none" strike="noStrike" dirty="0">
                <a:solidFill>
                  <a:srgbClr val="000000"/>
                </a:solidFill>
                <a:effectLst/>
                <a:latin typeface="Times New Roman" panose="02020603050405020304" pitchFamily="18" charset="0"/>
              </a:rPr>
              <a:t>Shows the directional flow of the activity.</a:t>
            </a:r>
            <a:br>
              <a:rPr lang="en-US" dirty="0"/>
            </a:br>
            <a:endParaRPr lang="en-US" dirty="0"/>
          </a:p>
          <a:p>
            <a:pPr>
              <a:buNone/>
            </a:pPr>
            <a:endParaRPr lang="en-US" sz="1800" b="0" i="0" u="none" strike="noStrike" dirty="0">
              <a:solidFill>
                <a:srgbClr val="000000"/>
              </a:solidFill>
              <a:effectLst/>
              <a:latin typeface="Noto Sans Symbols" panose="020B0502040504020204" pitchFamily="34" charset="0"/>
            </a:endParaRPr>
          </a:p>
          <a:p>
            <a:pPr marL="228600" rtl="0" fontAlgn="base">
              <a:spcBef>
                <a:spcPts val="5"/>
              </a:spcBef>
              <a:buFont typeface="Arial" panose="020B0604020202020204" pitchFamily="34" charset="0"/>
              <a:buChar char="•"/>
            </a:pPr>
            <a:r>
              <a:rPr lang="en-US" sz="1800" b="1" i="0" u="none" strike="noStrike" dirty="0">
                <a:solidFill>
                  <a:srgbClr val="000000"/>
                </a:solidFill>
                <a:effectLst/>
                <a:latin typeface="Times New Roman" panose="02020603050405020304" pitchFamily="18" charset="0"/>
              </a:rPr>
              <a:t>Decision symbol</a:t>
            </a:r>
            <a:endParaRPr lang="en-US" sz="1800" b="1" i="0" u="none" strike="noStrike" dirty="0">
              <a:solidFill>
                <a:srgbClr val="000000"/>
              </a:solidFill>
              <a:effectLst/>
              <a:latin typeface="Noto Sans Symbols" panose="020B0502040504020204" pitchFamily="34" charset="0"/>
            </a:endParaRPr>
          </a:p>
          <a:p>
            <a:pPr marL="685800" rtl="0">
              <a:spcBef>
                <a:spcPts val="285"/>
              </a:spcBef>
              <a:buNone/>
            </a:pPr>
            <a:r>
              <a:rPr lang="en-US" sz="1800" b="0" i="0" u="none" strike="noStrike" dirty="0">
                <a:solidFill>
                  <a:srgbClr val="000000"/>
                </a:solidFill>
                <a:effectLst/>
                <a:latin typeface="Times New Roman" panose="02020603050405020304" pitchFamily="18" charset="0"/>
              </a:rPr>
              <a:t>Represents decision making with one input and multiple output.</a:t>
            </a:r>
            <a:endParaRPr lang="en-US" dirty="0">
              <a:effectLst/>
            </a:endParaRPr>
          </a:p>
        </p:txBody>
      </p:sp>
      <p:pic>
        <p:nvPicPr>
          <p:cNvPr id="2" name="Picture 1">
            <a:extLst>
              <a:ext uri="{FF2B5EF4-FFF2-40B4-BE49-F238E27FC236}">
                <a16:creationId xmlns:a16="http://schemas.microsoft.com/office/drawing/2014/main" id="{2B499D02-6131-053F-ECA5-44EBB5E49385}"/>
              </a:ext>
            </a:extLst>
          </p:cNvPr>
          <p:cNvPicPr>
            <a:picLocks noChangeAspect="1"/>
          </p:cNvPicPr>
          <p:nvPr/>
        </p:nvPicPr>
        <p:blipFill>
          <a:blip r:embed="rId2"/>
          <a:stretch>
            <a:fillRect/>
          </a:stretch>
        </p:blipFill>
        <p:spPr>
          <a:xfrm>
            <a:off x="7456671" y="2101726"/>
            <a:ext cx="670618" cy="579170"/>
          </a:xfrm>
          <a:prstGeom prst="rect">
            <a:avLst/>
          </a:prstGeom>
        </p:spPr>
      </p:pic>
      <p:pic>
        <p:nvPicPr>
          <p:cNvPr id="4" name="Picture 3">
            <a:extLst>
              <a:ext uri="{FF2B5EF4-FFF2-40B4-BE49-F238E27FC236}">
                <a16:creationId xmlns:a16="http://schemas.microsoft.com/office/drawing/2014/main" id="{1A09EFF5-46EE-E0B4-5B7B-8D9F1D7605A9}"/>
              </a:ext>
            </a:extLst>
          </p:cNvPr>
          <p:cNvPicPr>
            <a:picLocks noChangeAspect="1"/>
          </p:cNvPicPr>
          <p:nvPr/>
        </p:nvPicPr>
        <p:blipFill>
          <a:blip r:embed="rId3"/>
          <a:stretch>
            <a:fillRect/>
          </a:stretch>
        </p:blipFill>
        <p:spPr>
          <a:xfrm>
            <a:off x="7299094" y="664546"/>
            <a:ext cx="828195" cy="828195"/>
          </a:xfrm>
          <a:prstGeom prst="rect">
            <a:avLst/>
          </a:prstGeom>
        </p:spPr>
      </p:pic>
      <p:pic>
        <p:nvPicPr>
          <p:cNvPr id="6" name="Picture 5">
            <a:extLst>
              <a:ext uri="{FF2B5EF4-FFF2-40B4-BE49-F238E27FC236}">
                <a16:creationId xmlns:a16="http://schemas.microsoft.com/office/drawing/2014/main" id="{5A52B18D-D3ED-61C4-2194-50510B8202E2}"/>
              </a:ext>
            </a:extLst>
          </p:cNvPr>
          <p:cNvPicPr>
            <a:picLocks noChangeAspect="1"/>
          </p:cNvPicPr>
          <p:nvPr/>
        </p:nvPicPr>
        <p:blipFill>
          <a:blip r:embed="rId4"/>
          <a:stretch>
            <a:fillRect/>
          </a:stretch>
        </p:blipFill>
        <p:spPr>
          <a:xfrm>
            <a:off x="7317564" y="3492109"/>
            <a:ext cx="1895262" cy="792650"/>
          </a:xfrm>
          <a:prstGeom prst="rect">
            <a:avLst/>
          </a:prstGeom>
        </p:spPr>
      </p:pic>
      <p:pic>
        <p:nvPicPr>
          <p:cNvPr id="8" name="Picture 7">
            <a:extLst>
              <a:ext uri="{FF2B5EF4-FFF2-40B4-BE49-F238E27FC236}">
                <a16:creationId xmlns:a16="http://schemas.microsoft.com/office/drawing/2014/main" id="{2E051096-5CCC-1EDC-1FE5-AEF80E70AAAA}"/>
              </a:ext>
            </a:extLst>
          </p:cNvPr>
          <p:cNvPicPr>
            <a:picLocks noChangeAspect="1"/>
          </p:cNvPicPr>
          <p:nvPr/>
        </p:nvPicPr>
        <p:blipFill>
          <a:blip r:embed="rId5"/>
          <a:stretch>
            <a:fillRect/>
          </a:stretch>
        </p:blipFill>
        <p:spPr>
          <a:xfrm>
            <a:off x="7190831" y="4899510"/>
            <a:ext cx="1952183" cy="369332"/>
          </a:xfrm>
          <a:prstGeom prst="rect">
            <a:avLst/>
          </a:prstGeom>
        </p:spPr>
      </p:pic>
      <p:pic>
        <p:nvPicPr>
          <p:cNvPr id="10" name="Picture 9">
            <a:extLst>
              <a:ext uri="{FF2B5EF4-FFF2-40B4-BE49-F238E27FC236}">
                <a16:creationId xmlns:a16="http://schemas.microsoft.com/office/drawing/2014/main" id="{C2427D4A-3F59-5D3E-A052-5728A3001030}"/>
              </a:ext>
            </a:extLst>
          </p:cNvPr>
          <p:cNvPicPr>
            <a:picLocks noChangeAspect="1"/>
          </p:cNvPicPr>
          <p:nvPr/>
        </p:nvPicPr>
        <p:blipFill>
          <a:blip r:embed="rId6"/>
          <a:stretch>
            <a:fillRect/>
          </a:stretch>
        </p:blipFill>
        <p:spPr>
          <a:xfrm>
            <a:off x="7728772" y="5602512"/>
            <a:ext cx="876300" cy="876300"/>
          </a:xfrm>
          <a:prstGeom prst="rect">
            <a:avLst/>
          </a:prstGeom>
        </p:spPr>
      </p:pic>
    </p:spTree>
    <p:extLst>
      <p:ext uri="{BB962C8B-B14F-4D97-AF65-F5344CB8AC3E}">
        <p14:creationId xmlns:p14="http://schemas.microsoft.com/office/powerpoint/2010/main" val="588746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DDCC81-B956-1659-E485-527FE6FD1890}"/>
              </a:ext>
            </a:extLst>
          </p:cNvPr>
          <p:cNvSpPr txBox="1"/>
          <p:nvPr/>
        </p:nvSpPr>
        <p:spPr>
          <a:xfrm>
            <a:off x="268941" y="154593"/>
            <a:ext cx="6094028" cy="461665"/>
          </a:xfrm>
          <a:prstGeom prst="rect">
            <a:avLst/>
          </a:prstGeom>
          <a:noFill/>
        </p:spPr>
        <p:txBody>
          <a:bodyPr wrap="square">
            <a:spAutoFit/>
          </a:bodyPr>
          <a:lstStyle/>
          <a:p>
            <a:r>
              <a:rPr lang="en-US" sz="2400" b="1" dirty="0"/>
              <a:t>Search flight </a:t>
            </a:r>
          </a:p>
        </p:txBody>
      </p:sp>
      <p:pic>
        <p:nvPicPr>
          <p:cNvPr id="2" name="Picture 1">
            <a:extLst>
              <a:ext uri="{FF2B5EF4-FFF2-40B4-BE49-F238E27FC236}">
                <a16:creationId xmlns:a16="http://schemas.microsoft.com/office/drawing/2014/main" id="{667F7746-DF42-C7D8-5079-7E3835179688}"/>
              </a:ext>
            </a:extLst>
          </p:cNvPr>
          <p:cNvPicPr>
            <a:picLocks noChangeAspect="1"/>
          </p:cNvPicPr>
          <p:nvPr/>
        </p:nvPicPr>
        <p:blipFill>
          <a:blip r:embed="rId2"/>
          <a:stretch>
            <a:fillRect/>
          </a:stretch>
        </p:blipFill>
        <p:spPr>
          <a:xfrm>
            <a:off x="2650502" y="0"/>
            <a:ext cx="6452858" cy="6858000"/>
          </a:xfrm>
          <a:prstGeom prst="rect">
            <a:avLst/>
          </a:prstGeom>
        </p:spPr>
      </p:pic>
    </p:spTree>
    <p:extLst>
      <p:ext uri="{BB962C8B-B14F-4D97-AF65-F5344CB8AC3E}">
        <p14:creationId xmlns:p14="http://schemas.microsoft.com/office/powerpoint/2010/main" val="4112488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853588-DE1F-5E1C-5FC7-C3692138F31D}"/>
              </a:ext>
            </a:extLst>
          </p:cNvPr>
          <p:cNvSpPr txBox="1"/>
          <p:nvPr/>
        </p:nvSpPr>
        <p:spPr>
          <a:xfrm>
            <a:off x="268941" y="154593"/>
            <a:ext cx="6094028" cy="461665"/>
          </a:xfrm>
          <a:prstGeom prst="rect">
            <a:avLst/>
          </a:prstGeom>
          <a:noFill/>
        </p:spPr>
        <p:txBody>
          <a:bodyPr wrap="square">
            <a:spAutoFit/>
          </a:bodyPr>
          <a:lstStyle/>
          <a:p>
            <a:r>
              <a:rPr lang="en-US" sz="2400" b="1" dirty="0"/>
              <a:t>Seat selection </a:t>
            </a:r>
          </a:p>
        </p:txBody>
      </p:sp>
      <p:pic>
        <p:nvPicPr>
          <p:cNvPr id="2" name="Picture 1">
            <a:extLst>
              <a:ext uri="{FF2B5EF4-FFF2-40B4-BE49-F238E27FC236}">
                <a16:creationId xmlns:a16="http://schemas.microsoft.com/office/drawing/2014/main" id="{71DB12D4-6BB5-8635-5EA5-D7BB3193FDB9}"/>
              </a:ext>
            </a:extLst>
          </p:cNvPr>
          <p:cNvPicPr>
            <a:picLocks noChangeAspect="1"/>
          </p:cNvPicPr>
          <p:nvPr/>
        </p:nvPicPr>
        <p:blipFill>
          <a:blip r:embed="rId2"/>
          <a:stretch>
            <a:fillRect/>
          </a:stretch>
        </p:blipFill>
        <p:spPr>
          <a:xfrm>
            <a:off x="2550160" y="0"/>
            <a:ext cx="6492240" cy="6858000"/>
          </a:xfrm>
          <a:prstGeom prst="rect">
            <a:avLst/>
          </a:prstGeom>
        </p:spPr>
      </p:pic>
    </p:spTree>
    <p:extLst>
      <p:ext uri="{BB962C8B-B14F-4D97-AF65-F5344CB8AC3E}">
        <p14:creationId xmlns:p14="http://schemas.microsoft.com/office/powerpoint/2010/main" val="436318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7CC3AD-EA94-7D5F-BE9C-143CED20D861}"/>
              </a:ext>
            </a:extLst>
          </p:cNvPr>
          <p:cNvSpPr txBox="1"/>
          <p:nvPr/>
        </p:nvSpPr>
        <p:spPr>
          <a:xfrm>
            <a:off x="268941" y="154593"/>
            <a:ext cx="6094028" cy="461665"/>
          </a:xfrm>
          <a:prstGeom prst="rect">
            <a:avLst/>
          </a:prstGeom>
          <a:noFill/>
        </p:spPr>
        <p:txBody>
          <a:bodyPr wrap="square">
            <a:spAutoFit/>
          </a:bodyPr>
          <a:lstStyle/>
          <a:p>
            <a:r>
              <a:rPr lang="en-US" sz="2400" b="1" dirty="0"/>
              <a:t>Payment</a:t>
            </a:r>
          </a:p>
        </p:txBody>
      </p:sp>
      <p:pic>
        <p:nvPicPr>
          <p:cNvPr id="2" name="Picture 1">
            <a:extLst>
              <a:ext uri="{FF2B5EF4-FFF2-40B4-BE49-F238E27FC236}">
                <a16:creationId xmlns:a16="http://schemas.microsoft.com/office/drawing/2014/main" id="{A54A1584-7E29-DA10-795F-D8DA4F654212}"/>
              </a:ext>
            </a:extLst>
          </p:cNvPr>
          <p:cNvPicPr>
            <a:picLocks noChangeAspect="1"/>
          </p:cNvPicPr>
          <p:nvPr/>
        </p:nvPicPr>
        <p:blipFill>
          <a:blip r:embed="rId2"/>
          <a:stretch>
            <a:fillRect/>
          </a:stretch>
        </p:blipFill>
        <p:spPr>
          <a:xfrm>
            <a:off x="2407921" y="0"/>
            <a:ext cx="6330096" cy="6858000"/>
          </a:xfrm>
          <a:prstGeom prst="rect">
            <a:avLst/>
          </a:prstGeom>
        </p:spPr>
      </p:pic>
    </p:spTree>
    <p:extLst>
      <p:ext uri="{BB962C8B-B14F-4D97-AF65-F5344CB8AC3E}">
        <p14:creationId xmlns:p14="http://schemas.microsoft.com/office/powerpoint/2010/main" val="3656291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6F097D-9F71-553A-8B23-A71EDF3E77DA}"/>
              </a:ext>
            </a:extLst>
          </p:cNvPr>
          <p:cNvSpPr txBox="1"/>
          <p:nvPr/>
        </p:nvSpPr>
        <p:spPr>
          <a:xfrm>
            <a:off x="268941" y="154593"/>
            <a:ext cx="6094028" cy="461665"/>
          </a:xfrm>
          <a:prstGeom prst="rect">
            <a:avLst/>
          </a:prstGeom>
          <a:noFill/>
        </p:spPr>
        <p:txBody>
          <a:bodyPr wrap="square">
            <a:spAutoFit/>
          </a:bodyPr>
          <a:lstStyle/>
          <a:p>
            <a:r>
              <a:rPr lang="en-US" sz="2400" b="1" dirty="0"/>
              <a:t>Booking</a:t>
            </a:r>
          </a:p>
        </p:txBody>
      </p:sp>
      <p:pic>
        <p:nvPicPr>
          <p:cNvPr id="2" name="Picture 1">
            <a:extLst>
              <a:ext uri="{FF2B5EF4-FFF2-40B4-BE49-F238E27FC236}">
                <a16:creationId xmlns:a16="http://schemas.microsoft.com/office/drawing/2014/main" id="{DD915E57-AE1B-34EC-BD1F-ADAFD8B7924A}"/>
              </a:ext>
            </a:extLst>
          </p:cNvPr>
          <p:cNvPicPr>
            <a:picLocks noChangeAspect="1"/>
          </p:cNvPicPr>
          <p:nvPr/>
        </p:nvPicPr>
        <p:blipFill>
          <a:blip r:embed="rId2"/>
          <a:stretch>
            <a:fillRect/>
          </a:stretch>
        </p:blipFill>
        <p:spPr>
          <a:xfrm>
            <a:off x="2956560" y="0"/>
            <a:ext cx="6584938" cy="6858000"/>
          </a:xfrm>
          <a:prstGeom prst="rect">
            <a:avLst/>
          </a:prstGeom>
        </p:spPr>
      </p:pic>
    </p:spTree>
    <p:extLst>
      <p:ext uri="{BB962C8B-B14F-4D97-AF65-F5344CB8AC3E}">
        <p14:creationId xmlns:p14="http://schemas.microsoft.com/office/powerpoint/2010/main" val="3156899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02D987-F0CE-CD85-FD51-3168085015BA}"/>
              </a:ext>
            </a:extLst>
          </p:cNvPr>
          <p:cNvSpPr txBox="1"/>
          <p:nvPr/>
        </p:nvSpPr>
        <p:spPr>
          <a:xfrm>
            <a:off x="-106394" y="374318"/>
            <a:ext cx="12164416" cy="3054682"/>
          </a:xfrm>
          <a:prstGeom prst="rect">
            <a:avLst/>
          </a:prstGeom>
          <a:noFill/>
        </p:spPr>
        <p:txBody>
          <a:bodyPr wrap="square">
            <a:spAutoFit/>
          </a:bodyPr>
          <a:lstStyle/>
          <a:p>
            <a:pPr marL="228600" rtl="0">
              <a:spcBef>
                <a:spcPts val="1405"/>
              </a:spcBef>
              <a:buNone/>
            </a:pPr>
            <a:r>
              <a:rPr lang="en-US" sz="2000" b="1" i="0" u="sng" dirty="0">
                <a:solidFill>
                  <a:srgbClr val="538DD3"/>
                </a:solidFill>
                <a:effectLst/>
                <a:latin typeface="Times New Roman" panose="02020603050405020304" pitchFamily="18" charset="0"/>
              </a:rPr>
              <a:t>CLASS DIAGRAM</a:t>
            </a:r>
            <a:endParaRPr lang="en-US" dirty="0">
              <a:effectLst/>
            </a:endParaRPr>
          </a:p>
          <a:p>
            <a:pPr marL="228600" marR="236220" algn="just" rtl="0" fontAlgn="base">
              <a:spcBef>
                <a:spcPts val="1420"/>
              </a:spcBef>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rPr>
              <a:t>Class </a:t>
            </a:r>
            <a:r>
              <a:rPr lang="en-US" sz="2000" b="0" i="0" u="none" strike="noStrike" dirty="0">
                <a:solidFill>
                  <a:schemeClr val="accent1">
                    <a:lumMod val="50000"/>
                  </a:schemeClr>
                </a:solidFill>
                <a:effectLst/>
                <a:latin typeface="Times New Roman" panose="02020603050405020304" pitchFamily="18" charset="0"/>
              </a:rPr>
              <a:t>diagrams</a:t>
            </a:r>
            <a:r>
              <a:rPr lang="en-US" sz="2000" b="0" i="0" u="none" strike="noStrike" dirty="0">
                <a:solidFill>
                  <a:srgbClr val="000000"/>
                </a:solidFill>
                <a:effectLst/>
                <a:latin typeface="Times New Roman" panose="02020603050405020304" pitchFamily="18" charset="0"/>
              </a:rPr>
              <a:t> are one of the most useful types of diagrams in UML as they clearly map out the structure of a particular system by modeling its classes, attributes, operations, and relationships between objects.</a:t>
            </a:r>
            <a:endParaRPr lang="en-US" sz="2000" b="0" i="0" u="none" strike="noStrike" dirty="0">
              <a:solidFill>
                <a:srgbClr val="000000"/>
              </a:solidFill>
              <a:effectLst/>
              <a:latin typeface="Noto Sans Symbols" panose="020B0502040504020204" pitchFamily="34" charset="0"/>
            </a:endParaRPr>
          </a:p>
          <a:p>
            <a:pPr marL="228600" algn="just" rtl="0" fontAlgn="base">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rPr>
              <a:t>Class diagrams contain icons representing classes, interfaces, and their relationships.</a:t>
            </a:r>
            <a:endParaRPr lang="en-US" sz="2000" b="0" i="0" u="none" strike="noStrike" dirty="0">
              <a:solidFill>
                <a:srgbClr val="000000"/>
              </a:solidFill>
              <a:effectLst/>
              <a:latin typeface="Noto Sans Symbols" panose="020B0502040504020204" pitchFamily="34" charset="0"/>
            </a:endParaRPr>
          </a:p>
          <a:p>
            <a:pPr marL="228600" marR="236220" algn="just" rtl="0" fontAlgn="base">
              <a:spcBef>
                <a:spcPts val="70"/>
              </a:spcBef>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rPr>
              <a:t>Since classes are the building block of objects, class diagrams are the building blocks of UML.</a:t>
            </a:r>
            <a:endParaRPr lang="en-US" sz="2000" b="0" i="0" u="none" strike="noStrike" dirty="0">
              <a:solidFill>
                <a:srgbClr val="000000"/>
              </a:solidFill>
              <a:effectLst/>
              <a:latin typeface="Noto Sans Symbols" panose="020B0502040504020204" pitchFamily="34" charset="0"/>
            </a:endParaRPr>
          </a:p>
          <a:p>
            <a:pPr marL="228600" marR="231140" algn="just" rtl="0" fontAlgn="base">
              <a:spcBef>
                <a:spcPts val="10"/>
              </a:spcBef>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rPr>
              <a:t>The class shape itself consists of a rectangle with three rows. The top row contains the name of the class, the middle row contains the attributes of the class, and the bottom section expresses the methods or operations that the class may use.</a:t>
            </a:r>
            <a:endParaRPr lang="en-US" sz="2000" b="0" i="0" u="none" strike="noStrike" dirty="0">
              <a:solidFill>
                <a:srgbClr val="000000"/>
              </a:solidFill>
              <a:effectLst/>
              <a:latin typeface="Noto Sans Symbols" panose="020B0502040504020204" pitchFamily="34" charset="0"/>
            </a:endParaRPr>
          </a:p>
          <a:p>
            <a:pPr marL="228600" marR="236855" algn="just" rtl="0" fontAlgn="base">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rPr>
              <a:t>Classes and subclasses are grouped together to show the static relationship between each object.</a:t>
            </a:r>
            <a:endParaRPr lang="en-US" sz="2000" b="0" i="0" u="none" strike="noStrike" dirty="0">
              <a:solidFill>
                <a:srgbClr val="000000"/>
              </a:solidFill>
              <a:effectLst/>
              <a:latin typeface="Noto Sans Symbols" panose="020B0502040504020204" pitchFamily="34" charset="0"/>
            </a:endParaRPr>
          </a:p>
        </p:txBody>
      </p:sp>
      <p:sp>
        <p:nvSpPr>
          <p:cNvPr id="5" name="TextBox 4">
            <a:extLst>
              <a:ext uri="{FF2B5EF4-FFF2-40B4-BE49-F238E27FC236}">
                <a16:creationId xmlns:a16="http://schemas.microsoft.com/office/drawing/2014/main" id="{CB4268AA-C850-6526-3DC4-E65D58C0B90A}"/>
              </a:ext>
            </a:extLst>
          </p:cNvPr>
          <p:cNvSpPr txBox="1"/>
          <p:nvPr/>
        </p:nvSpPr>
        <p:spPr>
          <a:xfrm>
            <a:off x="-106394" y="4003904"/>
            <a:ext cx="6147226" cy="1900520"/>
          </a:xfrm>
          <a:prstGeom prst="rect">
            <a:avLst/>
          </a:prstGeom>
          <a:noFill/>
        </p:spPr>
        <p:txBody>
          <a:bodyPr wrap="square">
            <a:spAutoFit/>
          </a:bodyPr>
          <a:lstStyle/>
          <a:p>
            <a:pPr marL="228600" rtl="0">
              <a:buNone/>
            </a:pPr>
            <a:r>
              <a:rPr lang="en-US" sz="2000" b="1" i="0" u="sng" dirty="0">
                <a:solidFill>
                  <a:srgbClr val="538DD3"/>
                </a:solidFill>
                <a:effectLst/>
                <a:latin typeface="Times New Roman" panose="02020603050405020304" pitchFamily="18" charset="0"/>
              </a:rPr>
              <a:t>BASIC COMPONENTS OF CLASS DIAGRAM:-</a:t>
            </a:r>
            <a:endParaRPr lang="en-US" dirty="0">
              <a:effectLst/>
            </a:endParaRPr>
          </a:p>
          <a:p>
            <a:pPr marL="228600" rtl="0" fontAlgn="base">
              <a:spcBef>
                <a:spcPts val="865"/>
              </a:spcBef>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Upper Section</a:t>
            </a:r>
            <a:br>
              <a:rPr lang="en-US" dirty="0"/>
            </a:br>
            <a:endParaRPr lang="en-US" sz="1800" b="0" i="0" u="none" strike="noStrike" dirty="0">
              <a:solidFill>
                <a:srgbClr val="000000"/>
              </a:solidFill>
              <a:effectLst/>
              <a:latin typeface="Noto Sans Symbols" panose="020B0502040504020204" pitchFamily="34" charset="0"/>
            </a:endParaRPr>
          </a:p>
          <a:p>
            <a:pPr marL="228600" rtl="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Middle Section</a:t>
            </a:r>
            <a:br>
              <a:rPr lang="en-US" dirty="0"/>
            </a:br>
            <a:endParaRPr lang="en-US" sz="1800" b="0" i="0" u="none" strike="noStrike" dirty="0">
              <a:solidFill>
                <a:srgbClr val="000000"/>
              </a:solidFill>
              <a:effectLst/>
              <a:latin typeface="Noto Sans Symbols" panose="020B0502040504020204" pitchFamily="34" charset="0"/>
            </a:endParaRPr>
          </a:p>
          <a:p>
            <a:pPr marL="228600" rtl="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Bottom Section</a:t>
            </a:r>
            <a:endParaRPr lang="en-US" sz="1800" b="0" i="0" u="none" strike="noStrike" dirty="0">
              <a:solidFill>
                <a:srgbClr val="000000"/>
              </a:solidFill>
              <a:effectLst/>
              <a:latin typeface="Noto Sans Symbols" panose="020B0502040504020204" pitchFamily="34" charset="0"/>
            </a:endParaRPr>
          </a:p>
        </p:txBody>
      </p:sp>
    </p:spTree>
    <p:extLst>
      <p:ext uri="{BB962C8B-B14F-4D97-AF65-F5344CB8AC3E}">
        <p14:creationId xmlns:p14="http://schemas.microsoft.com/office/powerpoint/2010/main" val="31025849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6C1F5E-A531-1A9E-D384-8FFD78963948}"/>
              </a:ext>
            </a:extLst>
          </p:cNvPr>
          <p:cNvSpPr txBox="1"/>
          <p:nvPr/>
        </p:nvSpPr>
        <p:spPr>
          <a:xfrm>
            <a:off x="436414" y="622407"/>
            <a:ext cx="6094028" cy="3857466"/>
          </a:xfrm>
          <a:prstGeom prst="rect">
            <a:avLst/>
          </a:prstGeom>
          <a:noFill/>
        </p:spPr>
        <p:txBody>
          <a:bodyPr wrap="square">
            <a:spAutoFit/>
          </a:bodyPr>
          <a:lstStyle/>
          <a:p>
            <a:pPr marL="228600" rtl="0">
              <a:spcBef>
                <a:spcPts val="5"/>
              </a:spcBef>
              <a:buNone/>
            </a:pPr>
            <a:r>
              <a:rPr lang="en-US" sz="2000" b="1" i="0" u="sng" dirty="0">
                <a:solidFill>
                  <a:srgbClr val="538DD3"/>
                </a:solidFill>
                <a:effectLst/>
                <a:latin typeface="Times New Roman" panose="02020603050405020304" pitchFamily="18" charset="0"/>
              </a:rPr>
              <a:t>MEMBER ACCESS MODIFIERS:-</a:t>
            </a:r>
            <a:endParaRPr lang="en-US" dirty="0">
              <a:effectLst/>
            </a:endParaRPr>
          </a:p>
          <a:p>
            <a:pPr marL="228600" marR="255270" rtl="0" fontAlgn="base">
              <a:spcBef>
                <a:spcPts val="1390"/>
              </a:spcBef>
              <a:buFont typeface="Arial" panose="020B0604020202020204" pitchFamily="34" charset="0"/>
              <a:buChar char="•"/>
            </a:pPr>
            <a:endParaRPr lang="en-US" sz="1800" b="0" i="0" u="none" strike="noStrike" dirty="0">
              <a:solidFill>
                <a:srgbClr val="000000"/>
              </a:solidFill>
              <a:effectLst/>
              <a:latin typeface="Times New Roman" panose="02020603050405020304" pitchFamily="18" charset="0"/>
            </a:endParaRPr>
          </a:p>
          <a:p>
            <a:pPr marL="228600" marR="255270" rtl="0" fontAlgn="base">
              <a:spcBef>
                <a:spcPts val="1390"/>
              </a:spcBef>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rPr>
              <a:t>All classes have different access levels depending on the access modifier(visibility). Here are the access levels with their corresponding symbols:</a:t>
            </a:r>
            <a:endParaRPr lang="en-US" sz="2000" b="0" i="0" u="none" strike="noStrike" dirty="0">
              <a:solidFill>
                <a:srgbClr val="000000"/>
              </a:solidFill>
              <a:effectLst/>
              <a:latin typeface="Noto Sans Symbols" panose="020B0502040504020204" pitchFamily="34" charset="0"/>
            </a:endParaRPr>
          </a:p>
          <a:p>
            <a:pPr marL="228600" rtl="0" fontAlgn="base">
              <a:spcBef>
                <a:spcPts val="20"/>
              </a:spcBef>
              <a:buFont typeface="Arial" panose="020B0604020202020204" pitchFamily="34" charset="0"/>
              <a:buChar char="•"/>
            </a:pPr>
            <a:endParaRPr lang="en-US" sz="2000" b="0" i="0" u="none" strike="noStrike" dirty="0">
              <a:solidFill>
                <a:srgbClr val="000000"/>
              </a:solidFill>
              <a:effectLst/>
              <a:latin typeface="Times New Roman" panose="02020603050405020304" pitchFamily="18" charset="0"/>
            </a:endParaRPr>
          </a:p>
          <a:p>
            <a:pPr marL="228600" rtl="0" fontAlgn="base">
              <a:spcBef>
                <a:spcPts val="20"/>
              </a:spcBef>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rPr>
              <a:t>Public (+)</a:t>
            </a:r>
            <a:endParaRPr lang="en-US" sz="2000" b="0" i="0" u="none" strike="noStrike" dirty="0">
              <a:solidFill>
                <a:srgbClr val="000000"/>
              </a:solidFill>
              <a:effectLst/>
              <a:latin typeface="Noto Sans Symbols" panose="020B0502040504020204" pitchFamily="34" charset="0"/>
            </a:endParaRPr>
          </a:p>
          <a:p>
            <a:pPr marL="228600" rtl="0" fontAlgn="base">
              <a:spcBef>
                <a:spcPts val="90"/>
              </a:spcBef>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rPr>
              <a:t>Private (-)</a:t>
            </a:r>
            <a:endParaRPr lang="en-US" sz="2000" b="0" i="0" u="none" strike="noStrike" dirty="0">
              <a:solidFill>
                <a:srgbClr val="000000"/>
              </a:solidFill>
              <a:effectLst/>
              <a:latin typeface="Noto Sans Symbols" panose="020B0502040504020204" pitchFamily="34" charset="0"/>
            </a:endParaRPr>
          </a:p>
          <a:p>
            <a:pPr marL="228600" rtl="0" fontAlgn="base">
              <a:spcBef>
                <a:spcPts val="65"/>
              </a:spcBef>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rPr>
              <a:t>Protected (#)</a:t>
            </a:r>
            <a:endParaRPr lang="en-US" sz="2000" b="0" i="0" u="none" strike="noStrike" dirty="0">
              <a:solidFill>
                <a:srgbClr val="000000"/>
              </a:solidFill>
              <a:effectLst/>
              <a:latin typeface="Noto Sans Symbols" panose="020B0502040504020204" pitchFamily="34" charset="0"/>
            </a:endParaRPr>
          </a:p>
          <a:p>
            <a:pPr marL="228600" rtl="0" fontAlgn="base">
              <a:spcBef>
                <a:spcPts val="65"/>
              </a:spcBef>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rPr>
              <a:t>Derived (/)</a:t>
            </a:r>
            <a:endParaRPr lang="en-US" sz="2000" b="0" i="0" u="none" strike="noStrike" dirty="0">
              <a:solidFill>
                <a:srgbClr val="000000"/>
              </a:solidFill>
              <a:effectLst/>
              <a:latin typeface="Noto Sans Symbols" panose="020B0502040504020204" pitchFamily="34" charset="0"/>
            </a:endParaRPr>
          </a:p>
          <a:p>
            <a:pPr marL="228600" rtl="0" fontAlgn="base">
              <a:spcBef>
                <a:spcPts val="90"/>
              </a:spcBef>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rPr>
              <a:t>Static (underline)</a:t>
            </a:r>
            <a:endParaRPr lang="en-US" sz="2000" b="0" i="0" u="none" strike="noStrike" dirty="0">
              <a:solidFill>
                <a:srgbClr val="000000"/>
              </a:solidFill>
              <a:effectLst/>
              <a:latin typeface="Noto Sans Symbols" panose="020B0502040504020204" pitchFamily="34" charset="0"/>
            </a:endParaRPr>
          </a:p>
        </p:txBody>
      </p:sp>
    </p:spTree>
    <p:extLst>
      <p:ext uri="{BB962C8B-B14F-4D97-AF65-F5344CB8AC3E}">
        <p14:creationId xmlns:p14="http://schemas.microsoft.com/office/powerpoint/2010/main" val="175370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977C80-94A9-5FF5-F8A9-DB2D74AFBAA0}"/>
              </a:ext>
            </a:extLst>
          </p:cNvPr>
          <p:cNvSpPr txBox="1"/>
          <p:nvPr/>
        </p:nvSpPr>
        <p:spPr>
          <a:xfrm>
            <a:off x="188161" y="123433"/>
            <a:ext cx="6094028" cy="461665"/>
          </a:xfrm>
          <a:prstGeom prst="rect">
            <a:avLst/>
          </a:prstGeom>
          <a:noFill/>
        </p:spPr>
        <p:txBody>
          <a:bodyPr wrap="square">
            <a:spAutoFit/>
          </a:bodyPr>
          <a:lstStyle/>
          <a:p>
            <a:pPr marL="228600" rtl="0">
              <a:spcBef>
                <a:spcPts val="1405"/>
              </a:spcBef>
              <a:buNone/>
            </a:pPr>
            <a:r>
              <a:rPr lang="en-US" sz="2400" b="1" i="0" u="sng" dirty="0">
                <a:solidFill>
                  <a:srgbClr val="538DD3"/>
                </a:solidFill>
                <a:effectLst/>
                <a:latin typeface="Times New Roman" panose="02020603050405020304" pitchFamily="18" charset="0"/>
              </a:rPr>
              <a:t>CLASS DIAGRAM</a:t>
            </a:r>
            <a:endParaRPr lang="en-US" sz="2400" dirty="0">
              <a:effectLst/>
            </a:endParaRPr>
          </a:p>
        </p:txBody>
      </p:sp>
      <p:pic>
        <p:nvPicPr>
          <p:cNvPr id="5" name="Picture 4">
            <a:extLst>
              <a:ext uri="{FF2B5EF4-FFF2-40B4-BE49-F238E27FC236}">
                <a16:creationId xmlns:a16="http://schemas.microsoft.com/office/drawing/2014/main" id="{68BAF8AA-43A0-1B50-FDC9-BC7336B04C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7" y="953729"/>
            <a:ext cx="10715625" cy="5718533"/>
          </a:xfrm>
          <a:prstGeom prst="rect">
            <a:avLst/>
          </a:prstGeom>
        </p:spPr>
      </p:pic>
    </p:spTree>
    <p:extLst>
      <p:ext uri="{BB962C8B-B14F-4D97-AF65-F5344CB8AC3E}">
        <p14:creationId xmlns:p14="http://schemas.microsoft.com/office/powerpoint/2010/main" val="1851627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32B3AF-0656-D353-908E-46C844538AD8}"/>
              </a:ext>
            </a:extLst>
          </p:cNvPr>
          <p:cNvSpPr txBox="1"/>
          <p:nvPr/>
        </p:nvSpPr>
        <p:spPr>
          <a:xfrm>
            <a:off x="-119200" y="209544"/>
            <a:ext cx="9470078" cy="400110"/>
          </a:xfrm>
          <a:prstGeom prst="rect">
            <a:avLst/>
          </a:prstGeom>
          <a:noFill/>
        </p:spPr>
        <p:txBody>
          <a:bodyPr wrap="square">
            <a:spAutoFit/>
          </a:bodyPr>
          <a:lstStyle/>
          <a:p>
            <a:pPr marL="228600" rtl="0">
              <a:spcBef>
                <a:spcPts val="305"/>
              </a:spcBef>
              <a:buNone/>
            </a:pPr>
            <a:r>
              <a:rPr lang="en-US" sz="2000" b="1" i="0" u="sng" dirty="0">
                <a:solidFill>
                  <a:srgbClr val="538DD3"/>
                </a:solidFill>
                <a:effectLst/>
                <a:latin typeface="Times New Roman" panose="02020603050405020304" pitchFamily="18" charset="0"/>
              </a:rPr>
              <a:t>SYMBOL OF E-R DIAGRAM (ENTITY RELATIONSHIP DIAGRAM)</a:t>
            </a:r>
            <a:endParaRPr lang="en-US" sz="2000" dirty="0">
              <a:effectLst/>
            </a:endParaRPr>
          </a:p>
        </p:txBody>
      </p:sp>
      <p:sp>
        <p:nvSpPr>
          <p:cNvPr id="5" name="TextBox 4">
            <a:extLst>
              <a:ext uri="{FF2B5EF4-FFF2-40B4-BE49-F238E27FC236}">
                <a16:creationId xmlns:a16="http://schemas.microsoft.com/office/drawing/2014/main" id="{6AD304E3-3B18-DCF7-2ACE-ACBDD0DD73B8}"/>
              </a:ext>
            </a:extLst>
          </p:cNvPr>
          <p:cNvSpPr txBox="1"/>
          <p:nvPr/>
        </p:nvSpPr>
        <p:spPr>
          <a:xfrm>
            <a:off x="312288" y="1052726"/>
            <a:ext cx="8873088" cy="4703852"/>
          </a:xfrm>
          <a:prstGeom prst="rect">
            <a:avLst/>
          </a:prstGeom>
          <a:noFill/>
        </p:spPr>
        <p:txBody>
          <a:bodyPr wrap="square">
            <a:spAutoFit/>
          </a:bodyPr>
          <a:lstStyle/>
          <a:p>
            <a:pPr marL="228600" rtl="0" fontAlgn="base">
              <a:spcBef>
                <a:spcPts val="870"/>
              </a:spcBef>
              <a:buFont typeface="Arial" panose="020B0604020202020204" pitchFamily="34" charset="0"/>
              <a:buChar char="•"/>
            </a:pPr>
            <a:r>
              <a:rPr lang="en-US" sz="2000" b="1" i="0" u="none" strike="noStrike" dirty="0">
                <a:solidFill>
                  <a:srgbClr val="000000"/>
                </a:solidFill>
                <a:effectLst/>
                <a:latin typeface="Times New Roman" panose="02020603050405020304" pitchFamily="18" charset="0"/>
              </a:rPr>
              <a:t>ENTITY</a:t>
            </a:r>
            <a:endParaRPr lang="en-US" sz="2000" b="1" i="0" u="none" strike="noStrike" dirty="0">
              <a:solidFill>
                <a:srgbClr val="000000"/>
              </a:solidFill>
              <a:effectLst/>
              <a:latin typeface="Noto Sans Symbols" panose="020B0502040504020204" pitchFamily="34" charset="0"/>
            </a:endParaRPr>
          </a:p>
          <a:p>
            <a:pPr marL="685800" rtl="0">
              <a:spcBef>
                <a:spcPts val="60"/>
              </a:spcBef>
              <a:buNone/>
            </a:pPr>
            <a:r>
              <a:rPr lang="en-US" sz="1800" b="0" i="0" u="none" strike="noStrike" dirty="0">
                <a:solidFill>
                  <a:srgbClr val="000000"/>
                </a:solidFill>
                <a:effectLst/>
                <a:latin typeface="Times New Roman" panose="02020603050405020304" pitchFamily="18" charset="0"/>
              </a:rPr>
              <a:t>Represents real-world objects or concept in a database. </a:t>
            </a:r>
            <a:r>
              <a:rPr lang="en-US" sz="1800" b="0" i="0" u="none" strike="noStrike" dirty="0" err="1">
                <a:solidFill>
                  <a:srgbClr val="000000"/>
                </a:solidFill>
                <a:effectLst/>
                <a:latin typeface="Times New Roman" panose="02020603050405020304" pitchFamily="18" charset="0"/>
              </a:rPr>
              <a:t>Ex.supplier,customer</a:t>
            </a:r>
            <a:r>
              <a:rPr lang="en-US" sz="1800" b="0" i="0" u="none" strike="noStrike" dirty="0">
                <a:solidFill>
                  <a:srgbClr val="000000"/>
                </a:solidFill>
                <a:effectLst/>
                <a:latin typeface="Times New Roman" panose="02020603050405020304" pitchFamily="18" charset="0"/>
              </a:rPr>
              <a:t>.</a:t>
            </a:r>
            <a:endParaRPr lang="en-US" dirty="0">
              <a:effectLst/>
            </a:endParaRPr>
          </a:p>
          <a:p>
            <a:pPr marL="228600" rtl="0" fontAlgn="base"/>
            <a:endParaRPr lang="en-US" dirty="0"/>
          </a:p>
          <a:p>
            <a:pPr marL="228600" rtl="0" fontAlgn="base"/>
            <a:br>
              <a:rPr lang="en-US" dirty="0"/>
            </a:br>
            <a:endParaRPr lang="en-US" sz="1800" b="0" i="0" u="none" strike="noStrike" dirty="0">
              <a:solidFill>
                <a:srgbClr val="000000"/>
              </a:solidFill>
              <a:effectLst/>
              <a:latin typeface="Noto Sans Symbols" panose="020B0502040504020204" pitchFamily="34" charset="0"/>
            </a:endParaRPr>
          </a:p>
          <a:p>
            <a:pPr marL="228600" rtl="0" fontAlgn="base">
              <a:spcBef>
                <a:spcPts val="5"/>
              </a:spcBef>
              <a:buFont typeface="Arial" panose="020B0604020202020204" pitchFamily="34" charset="0"/>
              <a:buChar char="•"/>
            </a:pPr>
            <a:endParaRPr lang="en-US" sz="2000" b="1" i="0" u="none" strike="noStrike" dirty="0">
              <a:solidFill>
                <a:srgbClr val="000000"/>
              </a:solidFill>
              <a:effectLst/>
              <a:latin typeface="Times New Roman" panose="02020603050405020304" pitchFamily="18" charset="0"/>
            </a:endParaRPr>
          </a:p>
          <a:p>
            <a:pPr marL="228600" rtl="0" fontAlgn="base">
              <a:spcBef>
                <a:spcPts val="5"/>
              </a:spcBef>
              <a:buFont typeface="Arial" panose="020B0604020202020204" pitchFamily="34" charset="0"/>
              <a:buChar char="•"/>
            </a:pPr>
            <a:r>
              <a:rPr lang="en-US" sz="2000" b="1" i="0" u="none" strike="noStrike" dirty="0">
                <a:solidFill>
                  <a:srgbClr val="000000"/>
                </a:solidFill>
                <a:effectLst/>
                <a:latin typeface="Times New Roman" panose="02020603050405020304" pitchFamily="18" charset="0"/>
              </a:rPr>
              <a:t>ATTRIBUTES</a:t>
            </a:r>
            <a:endParaRPr lang="en-US" sz="2000" b="1" i="0" u="none" strike="noStrike" dirty="0">
              <a:solidFill>
                <a:srgbClr val="000000"/>
              </a:solidFill>
              <a:effectLst/>
              <a:latin typeface="Noto Sans Symbols" panose="020B0502040504020204" pitchFamily="34" charset="0"/>
            </a:endParaRPr>
          </a:p>
          <a:p>
            <a:pPr marL="685800" marR="233680" rtl="0">
              <a:spcBef>
                <a:spcPts val="65"/>
              </a:spcBef>
              <a:buNone/>
            </a:pPr>
            <a:r>
              <a:rPr lang="en-US" sz="1800" b="0" i="0" u="none" strike="noStrike" dirty="0">
                <a:solidFill>
                  <a:srgbClr val="000000"/>
                </a:solidFill>
                <a:effectLst/>
                <a:latin typeface="Times New Roman" panose="02020603050405020304" pitchFamily="18" charset="0"/>
              </a:rPr>
              <a:t>Attribute provide additional information about entities .</a:t>
            </a:r>
            <a:r>
              <a:rPr lang="en-US" sz="1800" b="0" i="0" u="none" strike="noStrike" dirty="0" err="1">
                <a:solidFill>
                  <a:srgbClr val="000000"/>
                </a:solidFill>
                <a:effectLst/>
                <a:latin typeface="Times New Roman" panose="02020603050405020304" pitchFamily="18" charset="0"/>
              </a:rPr>
              <a:t>Ex.product</a:t>
            </a:r>
            <a:r>
              <a:rPr lang="en-US" sz="1800" b="0" i="0" u="none" strike="noStrike" dirty="0">
                <a:solidFill>
                  <a:srgbClr val="000000"/>
                </a:solidFill>
                <a:effectLst/>
                <a:latin typeface="Times New Roman" panose="02020603050405020304" pitchFamily="18" charset="0"/>
              </a:rPr>
              <a:t> attribute(</a:t>
            </a:r>
            <a:r>
              <a:rPr lang="en-US" sz="1800" b="0" i="0" u="none" strike="noStrike" dirty="0" err="1">
                <a:solidFill>
                  <a:srgbClr val="000000"/>
                </a:solidFill>
                <a:effectLst/>
                <a:latin typeface="Times New Roman" panose="02020603050405020304" pitchFamily="18" charset="0"/>
              </a:rPr>
              <a:t>name,price</a:t>
            </a:r>
            <a:r>
              <a:rPr lang="en-US" sz="1800" b="0" i="0" u="none" strike="noStrike" dirty="0">
                <a:solidFill>
                  <a:srgbClr val="000000"/>
                </a:solidFill>
                <a:effectLst/>
                <a:latin typeface="Times New Roman" panose="02020603050405020304" pitchFamily="18" charset="0"/>
              </a:rPr>
              <a:t>)</a:t>
            </a:r>
            <a:endParaRPr lang="en-US" dirty="0">
              <a:effectLst/>
            </a:endParaRPr>
          </a:p>
          <a:p>
            <a:pPr marL="228600" rtl="0" fontAlgn="base"/>
            <a:endParaRPr lang="en-US" dirty="0"/>
          </a:p>
          <a:p>
            <a:pPr marL="228600" rtl="0" fontAlgn="base"/>
            <a:br>
              <a:rPr lang="en-US" dirty="0"/>
            </a:br>
            <a:endParaRPr lang="en-US" sz="1800" b="0" i="0" u="none" strike="noStrike" dirty="0">
              <a:solidFill>
                <a:srgbClr val="000000"/>
              </a:solidFill>
              <a:effectLst/>
              <a:latin typeface="Noto Sans Symbols" panose="020B0502040504020204" pitchFamily="34" charset="0"/>
            </a:endParaRPr>
          </a:p>
          <a:p>
            <a:pPr marL="228600" rtl="0" fontAlgn="base">
              <a:buFont typeface="Arial" panose="020B0604020202020204" pitchFamily="34" charset="0"/>
              <a:buChar char="•"/>
            </a:pPr>
            <a:endParaRPr lang="en-US" sz="2000" b="1" i="0" u="none" strike="noStrike" dirty="0">
              <a:solidFill>
                <a:srgbClr val="000000"/>
              </a:solidFill>
              <a:effectLst/>
              <a:latin typeface="Times New Roman" panose="02020603050405020304" pitchFamily="18" charset="0"/>
            </a:endParaRPr>
          </a:p>
          <a:p>
            <a:pPr marL="228600" rtl="0" fontAlgn="base">
              <a:buFont typeface="Arial" panose="020B0604020202020204" pitchFamily="34" charset="0"/>
              <a:buChar char="•"/>
            </a:pPr>
            <a:r>
              <a:rPr lang="en-US" sz="2000" b="1" i="0" u="none" strike="noStrike" dirty="0">
                <a:solidFill>
                  <a:srgbClr val="000000"/>
                </a:solidFill>
                <a:effectLst/>
                <a:latin typeface="Times New Roman" panose="02020603050405020304" pitchFamily="18" charset="0"/>
              </a:rPr>
              <a:t>KEY-ATTRIBUTE</a:t>
            </a:r>
            <a:endParaRPr lang="en-US" sz="2000" b="1" i="0" u="none" strike="noStrike" dirty="0">
              <a:solidFill>
                <a:srgbClr val="000000"/>
              </a:solidFill>
              <a:effectLst/>
              <a:latin typeface="Noto Sans Symbols" panose="020B0502040504020204" pitchFamily="34" charset="0"/>
            </a:endParaRPr>
          </a:p>
          <a:p>
            <a:pPr marL="685800" rtl="0">
              <a:spcBef>
                <a:spcPts val="40"/>
              </a:spcBef>
              <a:buNone/>
            </a:pPr>
            <a:r>
              <a:rPr lang="en-US" sz="1800" b="0" i="0" u="none" strike="noStrike" dirty="0">
                <a:solidFill>
                  <a:srgbClr val="000000"/>
                </a:solidFill>
                <a:effectLst/>
                <a:latin typeface="Times New Roman" panose="02020603050405020304" pitchFamily="18" charset="0"/>
              </a:rPr>
              <a:t>Denotes the </a:t>
            </a:r>
            <a:r>
              <a:rPr lang="en-US" sz="1800" b="0" i="0" u="none" strike="noStrike" dirty="0" err="1">
                <a:solidFill>
                  <a:srgbClr val="000000"/>
                </a:solidFill>
                <a:effectLst/>
                <a:latin typeface="Times New Roman" panose="02020603050405020304" pitchFamily="18" charset="0"/>
              </a:rPr>
              <a:t>arribute</a:t>
            </a:r>
            <a:r>
              <a:rPr lang="en-US" sz="1800" b="0" i="0" u="none" strike="noStrike" dirty="0">
                <a:solidFill>
                  <a:srgbClr val="000000"/>
                </a:solidFill>
                <a:effectLst/>
                <a:latin typeface="Times New Roman" panose="02020603050405020304" pitchFamily="18" charset="0"/>
              </a:rPr>
              <a:t> within an entity that uniquely identify instance of the entity. Typically underlines an attribute to indicate its </a:t>
            </a:r>
            <a:r>
              <a:rPr lang="en-US" sz="1800" b="0" i="0" u="none" strike="noStrike" dirty="0" err="1">
                <a:solidFill>
                  <a:srgbClr val="000000"/>
                </a:solidFill>
                <a:effectLst/>
                <a:latin typeface="Times New Roman" panose="02020603050405020304" pitchFamily="18" charset="0"/>
              </a:rPr>
              <a:t>impotance</a:t>
            </a:r>
            <a:r>
              <a:rPr lang="en-US" sz="1800" b="0" i="0" u="none" strike="noStrike" dirty="0">
                <a:solidFill>
                  <a:srgbClr val="000000"/>
                </a:solidFill>
                <a:effectLst/>
                <a:latin typeface="Times New Roman" panose="02020603050405020304" pitchFamily="18" charset="0"/>
              </a:rPr>
              <a:t>.</a:t>
            </a:r>
            <a:endParaRPr lang="en-US" dirty="0">
              <a:effectLst/>
            </a:endParaRPr>
          </a:p>
        </p:txBody>
      </p:sp>
      <p:sp>
        <p:nvSpPr>
          <p:cNvPr id="2" name="Rectangle 1">
            <a:extLst>
              <a:ext uri="{FF2B5EF4-FFF2-40B4-BE49-F238E27FC236}">
                <a16:creationId xmlns:a16="http://schemas.microsoft.com/office/drawing/2014/main" id="{5D617A8F-D25F-C6FA-7A62-352F8392F97C}"/>
              </a:ext>
            </a:extLst>
          </p:cNvPr>
          <p:cNvSpPr/>
          <p:nvPr/>
        </p:nvSpPr>
        <p:spPr>
          <a:xfrm>
            <a:off x="9448799" y="1094072"/>
            <a:ext cx="177963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256F5553-54A4-98C2-ADA7-C650E0EB0C62}"/>
              </a:ext>
            </a:extLst>
          </p:cNvPr>
          <p:cNvSpPr/>
          <p:nvPr/>
        </p:nvSpPr>
        <p:spPr>
          <a:xfrm>
            <a:off x="9380997" y="2696730"/>
            <a:ext cx="1779639" cy="7767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CC7E93FC-AC4E-A00B-07AD-2E3BB4F325EE}"/>
              </a:ext>
            </a:extLst>
          </p:cNvPr>
          <p:cNvSpPr/>
          <p:nvPr/>
        </p:nvSpPr>
        <p:spPr>
          <a:xfrm>
            <a:off x="9448800" y="4739148"/>
            <a:ext cx="1779639" cy="8849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A4730223-EFC8-F3FB-3385-E848BD32C57F}"/>
              </a:ext>
            </a:extLst>
          </p:cNvPr>
          <p:cNvCxnSpPr/>
          <p:nvPr/>
        </p:nvCxnSpPr>
        <p:spPr>
          <a:xfrm>
            <a:off x="9576619" y="5201265"/>
            <a:ext cx="13883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2E8C345-E6C1-A4E3-4517-2D3C18CA895E}"/>
              </a:ext>
            </a:extLst>
          </p:cNvPr>
          <p:cNvSpPr txBox="1"/>
          <p:nvPr/>
        </p:nvSpPr>
        <p:spPr>
          <a:xfrm>
            <a:off x="9928532" y="4831933"/>
            <a:ext cx="936112" cy="369332"/>
          </a:xfrm>
          <a:prstGeom prst="rect">
            <a:avLst/>
          </a:prstGeom>
          <a:noFill/>
        </p:spPr>
        <p:txBody>
          <a:bodyPr wrap="square" rtlCol="0">
            <a:spAutoFit/>
          </a:bodyPr>
          <a:lstStyle/>
          <a:p>
            <a:r>
              <a:rPr lang="en-IN" dirty="0"/>
              <a:t>KEY-</a:t>
            </a:r>
          </a:p>
        </p:txBody>
      </p:sp>
    </p:spTree>
    <p:extLst>
      <p:ext uri="{BB962C8B-B14F-4D97-AF65-F5344CB8AC3E}">
        <p14:creationId xmlns:p14="http://schemas.microsoft.com/office/powerpoint/2010/main" val="203183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092DF1-B3F8-06CD-740A-9A32F65A7885}"/>
              </a:ext>
            </a:extLst>
          </p:cNvPr>
          <p:cNvSpPr txBox="1"/>
          <p:nvPr/>
        </p:nvSpPr>
        <p:spPr>
          <a:xfrm>
            <a:off x="-95559" y="505501"/>
            <a:ext cx="8654390" cy="3072636"/>
          </a:xfrm>
          <a:prstGeom prst="rect">
            <a:avLst/>
          </a:prstGeom>
          <a:noFill/>
        </p:spPr>
        <p:txBody>
          <a:bodyPr wrap="square">
            <a:spAutoFit/>
          </a:bodyPr>
          <a:lstStyle/>
          <a:p>
            <a:pPr marL="228600" rtl="0" fontAlgn="base">
              <a:buFont typeface="Arial" panose="020B0604020202020204" pitchFamily="34" charset="0"/>
              <a:buChar char="•"/>
            </a:pPr>
            <a:r>
              <a:rPr lang="en-US" sz="2000" b="1" i="0" u="none" strike="noStrike" dirty="0">
                <a:solidFill>
                  <a:srgbClr val="000000"/>
                </a:solidFill>
                <a:effectLst/>
                <a:latin typeface="Times New Roman" panose="02020603050405020304" pitchFamily="18" charset="0"/>
              </a:rPr>
              <a:t>RELATIONSHIP</a:t>
            </a:r>
            <a:endParaRPr lang="en-US" sz="2000" b="0" i="0" u="none" strike="noStrike" dirty="0">
              <a:solidFill>
                <a:srgbClr val="000000"/>
              </a:solidFill>
              <a:effectLst/>
              <a:latin typeface="Noto Sans Symbols" panose="020B0502040504020204" pitchFamily="34" charset="0"/>
            </a:endParaRPr>
          </a:p>
          <a:p>
            <a:pPr marL="685800" marR="227330" rtl="0">
              <a:spcBef>
                <a:spcPts val="190"/>
              </a:spcBef>
              <a:buNone/>
            </a:pPr>
            <a:r>
              <a:rPr lang="en-US" sz="2000" b="0" i="0" u="none" strike="noStrike" dirty="0">
                <a:solidFill>
                  <a:srgbClr val="000000"/>
                </a:solidFill>
                <a:effectLst/>
                <a:latin typeface="Times New Roman" panose="02020603050405020304" pitchFamily="18" charset="0"/>
              </a:rPr>
              <a:t>A </a:t>
            </a:r>
            <a:r>
              <a:rPr lang="en-US" sz="2000" b="0" i="0" u="none" strike="noStrike" dirty="0" err="1">
                <a:solidFill>
                  <a:srgbClr val="000000"/>
                </a:solidFill>
                <a:effectLst/>
                <a:latin typeface="Times New Roman" panose="02020603050405020304" pitchFamily="18" charset="0"/>
              </a:rPr>
              <a:t>relatioonship</a:t>
            </a:r>
            <a:r>
              <a:rPr lang="en-US" sz="2000" b="0" i="0" u="none" strike="noStrike" dirty="0">
                <a:solidFill>
                  <a:srgbClr val="000000"/>
                </a:solidFill>
                <a:effectLst/>
                <a:latin typeface="Times New Roman" panose="02020603050405020304" pitchFamily="18" charset="0"/>
              </a:rPr>
              <a:t> where a entity is </a:t>
            </a:r>
            <a:r>
              <a:rPr lang="en-US" sz="2000" b="0" i="0" u="none" strike="noStrike" dirty="0" err="1">
                <a:solidFill>
                  <a:srgbClr val="000000"/>
                </a:solidFill>
                <a:effectLst/>
                <a:latin typeface="Times New Roman" panose="02020603050405020304" pitchFamily="18" charset="0"/>
              </a:rPr>
              <a:t>exitance</a:t>
            </a:r>
            <a:r>
              <a:rPr lang="en-US" sz="2000" b="0" i="0" u="none" strike="noStrike" dirty="0">
                <a:solidFill>
                  <a:srgbClr val="000000"/>
                </a:solidFill>
                <a:effectLst/>
                <a:latin typeface="Times New Roman" panose="02020603050405020304" pitchFamily="18" charset="0"/>
              </a:rPr>
              <a:t>-independent of other </a:t>
            </a:r>
            <a:r>
              <a:rPr lang="en-US" sz="2000" b="0" i="0" u="none" strike="noStrike" dirty="0" err="1">
                <a:solidFill>
                  <a:srgbClr val="000000"/>
                </a:solidFill>
                <a:effectLst/>
                <a:latin typeface="Times New Roman" panose="02020603050405020304" pitchFamily="18" charset="0"/>
              </a:rPr>
              <a:t>entities,and</a:t>
            </a:r>
            <a:r>
              <a:rPr lang="en-US" sz="2000" b="0" i="0" u="none" strike="noStrike" dirty="0">
                <a:solidFill>
                  <a:srgbClr val="000000"/>
                </a:solidFill>
                <a:effectLst/>
                <a:latin typeface="Times New Roman" panose="02020603050405020304" pitchFamily="18" charset="0"/>
              </a:rPr>
              <a:t> PK of child </a:t>
            </a:r>
            <a:r>
              <a:rPr lang="en-US" sz="2000" b="0" i="0" u="none" strike="noStrike" dirty="0" err="1">
                <a:solidFill>
                  <a:srgbClr val="000000"/>
                </a:solidFill>
                <a:effectLst/>
                <a:latin typeface="Times New Roman" panose="02020603050405020304" pitchFamily="18" charset="0"/>
              </a:rPr>
              <a:t>dosen’t</a:t>
            </a:r>
            <a:r>
              <a:rPr lang="en-US" sz="2000" b="0" i="0" u="none" strike="noStrike" dirty="0">
                <a:solidFill>
                  <a:srgbClr val="000000"/>
                </a:solidFill>
                <a:effectLst/>
                <a:latin typeface="Times New Roman" panose="02020603050405020304" pitchFamily="18" charset="0"/>
              </a:rPr>
              <a:t> contain PK component of parent entity.</a:t>
            </a:r>
            <a:endParaRPr lang="en-US" sz="2000" dirty="0">
              <a:effectLst/>
            </a:endParaRPr>
          </a:p>
          <a:p>
            <a:pPr marL="228600" rtl="0" fontAlgn="base"/>
            <a:br>
              <a:rPr lang="en-US" dirty="0"/>
            </a:br>
            <a:endParaRPr lang="en-US" sz="1800" b="0" i="0" u="none" strike="noStrike" dirty="0">
              <a:solidFill>
                <a:srgbClr val="000000"/>
              </a:solidFill>
              <a:effectLst/>
              <a:latin typeface="Noto Sans Symbols" panose="020B0502040504020204" pitchFamily="34" charset="0"/>
            </a:endParaRPr>
          </a:p>
          <a:p>
            <a:pPr marL="228600" rtl="0" fontAlgn="base">
              <a:buFont typeface="Arial" panose="020B0604020202020204" pitchFamily="34" charset="0"/>
              <a:buChar char="•"/>
            </a:pPr>
            <a:endParaRPr lang="en-US" sz="1800" b="1" i="0" u="none" strike="noStrike" dirty="0">
              <a:solidFill>
                <a:srgbClr val="000000"/>
              </a:solidFill>
              <a:effectLst/>
              <a:latin typeface="Times New Roman" panose="02020603050405020304" pitchFamily="18" charset="0"/>
            </a:endParaRPr>
          </a:p>
          <a:p>
            <a:pPr marL="228600" rtl="0" fontAlgn="base">
              <a:buFont typeface="Arial" panose="020B0604020202020204" pitchFamily="34" charset="0"/>
              <a:buChar char="•"/>
            </a:pPr>
            <a:r>
              <a:rPr lang="en-US" sz="2000" b="1" i="0" u="none" strike="noStrike" dirty="0">
                <a:solidFill>
                  <a:srgbClr val="000000"/>
                </a:solidFill>
                <a:effectLst/>
                <a:latin typeface="Times New Roman" panose="02020603050405020304" pitchFamily="18" charset="0"/>
              </a:rPr>
              <a:t>CARDINALITY</a:t>
            </a:r>
            <a:endParaRPr lang="en-US" sz="2000" b="0" i="0" u="none" strike="noStrike" dirty="0">
              <a:solidFill>
                <a:srgbClr val="000000"/>
              </a:solidFill>
              <a:effectLst/>
              <a:latin typeface="Noto Sans Symbols" panose="020B0502040504020204" pitchFamily="34" charset="0"/>
            </a:endParaRPr>
          </a:p>
          <a:p>
            <a:pPr>
              <a:buNone/>
            </a:pPr>
            <a:br>
              <a:rPr lang="en-US" dirty="0"/>
            </a:br>
            <a:r>
              <a:rPr lang="en-US" dirty="0"/>
              <a:t>          </a:t>
            </a:r>
            <a:r>
              <a:rPr lang="en-US" sz="2000" b="0" i="0" u="none" strike="noStrike" dirty="0">
                <a:solidFill>
                  <a:srgbClr val="000000"/>
                </a:solidFill>
                <a:effectLst/>
                <a:latin typeface="Times New Roman" panose="02020603050405020304" pitchFamily="18" charset="0"/>
              </a:rPr>
              <a:t>Specifies the number of instances or relationships between </a:t>
            </a:r>
            <a:r>
              <a:rPr lang="en-US" sz="2000" b="0" i="0" u="none" strike="noStrike" dirty="0" err="1">
                <a:solidFill>
                  <a:srgbClr val="000000"/>
                </a:solidFill>
                <a:effectLst/>
                <a:latin typeface="Times New Roman" panose="02020603050405020304" pitchFamily="18" charset="0"/>
              </a:rPr>
              <a:t>entities.common</a:t>
            </a:r>
            <a:r>
              <a:rPr lang="en-US" sz="2000" b="0" i="0" u="none" strike="noStrike" dirty="0">
                <a:solidFill>
                  <a:srgbClr val="000000"/>
                </a:solidFill>
                <a:effectLst/>
                <a:latin typeface="Times New Roman" panose="02020603050405020304" pitchFamily="18" charset="0"/>
              </a:rPr>
              <a:t> notations include ”1”(one),”0”(zero),”M”(many),”N”(</a:t>
            </a:r>
            <a:r>
              <a:rPr lang="en-US" sz="2000" b="0" i="0" u="none" strike="noStrike" dirty="0" err="1">
                <a:solidFill>
                  <a:srgbClr val="000000"/>
                </a:solidFill>
                <a:effectLst/>
                <a:latin typeface="Times New Roman" panose="02020603050405020304" pitchFamily="18" charset="0"/>
              </a:rPr>
              <a:t>avariable</a:t>
            </a:r>
            <a:r>
              <a:rPr lang="en-US" sz="2000" b="0" i="0" u="none" strike="noStrike" dirty="0">
                <a:solidFill>
                  <a:srgbClr val="000000"/>
                </a:solidFill>
                <a:effectLst/>
                <a:latin typeface="Times New Roman" panose="02020603050405020304" pitchFamily="18" charset="0"/>
              </a:rPr>
              <a:t> number)</a:t>
            </a:r>
            <a:r>
              <a:rPr lang="en-US" sz="1600" b="0" i="0" u="none" strike="noStrike" dirty="0">
                <a:solidFill>
                  <a:srgbClr val="000000"/>
                </a:solidFill>
                <a:effectLst/>
                <a:latin typeface="Times New Roman" panose="02020603050405020304" pitchFamily="18" charset="0"/>
              </a:rPr>
              <a:t>.</a:t>
            </a:r>
            <a:endParaRPr lang="en-US" dirty="0">
              <a:effectLst/>
            </a:endParaRPr>
          </a:p>
        </p:txBody>
      </p:sp>
      <p:sp>
        <p:nvSpPr>
          <p:cNvPr id="2" name="Diamond 1">
            <a:extLst>
              <a:ext uri="{FF2B5EF4-FFF2-40B4-BE49-F238E27FC236}">
                <a16:creationId xmlns:a16="http://schemas.microsoft.com/office/drawing/2014/main" id="{3096B586-EEAC-249D-0495-6C99232F5891}"/>
              </a:ext>
            </a:extLst>
          </p:cNvPr>
          <p:cNvSpPr/>
          <p:nvPr/>
        </p:nvSpPr>
        <p:spPr>
          <a:xfrm>
            <a:off x="9429136" y="619432"/>
            <a:ext cx="1592826" cy="816078"/>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7590F3D8-58F5-AB80-3D45-AB7BEEA8907D}"/>
              </a:ext>
            </a:extLst>
          </p:cNvPr>
          <p:cNvPicPr>
            <a:picLocks noChangeAspect="1"/>
          </p:cNvPicPr>
          <p:nvPr/>
        </p:nvPicPr>
        <p:blipFill>
          <a:blip r:embed="rId2"/>
          <a:stretch>
            <a:fillRect/>
          </a:stretch>
        </p:blipFill>
        <p:spPr>
          <a:xfrm>
            <a:off x="8893123" y="2816942"/>
            <a:ext cx="1819275" cy="1066800"/>
          </a:xfrm>
          <a:prstGeom prst="rect">
            <a:avLst/>
          </a:prstGeom>
        </p:spPr>
      </p:pic>
    </p:spTree>
    <p:extLst>
      <p:ext uri="{BB962C8B-B14F-4D97-AF65-F5344CB8AC3E}">
        <p14:creationId xmlns:p14="http://schemas.microsoft.com/office/powerpoint/2010/main" val="1043788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D50C71-0AED-2F89-C9A2-4560EC77B086}"/>
              </a:ext>
            </a:extLst>
          </p:cNvPr>
          <p:cNvSpPr txBox="1"/>
          <p:nvPr/>
        </p:nvSpPr>
        <p:spPr>
          <a:xfrm>
            <a:off x="-95557" y="-695062"/>
            <a:ext cx="8311562" cy="1390124"/>
          </a:xfrm>
          <a:prstGeom prst="rect">
            <a:avLst/>
          </a:prstGeom>
          <a:noFill/>
        </p:spPr>
        <p:txBody>
          <a:bodyPr wrap="square">
            <a:spAutoFit/>
          </a:bodyPr>
          <a:lstStyle/>
          <a:p>
            <a:pPr>
              <a:buNone/>
            </a:pPr>
            <a:br>
              <a:rPr lang="en-US" dirty="0"/>
            </a:br>
            <a:br>
              <a:rPr lang="en-US" sz="1600" b="0" i="0" u="none" strike="noStrike" dirty="0">
                <a:solidFill>
                  <a:srgbClr val="000000"/>
                </a:solidFill>
                <a:effectLst/>
                <a:latin typeface="Times New Roman" panose="02020603050405020304" pitchFamily="18" charset="0"/>
              </a:rPr>
            </a:br>
            <a:endParaRPr lang="en-US" dirty="0"/>
          </a:p>
          <a:p>
            <a:pPr marL="228600" rtl="0">
              <a:spcBef>
                <a:spcPts val="1045"/>
              </a:spcBef>
              <a:buNone/>
            </a:pPr>
            <a:r>
              <a:rPr lang="en-US" sz="2400" b="1" i="0" u="sng" dirty="0">
                <a:solidFill>
                  <a:schemeClr val="accent1">
                    <a:lumMod val="75000"/>
                  </a:schemeClr>
                </a:solidFill>
                <a:effectLst/>
                <a:latin typeface="Times New Roman" panose="02020603050405020304" pitchFamily="18" charset="0"/>
              </a:rPr>
              <a:t>E-R DIAGRAM (ENTITY RELATIONSHIP DIAGRAM)</a:t>
            </a:r>
            <a:endParaRPr lang="en-US" sz="2400" dirty="0">
              <a:solidFill>
                <a:schemeClr val="accent1">
                  <a:lumMod val="75000"/>
                </a:schemeClr>
              </a:solidFill>
              <a:effectLst/>
            </a:endParaRPr>
          </a:p>
        </p:txBody>
      </p:sp>
      <p:pic>
        <p:nvPicPr>
          <p:cNvPr id="5" name="Picture 4">
            <a:extLst>
              <a:ext uri="{FF2B5EF4-FFF2-40B4-BE49-F238E27FC236}">
                <a16:creationId xmlns:a16="http://schemas.microsoft.com/office/drawing/2014/main" id="{0B015838-DD46-6ADD-7D70-0317826A5F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7665" y="695062"/>
            <a:ext cx="6508954" cy="6162937"/>
          </a:xfrm>
          <a:prstGeom prst="rect">
            <a:avLst/>
          </a:prstGeom>
        </p:spPr>
      </p:pic>
    </p:spTree>
    <p:extLst>
      <p:ext uri="{BB962C8B-B14F-4D97-AF65-F5344CB8AC3E}">
        <p14:creationId xmlns:p14="http://schemas.microsoft.com/office/powerpoint/2010/main" val="1113608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3E8400D-9D57-06E6-EAC4-51EB462197EE}"/>
              </a:ext>
            </a:extLst>
          </p:cNvPr>
          <p:cNvGraphicFramePr/>
          <p:nvPr>
            <p:extLst>
              <p:ext uri="{D42A27DB-BD31-4B8C-83A1-F6EECF244321}">
                <p14:modId xmlns:p14="http://schemas.microsoft.com/office/powerpoint/2010/main" val="926541168"/>
              </p:ext>
            </p:extLst>
          </p:nvPr>
        </p:nvGraphicFramePr>
        <p:xfrm>
          <a:off x="1391539" y="2092421"/>
          <a:ext cx="8739565" cy="3025932"/>
        </p:xfrm>
        <a:graphic>
          <a:graphicData uri="http://schemas.openxmlformats.org/drawingml/2006/table">
            <a:tbl>
              <a:tblPr>
                <a:tableStyleId>{5C22544A-7EE6-4342-B048-85BDC9FD1C3A}</a:tableStyleId>
              </a:tblPr>
              <a:tblGrid>
                <a:gridCol w="1747913">
                  <a:extLst>
                    <a:ext uri="{9D8B030D-6E8A-4147-A177-3AD203B41FA5}">
                      <a16:colId xmlns:a16="http://schemas.microsoft.com/office/drawing/2014/main" val="3663616056"/>
                    </a:ext>
                  </a:extLst>
                </a:gridCol>
                <a:gridCol w="1747913">
                  <a:extLst>
                    <a:ext uri="{9D8B030D-6E8A-4147-A177-3AD203B41FA5}">
                      <a16:colId xmlns:a16="http://schemas.microsoft.com/office/drawing/2014/main" val="3437405773"/>
                    </a:ext>
                  </a:extLst>
                </a:gridCol>
                <a:gridCol w="1747913">
                  <a:extLst>
                    <a:ext uri="{9D8B030D-6E8A-4147-A177-3AD203B41FA5}">
                      <a16:colId xmlns:a16="http://schemas.microsoft.com/office/drawing/2014/main" val="2513468270"/>
                    </a:ext>
                  </a:extLst>
                </a:gridCol>
                <a:gridCol w="1747913">
                  <a:extLst>
                    <a:ext uri="{9D8B030D-6E8A-4147-A177-3AD203B41FA5}">
                      <a16:colId xmlns:a16="http://schemas.microsoft.com/office/drawing/2014/main" val="873479837"/>
                    </a:ext>
                  </a:extLst>
                </a:gridCol>
                <a:gridCol w="1747913">
                  <a:extLst>
                    <a:ext uri="{9D8B030D-6E8A-4147-A177-3AD203B41FA5}">
                      <a16:colId xmlns:a16="http://schemas.microsoft.com/office/drawing/2014/main" val="3066587444"/>
                    </a:ext>
                  </a:extLst>
                </a:gridCol>
              </a:tblGrid>
              <a:tr h="448539">
                <a:tc>
                  <a:txBody>
                    <a:bodyPr/>
                    <a:lstStyle/>
                    <a:p>
                      <a:pPr algn="just" rtl="0" fontAlgn="t">
                        <a:buNone/>
                      </a:pPr>
                      <a:r>
                        <a:rPr lang="en-US" sz="1600" u="none" strike="noStrike">
                          <a:effectLst/>
                        </a:rPr>
                        <a:t>Field Name</a:t>
                      </a:r>
                      <a:endParaRPr lang="en-US" sz="1600">
                        <a:effectLst/>
                      </a:endParaRPr>
                    </a:p>
                  </a:txBody>
                  <a:tcPr marL="62204" marR="62204" marT="41469" marB="41469"/>
                </a:tc>
                <a:tc>
                  <a:txBody>
                    <a:bodyPr/>
                    <a:lstStyle/>
                    <a:p>
                      <a:pPr algn="just" rtl="0" fontAlgn="t">
                        <a:buNone/>
                      </a:pPr>
                      <a:r>
                        <a:rPr lang="en-US" sz="1600" u="none" strike="noStrike">
                          <a:effectLst/>
                        </a:rPr>
                        <a:t>Data type</a:t>
                      </a:r>
                      <a:endParaRPr lang="en-US" sz="1600">
                        <a:effectLst/>
                      </a:endParaRPr>
                    </a:p>
                  </a:txBody>
                  <a:tcPr marL="62204" marR="62204" marT="41469" marB="41469"/>
                </a:tc>
                <a:tc>
                  <a:txBody>
                    <a:bodyPr/>
                    <a:lstStyle/>
                    <a:p>
                      <a:pPr algn="just" rtl="0" fontAlgn="t">
                        <a:buNone/>
                      </a:pPr>
                      <a:r>
                        <a:rPr lang="en-US" sz="1600" u="none" strike="noStrike">
                          <a:effectLst/>
                        </a:rPr>
                        <a:t>Size</a:t>
                      </a:r>
                      <a:endParaRPr lang="en-US" sz="1600">
                        <a:effectLst/>
                      </a:endParaRPr>
                    </a:p>
                  </a:txBody>
                  <a:tcPr marL="62204" marR="62204" marT="41469" marB="41469"/>
                </a:tc>
                <a:tc>
                  <a:txBody>
                    <a:bodyPr/>
                    <a:lstStyle/>
                    <a:p>
                      <a:pPr algn="just" rtl="0" fontAlgn="t">
                        <a:buNone/>
                      </a:pPr>
                      <a:r>
                        <a:rPr lang="en-US" sz="1600" u="none" strike="noStrike">
                          <a:effectLst/>
                        </a:rPr>
                        <a:t>Constraints</a:t>
                      </a:r>
                      <a:endParaRPr lang="en-US" sz="1600">
                        <a:effectLst/>
                      </a:endParaRPr>
                    </a:p>
                  </a:txBody>
                  <a:tcPr marL="62204" marR="62204" marT="41469" marB="41469"/>
                </a:tc>
                <a:tc>
                  <a:txBody>
                    <a:bodyPr/>
                    <a:lstStyle/>
                    <a:p>
                      <a:pPr algn="just" rtl="0" fontAlgn="t">
                        <a:buNone/>
                      </a:pPr>
                      <a:r>
                        <a:rPr lang="en-US" sz="1600" u="none" strike="noStrike">
                          <a:effectLst/>
                        </a:rPr>
                        <a:t>Description</a:t>
                      </a:r>
                      <a:endParaRPr lang="en-US" sz="1600">
                        <a:effectLst/>
                      </a:endParaRPr>
                    </a:p>
                  </a:txBody>
                  <a:tcPr marL="62204" marR="62204" marT="41469" marB="41469"/>
                </a:tc>
                <a:extLst>
                  <a:ext uri="{0D108BD9-81ED-4DB2-BD59-A6C34878D82A}">
                    <a16:rowId xmlns:a16="http://schemas.microsoft.com/office/drawing/2014/main" val="867468316"/>
                  </a:ext>
                </a:extLst>
              </a:tr>
              <a:tr h="783237">
                <a:tc>
                  <a:txBody>
                    <a:bodyPr/>
                    <a:lstStyle/>
                    <a:p>
                      <a:pPr algn="just" rtl="0" fontAlgn="t">
                        <a:buNone/>
                      </a:pPr>
                      <a:r>
                        <a:rPr lang="en-US" sz="1600" u="none" strike="noStrike">
                          <a:effectLst/>
                        </a:rPr>
                        <a:t>Admin_id</a:t>
                      </a:r>
                      <a:endParaRPr lang="en-US" sz="1600">
                        <a:effectLst/>
                      </a:endParaRPr>
                    </a:p>
                  </a:txBody>
                  <a:tcPr marL="62204" marR="62204" marT="41469" marB="41469"/>
                </a:tc>
                <a:tc>
                  <a:txBody>
                    <a:bodyPr/>
                    <a:lstStyle/>
                    <a:p>
                      <a:pPr algn="just" rtl="0" fontAlgn="t">
                        <a:buNone/>
                      </a:pPr>
                      <a:r>
                        <a:rPr lang="en-US" sz="1600" u="none" strike="noStrike">
                          <a:effectLst/>
                        </a:rPr>
                        <a:t>INT</a:t>
                      </a:r>
                      <a:endParaRPr lang="en-US" sz="1600">
                        <a:effectLst/>
                      </a:endParaRPr>
                    </a:p>
                  </a:txBody>
                  <a:tcPr marL="62204" marR="62204" marT="41469" marB="41469"/>
                </a:tc>
                <a:tc>
                  <a:txBody>
                    <a:bodyPr/>
                    <a:lstStyle/>
                    <a:p>
                      <a:pPr algn="just" rtl="0" fontAlgn="t">
                        <a:buNone/>
                      </a:pPr>
                      <a:r>
                        <a:rPr lang="en-US" sz="1600" u="none" strike="noStrike">
                          <a:effectLst/>
                        </a:rPr>
                        <a:t>5</a:t>
                      </a:r>
                      <a:endParaRPr lang="en-US" sz="1600">
                        <a:effectLst/>
                      </a:endParaRPr>
                    </a:p>
                  </a:txBody>
                  <a:tcPr marL="62204" marR="62204" marT="41469" marB="41469"/>
                </a:tc>
                <a:tc>
                  <a:txBody>
                    <a:bodyPr/>
                    <a:lstStyle/>
                    <a:p>
                      <a:pPr algn="just" rtl="0" fontAlgn="t">
                        <a:buNone/>
                      </a:pPr>
                      <a:r>
                        <a:rPr lang="en-US" sz="1600" u="none" strike="noStrike">
                          <a:effectLst/>
                        </a:rPr>
                        <a:t>PK,Auto increment</a:t>
                      </a:r>
                      <a:endParaRPr lang="en-US" sz="1600">
                        <a:effectLst/>
                      </a:endParaRPr>
                    </a:p>
                  </a:txBody>
                  <a:tcPr marL="62204" marR="62204" marT="41469" marB="41469"/>
                </a:tc>
                <a:tc>
                  <a:txBody>
                    <a:bodyPr/>
                    <a:lstStyle/>
                    <a:p>
                      <a:pPr algn="just" rtl="0" fontAlgn="t">
                        <a:buNone/>
                      </a:pPr>
                      <a:r>
                        <a:rPr lang="en-US" sz="1600" u="none" strike="noStrike">
                          <a:effectLst/>
                        </a:rPr>
                        <a:t>Unique ID for admin</a:t>
                      </a:r>
                      <a:endParaRPr lang="en-US" sz="1600">
                        <a:effectLst/>
                      </a:endParaRPr>
                    </a:p>
                  </a:txBody>
                  <a:tcPr marL="62204" marR="62204" marT="41469" marB="41469"/>
                </a:tc>
                <a:extLst>
                  <a:ext uri="{0D108BD9-81ED-4DB2-BD59-A6C34878D82A}">
                    <a16:rowId xmlns:a16="http://schemas.microsoft.com/office/drawing/2014/main" val="4242183863"/>
                  </a:ext>
                </a:extLst>
              </a:tr>
              <a:tr h="448539">
                <a:tc>
                  <a:txBody>
                    <a:bodyPr/>
                    <a:lstStyle/>
                    <a:p>
                      <a:pPr algn="just" rtl="0" fontAlgn="t">
                        <a:buNone/>
                      </a:pPr>
                      <a:r>
                        <a:rPr lang="en-US" sz="1600" u="none" strike="noStrike">
                          <a:effectLst/>
                        </a:rPr>
                        <a:t>Admin_name</a:t>
                      </a:r>
                      <a:endParaRPr lang="en-US" sz="1600">
                        <a:effectLst/>
                      </a:endParaRPr>
                    </a:p>
                  </a:txBody>
                  <a:tcPr marL="62204" marR="62204" marT="41469" marB="41469"/>
                </a:tc>
                <a:tc>
                  <a:txBody>
                    <a:bodyPr/>
                    <a:lstStyle/>
                    <a:p>
                      <a:pPr algn="just" rtl="0" fontAlgn="t">
                        <a:buNone/>
                      </a:pPr>
                      <a:r>
                        <a:rPr lang="en-US" sz="1600" u="none" strike="noStrike">
                          <a:effectLst/>
                        </a:rPr>
                        <a:t>VARCHAR</a:t>
                      </a:r>
                      <a:endParaRPr lang="en-US" sz="1600">
                        <a:effectLst/>
                      </a:endParaRPr>
                    </a:p>
                  </a:txBody>
                  <a:tcPr marL="62204" marR="62204" marT="41469" marB="41469"/>
                </a:tc>
                <a:tc>
                  <a:txBody>
                    <a:bodyPr/>
                    <a:lstStyle/>
                    <a:p>
                      <a:pPr algn="just" rtl="0" fontAlgn="t">
                        <a:buNone/>
                      </a:pPr>
                      <a:r>
                        <a:rPr lang="en-US" sz="1600" u="none" strike="noStrike">
                          <a:effectLst/>
                        </a:rPr>
                        <a:t>50</a:t>
                      </a:r>
                      <a:endParaRPr lang="en-US" sz="1600">
                        <a:effectLst/>
                      </a:endParaRPr>
                    </a:p>
                  </a:txBody>
                  <a:tcPr marL="62204" marR="62204" marT="41469" marB="41469"/>
                </a:tc>
                <a:tc>
                  <a:txBody>
                    <a:bodyPr/>
                    <a:lstStyle/>
                    <a:p>
                      <a:pPr algn="just" rtl="0" fontAlgn="t">
                        <a:buNone/>
                      </a:pPr>
                      <a:r>
                        <a:rPr lang="en-US" sz="1600" u="none" strike="noStrike">
                          <a:effectLst/>
                        </a:rPr>
                        <a:t>Not null</a:t>
                      </a:r>
                      <a:endParaRPr lang="en-US" sz="1600">
                        <a:effectLst/>
                      </a:endParaRPr>
                    </a:p>
                  </a:txBody>
                  <a:tcPr marL="62204" marR="62204" marT="41469" marB="41469"/>
                </a:tc>
                <a:tc>
                  <a:txBody>
                    <a:bodyPr/>
                    <a:lstStyle/>
                    <a:p>
                      <a:pPr algn="just" rtl="0" fontAlgn="t">
                        <a:buNone/>
                      </a:pPr>
                      <a:r>
                        <a:rPr lang="en-US" sz="1600" u="none" strike="noStrike">
                          <a:effectLst/>
                        </a:rPr>
                        <a:t>Admin full name</a:t>
                      </a:r>
                      <a:endParaRPr lang="en-US" sz="1600">
                        <a:effectLst/>
                      </a:endParaRPr>
                    </a:p>
                  </a:txBody>
                  <a:tcPr marL="62204" marR="62204" marT="41469" marB="41469"/>
                </a:tc>
                <a:extLst>
                  <a:ext uri="{0D108BD9-81ED-4DB2-BD59-A6C34878D82A}">
                    <a16:rowId xmlns:a16="http://schemas.microsoft.com/office/drawing/2014/main" val="2996154271"/>
                  </a:ext>
                </a:extLst>
              </a:tr>
              <a:tr h="448539">
                <a:tc>
                  <a:txBody>
                    <a:bodyPr/>
                    <a:lstStyle/>
                    <a:p>
                      <a:pPr algn="just" rtl="0" fontAlgn="t">
                        <a:buNone/>
                      </a:pPr>
                      <a:r>
                        <a:rPr lang="en-US" sz="1600" u="none" strike="noStrike">
                          <a:effectLst/>
                        </a:rPr>
                        <a:t>Email</a:t>
                      </a:r>
                      <a:endParaRPr lang="en-US" sz="1600">
                        <a:effectLst/>
                      </a:endParaRPr>
                    </a:p>
                  </a:txBody>
                  <a:tcPr marL="62204" marR="62204" marT="41469" marB="41469"/>
                </a:tc>
                <a:tc>
                  <a:txBody>
                    <a:bodyPr/>
                    <a:lstStyle/>
                    <a:p>
                      <a:pPr algn="just" rtl="0" fontAlgn="t">
                        <a:buNone/>
                      </a:pPr>
                      <a:r>
                        <a:rPr lang="en-US" sz="1600" u="none" strike="noStrike">
                          <a:effectLst/>
                        </a:rPr>
                        <a:t>VARCHAR</a:t>
                      </a:r>
                      <a:endParaRPr lang="en-US" sz="1600">
                        <a:effectLst/>
                      </a:endParaRPr>
                    </a:p>
                  </a:txBody>
                  <a:tcPr marL="62204" marR="62204" marT="41469" marB="41469"/>
                </a:tc>
                <a:tc>
                  <a:txBody>
                    <a:bodyPr/>
                    <a:lstStyle/>
                    <a:p>
                      <a:pPr algn="just" rtl="0" fontAlgn="t">
                        <a:buNone/>
                      </a:pPr>
                      <a:r>
                        <a:rPr lang="en-US" sz="1600" u="none" strike="noStrike">
                          <a:effectLst/>
                        </a:rPr>
                        <a:t>50</a:t>
                      </a:r>
                      <a:endParaRPr lang="en-US" sz="1600">
                        <a:effectLst/>
                      </a:endParaRPr>
                    </a:p>
                  </a:txBody>
                  <a:tcPr marL="62204" marR="62204" marT="41469" marB="41469"/>
                </a:tc>
                <a:tc>
                  <a:txBody>
                    <a:bodyPr/>
                    <a:lstStyle/>
                    <a:p>
                      <a:pPr algn="just" rtl="0" fontAlgn="t">
                        <a:buNone/>
                      </a:pPr>
                      <a:r>
                        <a:rPr lang="en-US" sz="1600" u="none" strike="noStrike">
                          <a:effectLst/>
                        </a:rPr>
                        <a:t>Unique</a:t>
                      </a:r>
                      <a:endParaRPr lang="en-US" sz="1600">
                        <a:effectLst/>
                      </a:endParaRPr>
                    </a:p>
                  </a:txBody>
                  <a:tcPr marL="62204" marR="62204" marT="41469" marB="41469"/>
                </a:tc>
                <a:tc>
                  <a:txBody>
                    <a:bodyPr/>
                    <a:lstStyle/>
                    <a:p>
                      <a:pPr algn="just" rtl="0" fontAlgn="t">
                        <a:buNone/>
                      </a:pPr>
                      <a:r>
                        <a:rPr lang="en-US" sz="1600" u="none" strike="noStrike" dirty="0">
                          <a:effectLst/>
                        </a:rPr>
                        <a:t>Login email</a:t>
                      </a:r>
                      <a:endParaRPr lang="en-US" sz="1600" dirty="0">
                        <a:effectLst/>
                      </a:endParaRPr>
                    </a:p>
                  </a:txBody>
                  <a:tcPr marL="62204" marR="62204" marT="41469" marB="41469"/>
                </a:tc>
                <a:extLst>
                  <a:ext uri="{0D108BD9-81ED-4DB2-BD59-A6C34878D82A}">
                    <a16:rowId xmlns:a16="http://schemas.microsoft.com/office/drawing/2014/main" val="525266322"/>
                  </a:ext>
                </a:extLst>
              </a:tr>
              <a:tr h="448539">
                <a:tc>
                  <a:txBody>
                    <a:bodyPr/>
                    <a:lstStyle/>
                    <a:p>
                      <a:pPr algn="just" rtl="0" fontAlgn="t">
                        <a:buNone/>
                      </a:pPr>
                      <a:r>
                        <a:rPr lang="en-US" sz="1600" u="none" strike="noStrike">
                          <a:effectLst/>
                        </a:rPr>
                        <a:t>Password</a:t>
                      </a:r>
                      <a:endParaRPr lang="en-US" sz="1600">
                        <a:effectLst/>
                      </a:endParaRPr>
                    </a:p>
                  </a:txBody>
                  <a:tcPr marL="62204" marR="62204" marT="41469" marB="41469"/>
                </a:tc>
                <a:tc>
                  <a:txBody>
                    <a:bodyPr/>
                    <a:lstStyle/>
                    <a:p>
                      <a:pPr algn="just" rtl="0" fontAlgn="t">
                        <a:buNone/>
                      </a:pPr>
                      <a:r>
                        <a:rPr lang="en-US" sz="1600" u="none" strike="noStrike">
                          <a:effectLst/>
                        </a:rPr>
                        <a:t>VARCHAR</a:t>
                      </a:r>
                      <a:endParaRPr lang="en-US" sz="1600">
                        <a:effectLst/>
                      </a:endParaRPr>
                    </a:p>
                  </a:txBody>
                  <a:tcPr marL="62204" marR="62204" marT="41469" marB="41469"/>
                </a:tc>
                <a:tc>
                  <a:txBody>
                    <a:bodyPr/>
                    <a:lstStyle/>
                    <a:p>
                      <a:pPr algn="just" rtl="0" fontAlgn="t">
                        <a:buNone/>
                      </a:pPr>
                      <a:r>
                        <a:rPr lang="en-US" sz="1600" u="none" strike="noStrike">
                          <a:effectLst/>
                        </a:rPr>
                        <a:t>100</a:t>
                      </a:r>
                      <a:endParaRPr lang="en-US" sz="1600">
                        <a:effectLst/>
                      </a:endParaRPr>
                    </a:p>
                  </a:txBody>
                  <a:tcPr marL="62204" marR="62204" marT="41469" marB="41469"/>
                </a:tc>
                <a:tc>
                  <a:txBody>
                    <a:bodyPr/>
                    <a:lstStyle/>
                    <a:p>
                      <a:pPr algn="just" rtl="0" fontAlgn="t">
                        <a:buNone/>
                      </a:pPr>
                      <a:r>
                        <a:rPr lang="en-US" sz="1600" u="none" strike="noStrike">
                          <a:effectLst/>
                        </a:rPr>
                        <a:t>Not Null</a:t>
                      </a:r>
                      <a:endParaRPr lang="en-US" sz="1600">
                        <a:effectLst/>
                      </a:endParaRPr>
                    </a:p>
                  </a:txBody>
                  <a:tcPr marL="62204" marR="62204" marT="41469" marB="41469"/>
                </a:tc>
                <a:tc>
                  <a:txBody>
                    <a:bodyPr/>
                    <a:lstStyle/>
                    <a:p>
                      <a:pPr algn="just" rtl="0" fontAlgn="t">
                        <a:buNone/>
                      </a:pPr>
                      <a:r>
                        <a:rPr lang="en-US" sz="1600" u="none" strike="noStrike">
                          <a:effectLst/>
                        </a:rPr>
                        <a:t>Login password</a:t>
                      </a:r>
                      <a:endParaRPr lang="en-US" sz="1600">
                        <a:effectLst/>
                      </a:endParaRPr>
                    </a:p>
                  </a:txBody>
                  <a:tcPr marL="62204" marR="62204" marT="41469" marB="41469"/>
                </a:tc>
                <a:extLst>
                  <a:ext uri="{0D108BD9-81ED-4DB2-BD59-A6C34878D82A}">
                    <a16:rowId xmlns:a16="http://schemas.microsoft.com/office/drawing/2014/main" val="2160166047"/>
                  </a:ext>
                </a:extLst>
              </a:tr>
              <a:tr h="448539">
                <a:tc>
                  <a:txBody>
                    <a:bodyPr/>
                    <a:lstStyle/>
                    <a:p>
                      <a:pPr algn="just" rtl="0" fontAlgn="t">
                        <a:buNone/>
                      </a:pPr>
                      <a:r>
                        <a:rPr lang="en-US" sz="1600" u="none" strike="noStrike">
                          <a:effectLst/>
                        </a:rPr>
                        <a:t>Role</a:t>
                      </a:r>
                      <a:endParaRPr lang="en-US" sz="1600">
                        <a:effectLst/>
                      </a:endParaRPr>
                    </a:p>
                  </a:txBody>
                  <a:tcPr marL="62204" marR="62204" marT="41469" marB="41469"/>
                </a:tc>
                <a:tc>
                  <a:txBody>
                    <a:bodyPr/>
                    <a:lstStyle/>
                    <a:p>
                      <a:pPr algn="just" rtl="0" fontAlgn="t">
                        <a:buNone/>
                      </a:pPr>
                      <a:r>
                        <a:rPr lang="en-US" sz="1600" u="none" strike="noStrike">
                          <a:effectLst/>
                        </a:rPr>
                        <a:t>VARCHAR</a:t>
                      </a:r>
                      <a:endParaRPr lang="en-US" sz="1600">
                        <a:effectLst/>
                      </a:endParaRPr>
                    </a:p>
                  </a:txBody>
                  <a:tcPr marL="62204" marR="62204" marT="41469" marB="41469"/>
                </a:tc>
                <a:tc>
                  <a:txBody>
                    <a:bodyPr/>
                    <a:lstStyle/>
                    <a:p>
                      <a:pPr algn="just" rtl="0" fontAlgn="t">
                        <a:buNone/>
                      </a:pPr>
                      <a:r>
                        <a:rPr lang="en-US" sz="1600" u="none" strike="noStrike">
                          <a:effectLst/>
                        </a:rPr>
                        <a:t>20</a:t>
                      </a:r>
                      <a:endParaRPr lang="en-US" sz="1600">
                        <a:effectLst/>
                      </a:endParaRPr>
                    </a:p>
                  </a:txBody>
                  <a:tcPr marL="62204" marR="62204" marT="41469" marB="41469"/>
                </a:tc>
                <a:tc>
                  <a:txBody>
                    <a:bodyPr/>
                    <a:lstStyle/>
                    <a:p>
                      <a:pPr algn="just" rtl="0" fontAlgn="t">
                        <a:buNone/>
                      </a:pPr>
                      <a:r>
                        <a:rPr lang="en-US" sz="1600" u="none" strike="noStrike">
                          <a:effectLst/>
                        </a:rPr>
                        <a:t>Default: staff</a:t>
                      </a:r>
                      <a:endParaRPr lang="en-US" sz="1600">
                        <a:effectLst/>
                      </a:endParaRPr>
                    </a:p>
                  </a:txBody>
                  <a:tcPr marL="62204" marR="62204" marT="41469" marB="41469"/>
                </a:tc>
                <a:tc>
                  <a:txBody>
                    <a:bodyPr/>
                    <a:lstStyle/>
                    <a:p>
                      <a:pPr algn="just" rtl="0" fontAlgn="t">
                        <a:buNone/>
                      </a:pPr>
                      <a:r>
                        <a:rPr lang="en-US" sz="1600" u="none" strike="noStrike" dirty="0">
                          <a:effectLst/>
                        </a:rPr>
                        <a:t>Type of admin</a:t>
                      </a:r>
                      <a:endParaRPr lang="en-US" sz="1600" dirty="0">
                        <a:effectLst/>
                      </a:endParaRPr>
                    </a:p>
                  </a:txBody>
                  <a:tcPr marL="62204" marR="62204" marT="41469" marB="41469"/>
                </a:tc>
                <a:extLst>
                  <a:ext uri="{0D108BD9-81ED-4DB2-BD59-A6C34878D82A}">
                    <a16:rowId xmlns:a16="http://schemas.microsoft.com/office/drawing/2014/main" val="1502968375"/>
                  </a:ext>
                </a:extLst>
              </a:tr>
            </a:tbl>
          </a:graphicData>
        </a:graphic>
      </p:graphicFrame>
      <p:sp>
        <p:nvSpPr>
          <p:cNvPr id="5" name="TextBox 4">
            <a:extLst>
              <a:ext uri="{FF2B5EF4-FFF2-40B4-BE49-F238E27FC236}">
                <a16:creationId xmlns:a16="http://schemas.microsoft.com/office/drawing/2014/main" id="{7C7E89E6-7E62-1341-05D6-CDE3FFB3199A}"/>
              </a:ext>
            </a:extLst>
          </p:cNvPr>
          <p:cNvSpPr txBox="1"/>
          <p:nvPr/>
        </p:nvSpPr>
        <p:spPr>
          <a:xfrm>
            <a:off x="574599" y="1458792"/>
            <a:ext cx="6094028" cy="400110"/>
          </a:xfrm>
          <a:prstGeom prst="rect">
            <a:avLst/>
          </a:prstGeom>
          <a:noFill/>
        </p:spPr>
        <p:txBody>
          <a:bodyPr wrap="square">
            <a:spAutoFit/>
          </a:bodyPr>
          <a:lstStyle/>
          <a:p>
            <a:pPr marL="318770" algn="just" rtl="0">
              <a:buNone/>
            </a:pPr>
            <a:r>
              <a:rPr lang="en-US" sz="2000" b="1" i="0" u="none" strike="noStrike" dirty="0">
                <a:solidFill>
                  <a:srgbClr val="000000"/>
                </a:solidFill>
                <a:effectLst/>
                <a:latin typeface="Calibri" panose="020F0502020204030204" pitchFamily="34" charset="0"/>
              </a:rPr>
              <a:t>1. Admin Table</a:t>
            </a:r>
            <a:endParaRPr lang="en-US" sz="2000" dirty="0">
              <a:effectLst/>
            </a:endParaRPr>
          </a:p>
        </p:txBody>
      </p:sp>
      <p:sp>
        <p:nvSpPr>
          <p:cNvPr id="11" name="TextBox 10">
            <a:extLst>
              <a:ext uri="{FF2B5EF4-FFF2-40B4-BE49-F238E27FC236}">
                <a16:creationId xmlns:a16="http://schemas.microsoft.com/office/drawing/2014/main" id="{67B91FAD-D8C9-EBBD-4AE9-56AB20D5864A}"/>
              </a:ext>
            </a:extLst>
          </p:cNvPr>
          <p:cNvSpPr txBox="1"/>
          <p:nvPr/>
        </p:nvSpPr>
        <p:spPr>
          <a:xfrm>
            <a:off x="2571199" y="182542"/>
            <a:ext cx="6094028" cy="523220"/>
          </a:xfrm>
          <a:prstGeom prst="rect">
            <a:avLst/>
          </a:prstGeom>
          <a:noFill/>
        </p:spPr>
        <p:txBody>
          <a:bodyPr wrap="square">
            <a:spAutoFit/>
          </a:bodyPr>
          <a:lstStyle/>
          <a:p>
            <a:pPr marL="318770" algn="just" rtl="0">
              <a:buNone/>
            </a:pPr>
            <a:r>
              <a:rPr lang="en-US" sz="2800" b="1" i="0" u="none" strike="noStrike" dirty="0">
                <a:solidFill>
                  <a:srgbClr val="000000"/>
                </a:solidFill>
                <a:effectLst/>
                <a:latin typeface="Calibri" panose="020F0502020204030204" pitchFamily="34" charset="0"/>
              </a:rPr>
              <a:t> DATA DICTIONARY </a:t>
            </a:r>
            <a:endParaRPr lang="en-US" sz="2800" dirty="0">
              <a:effectLst/>
            </a:endParaRPr>
          </a:p>
        </p:txBody>
      </p:sp>
    </p:spTree>
    <p:extLst>
      <p:ext uri="{BB962C8B-B14F-4D97-AF65-F5344CB8AC3E}">
        <p14:creationId xmlns:p14="http://schemas.microsoft.com/office/powerpoint/2010/main" val="16226456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7DE9A1-A8BB-28A5-5CAF-B4563C7E29EE}"/>
              </a:ext>
            </a:extLst>
          </p:cNvPr>
          <p:cNvSpPr txBox="1"/>
          <p:nvPr/>
        </p:nvSpPr>
        <p:spPr>
          <a:xfrm>
            <a:off x="1090963" y="421074"/>
            <a:ext cx="6033795" cy="369332"/>
          </a:xfrm>
          <a:prstGeom prst="rect">
            <a:avLst/>
          </a:prstGeom>
          <a:noFill/>
        </p:spPr>
        <p:txBody>
          <a:bodyPr wrap="square">
            <a:spAutoFit/>
          </a:bodyPr>
          <a:lstStyle/>
          <a:p>
            <a:r>
              <a:rPr lang="en-US" b="1" dirty="0">
                <a:solidFill>
                  <a:srgbClr val="000000"/>
                </a:solidFill>
                <a:latin typeface="Calibri" panose="020F0502020204030204" pitchFamily="34" charset="0"/>
              </a:rPr>
              <a:t>2</a:t>
            </a:r>
            <a:r>
              <a:rPr lang="en-US" sz="1800" b="1" i="0" u="none" strike="noStrike" dirty="0">
                <a:solidFill>
                  <a:srgbClr val="000000"/>
                </a:solidFill>
                <a:effectLst/>
                <a:latin typeface="Calibri" panose="020F0502020204030204" pitchFamily="34" charset="0"/>
              </a:rPr>
              <a:t>. flight table</a:t>
            </a:r>
            <a:endParaRPr lang="en-US" dirty="0"/>
          </a:p>
        </p:txBody>
      </p:sp>
      <p:graphicFrame>
        <p:nvGraphicFramePr>
          <p:cNvPr id="5" name="Table 4">
            <a:extLst>
              <a:ext uri="{FF2B5EF4-FFF2-40B4-BE49-F238E27FC236}">
                <a16:creationId xmlns:a16="http://schemas.microsoft.com/office/drawing/2014/main" id="{23567E1B-96C0-22F1-EF23-A4470C4F5715}"/>
              </a:ext>
            </a:extLst>
          </p:cNvPr>
          <p:cNvGraphicFramePr/>
          <p:nvPr>
            <p:extLst>
              <p:ext uri="{D42A27DB-BD31-4B8C-83A1-F6EECF244321}">
                <p14:modId xmlns:p14="http://schemas.microsoft.com/office/powerpoint/2010/main" val="2606271643"/>
              </p:ext>
            </p:extLst>
          </p:nvPr>
        </p:nvGraphicFramePr>
        <p:xfrm>
          <a:off x="1413734" y="986592"/>
          <a:ext cx="9036552" cy="4884816"/>
        </p:xfrm>
        <a:graphic>
          <a:graphicData uri="http://schemas.openxmlformats.org/drawingml/2006/table">
            <a:tbl>
              <a:tblPr>
                <a:tableStyleId>{5C22544A-7EE6-4342-B048-85BDC9FD1C3A}</a:tableStyleId>
              </a:tblPr>
              <a:tblGrid>
                <a:gridCol w="2112639">
                  <a:extLst>
                    <a:ext uri="{9D8B030D-6E8A-4147-A177-3AD203B41FA5}">
                      <a16:colId xmlns:a16="http://schemas.microsoft.com/office/drawing/2014/main" val="692548312"/>
                    </a:ext>
                  </a:extLst>
                </a:gridCol>
                <a:gridCol w="1217876">
                  <a:extLst>
                    <a:ext uri="{9D8B030D-6E8A-4147-A177-3AD203B41FA5}">
                      <a16:colId xmlns:a16="http://schemas.microsoft.com/office/drawing/2014/main" val="1246965333"/>
                    </a:ext>
                  </a:extLst>
                </a:gridCol>
                <a:gridCol w="2574364">
                  <a:extLst>
                    <a:ext uri="{9D8B030D-6E8A-4147-A177-3AD203B41FA5}">
                      <a16:colId xmlns:a16="http://schemas.microsoft.com/office/drawing/2014/main" val="2306005402"/>
                    </a:ext>
                  </a:extLst>
                </a:gridCol>
                <a:gridCol w="1292438">
                  <a:extLst>
                    <a:ext uri="{9D8B030D-6E8A-4147-A177-3AD203B41FA5}">
                      <a16:colId xmlns:a16="http://schemas.microsoft.com/office/drawing/2014/main" val="163774274"/>
                    </a:ext>
                  </a:extLst>
                </a:gridCol>
                <a:gridCol w="1839235">
                  <a:extLst>
                    <a:ext uri="{9D8B030D-6E8A-4147-A177-3AD203B41FA5}">
                      <a16:colId xmlns:a16="http://schemas.microsoft.com/office/drawing/2014/main" val="2652015392"/>
                    </a:ext>
                  </a:extLst>
                </a:gridCol>
              </a:tblGrid>
              <a:tr h="417320">
                <a:tc>
                  <a:txBody>
                    <a:bodyPr/>
                    <a:lstStyle/>
                    <a:p>
                      <a:pPr algn="l" rtl="0" fontAlgn="t">
                        <a:spcAft>
                          <a:spcPts val="800"/>
                        </a:spcAft>
                        <a:buNone/>
                      </a:pPr>
                      <a:r>
                        <a:rPr lang="en-US" sz="1600" u="none" strike="noStrike">
                          <a:effectLst/>
                        </a:rPr>
                        <a:t>Field Name</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Data type</a:t>
                      </a:r>
                      <a:endParaRPr lang="en-US" sz="1600">
                        <a:effectLst/>
                      </a:endParaRPr>
                    </a:p>
                  </a:txBody>
                  <a:tcPr marL="36394" marR="36394" marT="24263" marB="24263" anchor="ctr"/>
                </a:tc>
                <a:tc>
                  <a:txBody>
                    <a:bodyPr/>
                    <a:lstStyle/>
                    <a:p>
                      <a:pPr algn="l" rtl="0" fontAlgn="t">
                        <a:spcAft>
                          <a:spcPts val="800"/>
                        </a:spcAft>
                        <a:buNone/>
                      </a:pPr>
                      <a:r>
                        <a:rPr lang="en-US" sz="1600" u="none" strike="noStrike" dirty="0">
                          <a:effectLst/>
                        </a:rPr>
                        <a:t>Size</a:t>
                      </a:r>
                      <a:endParaRPr lang="en-US" sz="1600" dirty="0">
                        <a:effectLst/>
                      </a:endParaRPr>
                    </a:p>
                  </a:txBody>
                  <a:tcPr marL="36394" marR="36394" marT="24263" marB="24263" anchor="ctr"/>
                </a:tc>
                <a:tc>
                  <a:txBody>
                    <a:bodyPr/>
                    <a:lstStyle/>
                    <a:p>
                      <a:pPr algn="l" rtl="0" fontAlgn="t">
                        <a:spcAft>
                          <a:spcPts val="800"/>
                        </a:spcAft>
                        <a:buNone/>
                      </a:pPr>
                      <a:r>
                        <a:rPr lang="en-US" sz="1600" u="none" strike="noStrike">
                          <a:effectLst/>
                        </a:rPr>
                        <a:t>Constraints</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Description</a:t>
                      </a:r>
                      <a:endParaRPr lang="en-US" sz="1600">
                        <a:effectLst/>
                      </a:endParaRPr>
                    </a:p>
                  </a:txBody>
                  <a:tcPr marL="36394" marR="36394" marT="24263" marB="24263" anchor="ctr"/>
                </a:tc>
                <a:extLst>
                  <a:ext uri="{0D108BD9-81ED-4DB2-BD59-A6C34878D82A}">
                    <a16:rowId xmlns:a16="http://schemas.microsoft.com/office/drawing/2014/main" val="4279416598"/>
                  </a:ext>
                </a:extLst>
              </a:tr>
              <a:tr h="722779">
                <a:tc>
                  <a:txBody>
                    <a:bodyPr/>
                    <a:lstStyle/>
                    <a:p>
                      <a:pPr algn="l" rtl="0" fontAlgn="t">
                        <a:spcAft>
                          <a:spcPts val="800"/>
                        </a:spcAft>
                        <a:buNone/>
                      </a:pPr>
                      <a:r>
                        <a:rPr lang="en-US" sz="1600" u="none" strike="noStrike">
                          <a:effectLst/>
                        </a:rPr>
                        <a:t>Flight_id</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INT</a:t>
                      </a:r>
                      <a:endParaRPr lang="en-US" sz="1600">
                        <a:effectLst/>
                      </a:endParaRPr>
                    </a:p>
                  </a:txBody>
                  <a:tcPr marL="36394" marR="36394" marT="24263" marB="24263" anchor="ctr"/>
                </a:tc>
                <a:tc>
                  <a:txBody>
                    <a:bodyPr/>
                    <a:lstStyle/>
                    <a:p>
                      <a:pPr algn="l" rtl="0" fontAlgn="t">
                        <a:spcAft>
                          <a:spcPts val="800"/>
                        </a:spcAft>
                        <a:buNone/>
                      </a:pPr>
                      <a:r>
                        <a:rPr lang="en-US" sz="1600" u="none" strike="noStrike" dirty="0">
                          <a:effectLst/>
                        </a:rPr>
                        <a:t>10</a:t>
                      </a:r>
                      <a:endParaRPr lang="en-US" sz="1600" dirty="0">
                        <a:effectLst/>
                      </a:endParaRPr>
                    </a:p>
                  </a:txBody>
                  <a:tcPr marL="36394" marR="36394" marT="24263" marB="24263" anchor="ctr"/>
                </a:tc>
                <a:tc>
                  <a:txBody>
                    <a:bodyPr/>
                    <a:lstStyle/>
                    <a:p>
                      <a:pPr algn="l" rtl="0" fontAlgn="t">
                        <a:spcAft>
                          <a:spcPts val="800"/>
                        </a:spcAft>
                        <a:buNone/>
                      </a:pPr>
                      <a:r>
                        <a:rPr lang="en-US" sz="1600" u="none" strike="noStrike">
                          <a:effectLst/>
                        </a:rPr>
                        <a:t>PK,Auto increment</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Unique ID of flight</a:t>
                      </a:r>
                      <a:endParaRPr lang="en-US" sz="1600">
                        <a:effectLst/>
                      </a:endParaRPr>
                    </a:p>
                  </a:txBody>
                  <a:tcPr marL="36394" marR="36394" marT="24263" marB="24263" anchor="ctr"/>
                </a:tc>
                <a:extLst>
                  <a:ext uri="{0D108BD9-81ED-4DB2-BD59-A6C34878D82A}">
                    <a16:rowId xmlns:a16="http://schemas.microsoft.com/office/drawing/2014/main" val="1716072055"/>
                  </a:ext>
                </a:extLst>
              </a:tr>
              <a:tr h="722779">
                <a:tc>
                  <a:txBody>
                    <a:bodyPr/>
                    <a:lstStyle/>
                    <a:p>
                      <a:pPr algn="l" rtl="0" fontAlgn="t">
                        <a:spcAft>
                          <a:spcPts val="800"/>
                        </a:spcAft>
                        <a:buNone/>
                      </a:pPr>
                      <a:r>
                        <a:rPr lang="en-US" sz="1600" u="none" strike="noStrike">
                          <a:effectLst/>
                        </a:rPr>
                        <a:t>Flight_number</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VARCHAR</a:t>
                      </a:r>
                      <a:endParaRPr lang="en-US" sz="1600">
                        <a:effectLst/>
                      </a:endParaRPr>
                    </a:p>
                  </a:txBody>
                  <a:tcPr marL="36394" marR="36394" marT="24263" marB="24263" anchor="ctr"/>
                </a:tc>
                <a:tc>
                  <a:txBody>
                    <a:bodyPr/>
                    <a:lstStyle/>
                    <a:p>
                      <a:pPr algn="l" rtl="0" fontAlgn="t">
                        <a:spcAft>
                          <a:spcPts val="800"/>
                        </a:spcAft>
                        <a:buNone/>
                      </a:pPr>
                      <a:r>
                        <a:rPr lang="en-US" sz="1600" u="none" strike="noStrike" dirty="0">
                          <a:effectLst/>
                        </a:rPr>
                        <a:t>20</a:t>
                      </a:r>
                      <a:endParaRPr lang="en-US" sz="1600" dirty="0">
                        <a:effectLst/>
                      </a:endParaRPr>
                    </a:p>
                  </a:txBody>
                  <a:tcPr marL="36394" marR="36394" marT="24263" marB="24263" anchor="ctr"/>
                </a:tc>
                <a:tc>
                  <a:txBody>
                    <a:bodyPr/>
                    <a:lstStyle/>
                    <a:p>
                      <a:pPr algn="l" rtl="0" fontAlgn="t">
                        <a:spcAft>
                          <a:spcPts val="800"/>
                        </a:spcAft>
                        <a:buNone/>
                      </a:pPr>
                      <a:r>
                        <a:rPr lang="en-US" sz="1600" u="none" strike="noStrike" dirty="0">
                          <a:effectLst/>
                        </a:rPr>
                        <a:t>unique</a:t>
                      </a:r>
                      <a:endParaRPr lang="en-US" sz="1600" dirty="0">
                        <a:effectLst/>
                      </a:endParaRPr>
                    </a:p>
                  </a:txBody>
                  <a:tcPr marL="36394" marR="36394" marT="24263" marB="24263" anchor="ctr"/>
                </a:tc>
                <a:tc>
                  <a:txBody>
                    <a:bodyPr/>
                    <a:lstStyle/>
                    <a:p>
                      <a:pPr algn="l" rtl="0" fontAlgn="t">
                        <a:spcAft>
                          <a:spcPts val="800"/>
                        </a:spcAft>
                        <a:buNone/>
                      </a:pPr>
                      <a:r>
                        <a:rPr lang="en-US" sz="1600" u="none" strike="noStrike" dirty="0" err="1">
                          <a:effectLst/>
                        </a:rPr>
                        <a:t>Uniqueflight</a:t>
                      </a:r>
                      <a:r>
                        <a:rPr lang="en-US" sz="1600" u="none" strike="noStrike" dirty="0">
                          <a:effectLst/>
                        </a:rPr>
                        <a:t> number</a:t>
                      </a:r>
                      <a:endParaRPr lang="en-US" sz="1600" dirty="0">
                        <a:effectLst/>
                      </a:endParaRPr>
                    </a:p>
                  </a:txBody>
                  <a:tcPr marL="36394" marR="36394" marT="24263" marB="24263" anchor="ctr"/>
                </a:tc>
                <a:extLst>
                  <a:ext uri="{0D108BD9-81ED-4DB2-BD59-A6C34878D82A}">
                    <a16:rowId xmlns:a16="http://schemas.microsoft.com/office/drawing/2014/main" val="2929396924"/>
                  </a:ext>
                </a:extLst>
              </a:tr>
              <a:tr h="1051463">
                <a:tc>
                  <a:txBody>
                    <a:bodyPr/>
                    <a:lstStyle/>
                    <a:p>
                      <a:pPr algn="l" rtl="0" fontAlgn="t">
                        <a:spcAft>
                          <a:spcPts val="800"/>
                        </a:spcAft>
                        <a:buNone/>
                      </a:pPr>
                      <a:r>
                        <a:rPr lang="en-US" sz="1600" u="none" strike="noStrike">
                          <a:effectLst/>
                        </a:rPr>
                        <a:t>Source</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VARCHAR</a:t>
                      </a:r>
                      <a:endParaRPr lang="en-US" sz="1600">
                        <a:effectLst/>
                      </a:endParaRPr>
                    </a:p>
                  </a:txBody>
                  <a:tcPr marL="36394" marR="36394" marT="24263" marB="24263" anchor="ctr"/>
                </a:tc>
                <a:tc>
                  <a:txBody>
                    <a:bodyPr/>
                    <a:lstStyle/>
                    <a:p>
                      <a:pPr algn="l" rtl="0" fontAlgn="t">
                        <a:spcAft>
                          <a:spcPts val="800"/>
                        </a:spcAft>
                        <a:buNone/>
                      </a:pPr>
                      <a:r>
                        <a:rPr lang="en-US" sz="1600" u="none" strike="noStrike" dirty="0">
                          <a:effectLst/>
                        </a:rPr>
                        <a:t>50</a:t>
                      </a:r>
                      <a:endParaRPr lang="en-US" sz="1600" dirty="0">
                        <a:effectLst/>
                      </a:endParaRPr>
                    </a:p>
                  </a:txBody>
                  <a:tcPr marL="36394" marR="36394" marT="24263" marB="24263" anchor="ctr"/>
                </a:tc>
                <a:tc>
                  <a:txBody>
                    <a:bodyPr/>
                    <a:lstStyle/>
                    <a:p>
                      <a:pPr algn="l" rtl="0" fontAlgn="t">
                        <a:buNone/>
                      </a:pPr>
                      <a:r>
                        <a:rPr lang="en-US" sz="1600" u="none" strike="noStrike">
                          <a:effectLst/>
                        </a:rPr>
                        <a:t>Not null</a:t>
                      </a:r>
                      <a:endParaRPr lang="en-US" sz="1600">
                        <a:effectLst/>
                      </a:endParaRPr>
                    </a:p>
                    <a:p>
                      <a:pPr algn="l" fontAlgn="t">
                        <a:buNone/>
                      </a:pPr>
                      <a:br>
                        <a:rPr lang="en-US" sz="1600">
                          <a:effectLst/>
                        </a:rPr>
                      </a:b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From location</a:t>
                      </a:r>
                      <a:endParaRPr lang="en-US" sz="1600">
                        <a:effectLst/>
                      </a:endParaRPr>
                    </a:p>
                  </a:txBody>
                  <a:tcPr marL="36394" marR="36394" marT="24263" marB="24263" anchor="ctr"/>
                </a:tc>
                <a:extLst>
                  <a:ext uri="{0D108BD9-81ED-4DB2-BD59-A6C34878D82A}">
                    <a16:rowId xmlns:a16="http://schemas.microsoft.com/office/drawing/2014/main" val="1157370927"/>
                  </a:ext>
                </a:extLst>
              </a:tr>
              <a:tr h="394095">
                <a:tc>
                  <a:txBody>
                    <a:bodyPr/>
                    <a:lstStyle/>
                    <a:p>
                      <a:pPr algn="l" rtl="0" fontAlgn="t">
                        <a:spcAft>
                          <a:spcPts val="800"/>
                        </a:spcAft>
                        <a:buNone/>
                      </a:pPr>
                      <a:r>
                        <a:rPr lang="en-US" sz="1600" u="none" strike="noStrike">
                          <a:effectLst/>
                        </a:rPr>
                        <a:t>Destination</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VARCHAR</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50</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Not null</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To location</a:t>
                      </a:r>
                      <a:endParaRPr lang="en-US" sz="1600">
                        <a:effectLst/>
                      </a:endParaRPr>
                    </a:p>
                  </a:txBody>
                  <a:tcPr marL="36394" marR="36394" marT="24263" marB="24263" anchor="ctr"/>
                </a:tc>
                <a:extLst>
                  <a:ext uri="{0D108BD9-81ED-4DB2-BD59-A6C34878D82A}">
                    <a16:rowId xmlns:a16="http://schemas.microsoft.com/office/drawing/2014/main" val="1272386364"/>
                  </a:ext>
                </a:extLst>
              </a:tr>
              <a:tr h="394095">
                <a:tc>
                  <a:txBody>
                    <a:bodyPr/>
                    <a:lstStyle/>
                    <a:p>
                      <a:pPr algn="l" rtl="0" fontAlgn="t">
                        <a:spcAft>
                          <a:spcPts val="800"/>
                        </a:spcAft>
                        <a:buNone/>
                      </a:pPr>
                      <a:r>
                        <a:rPr lang="en-US" sz="1600" u="none" strike="noStrike">
                          <a:effectLst/>
                        </a:rPr>
                        <a:t>Departure_detetime</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DATETIME</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Not null</a:t>
                      </a:r>
                      <a:endParaRPr lang="en-US" sz="1600">
                        <a:effectLst/>
                      </a:endParaRPr>
                    </a:p>
                  </a:txBody>
                  <a:tcPr marL="36394" marR="36394" marT="24263" marB="24263" anchor="ctr"/>
                </a:tc>
                <a:tc>
                  <a:txBody>
                    <a:bodyPr/>
                    <a:lstStyle/>
                    <a:p>
                      <a:pPr algn="l" rtl="0" fontAlgn="t">
                        <a:spcAft>
                          <a:spcPts val="800"/>
                        </a:spcAft>
                        <a:buNone/>
                      </a:pPr>
                      <a:r>
                        <a:rPr lang="en-US" sz="1600" u="none" strike="noStrike" dirty="0">
                          <a:effectLst/>
                        </a:rPr>
                        <a:t>Departure time</a:t>
                      </a:r>
                      <a:endParaRPr lang="en-US" sz="1600" dirty="0">
                        <a:effectLst/>
                      </a:endParaRPr>
                    </a:p>
                  </a:txBody>
                  <a:tcPr marL="36394" marR="36394" marT="24263" marB="24263" anchor="ctr"/>
                </a:tc>
                <a:extLst>
                  <a:ext uri="{0D108BD9-81ED-4DB2-BD59-A6C34878D82A}">
                    <a16:rowId xmlns:a16="http://schemas.microsoft.com/office/drawing/2014/main" val="179098500"/>
                  </a:ext>
                </a:extLst>
              </a:tr>
              <a:tr h="394095">
                <a:tc>
                  <a:txBody>
                    <a:bodyPr/>
                    <a:lstStyle/>
                    <a:p>
                      <a:pPr algn="l" rtl="0" fontAlgn="t">
                        <a:spcAft>
                          <a:spcPts val="800"/>
                        </a:spcAft>
                        <a:buNone/>
                      </a:pPr>
                      <a:r>
                        <a:rPr lang="en-US" sz="1600" u="none" strike="noStrike">
                          <a:effectLst/>
                        </a:rPr>
                        <a:t>Arrival_datetime</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DATETIME</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Not null</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Arrival time</a:t>
                      </a:r>
                      <a:endParaRPr lang="en-US" sz="1600">
                        <a:effectLst/>
                      </a:endParaRPr>
                    </a:p>
                  </a:txBody>
                  <a:tcPr marL="36394" marR="36394" marT="24263" marB="24263" anchor="ctr"/>
                </a:tc>
                <a:extLst>
                  <a:ext uri="{0D108BD9-81ED-4DB2-BD59-A6C34878D82A}">
                    <a16:rowId xmlns:a16="http://schemas.microsoft.com/office/drawing/2014/main" val="3936591263"/>
                  </a:ext>
                </a:extLst>
              </a:tr>
              <a:tr h="394095">
                <a:tc>
                  <a:txBody>
                    <a:bodyPr/>
                    <a:lstStyle/>
                    <a:p>
                      <a:pPr algn="l" rtl="0" fontAlgn="t">
                        <a:spcAft>
                          <a:spcPts val="800"/>
                        </a:spcAft>
                        <a:buNone/>
                      </a:pPr>
                      <a:r>
                        <a:rPr lang="en-US" sz="1600" u="none" strike="noStrike">
                          <a:effectLst/>
                        </a:rPr>
                        <a:t>Total_seats</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INT</a:t>
                      </a:r>
                      <a:endParaRPr lang="en-US" sz="1600">
                        <a:effectLst/>
                      </a:endParaRPr>
                    </a:p>
                  </a:txBody>
                  <a:tcPr marL="36394" marR="36394" marT="24263" marB="24263" anchor="ctr"/>
                </a:tc>
                <a:tc>
                  <a:txBody>
                    <a:bodyPr/>
                    <a:lstStyle/>
                    <a:p>
                      <a:pPr algn="l" rtl="0" fontAlgn="t">
                        <a:spcAft>
                          <a:spcPts val="800"/>
                        </a:spcAft>
                        <a:buNone/>
                      </a:pPr>
                      <a:r>
                        <a:rPr lang="en-US" sz="1600" u="none" strike="noStrike" dirty="0">
                          <a:effectLst/>
                        </a:rPr>
                        <a:t>5</a:t>
                      </a:r>
                      <a:endParaRPr lang="en-US" sz="1600" dirty="0">
                        <a:effectLst/>
                      </a:endParaRPr>
                    </a:p>
                  </a:txBody>
                  <a:tcPr marL="36394" marR="36394" marT="24263" marB="24263" anchor="ctr"/>
                </a:tc>
                <a:tc>
                  <a:txBody>
                    <a:bodyPr/>
                    <a:lstStyle/>
                    <a:p>
                      <a:pPr algn="l" rtl="0" fontAlgn="t">
                        <a:spcAft>
                          <a:spcPts val="800"/>
                        </a:spcAft>
                        <a:buNone/>
                      </a:pPr>
                      <a:r>
                        <a:rPr lang="en-US" sz="1600" u="none" strike="noStrike" dirty="0">
                          <a:effectLst/>
                        </a:rPr>
                        <a:t>Not null</a:t>
                      </a:r>
                      <a:endParaRPr lang="en-US" sz="1600" dirty="0">
                        <a:effectLst/>
                      </a:endParaRPr>
                    </a:p>
                  </a:txBody>
                  <a:tcPr marL="36394" marR="36394" marT="24263" marB="24263" anchor="ctr"/>
                </a:tc>
                <a:tc>
                  <a:txBody>
                    <a:bodyPr/>
                    <a:lstStyle/>
                    <a:p>
                      <a:pPr algn="l" rtl="0" fontAlgn="t">
                        <a:spcAft>
                          <a:spcPts val="800"/>
                        </a:spcAft>
                        <a:buNone/>
                      </a:pPr>
                      <a:r>
                        <a:rPr lang="en-US" sz="1600" u="none" strike="noStrike">
                          <a:effectLst/>
                        </a:rPr>
                        <a:t>Total seats</a:t>
                      </a:r>
                      <a:endParaRPr lang="en-US" sz="1600">
                        <a:effectLst/>
                      </a:endParaRPr>
                    </a:p>
                  </a:txBody>
                  <a:tcPr marL="36394" marR="36394" marT="24263" marB="24263" anchor="ctr"/>
                </a:tc>
                <a:extLst>
                  <a:ext uri="{0D108BD9-81ED-4DB2-BD59-A6C34878D82A}">
                    <a16:rowId xmlns:a16="http://schemas.microsoft.com/office/drawing/2014/main" val="3679669227"/>
                  </a:ext>
                </a:extLst>
              </a:tr>
              <a:tr h="394095">
                <a:tc>
                  <a:txBody>
                    <a:bodyPr/>
                    <a:lstStyle/>
                    <a:p>
                      <a:pPr algn="l" rtl="0" fontAlgn="t">
                        <a:spcAft>
                          <a:spcPts val="800"/>
                        </a:spcAft>
                        <a:buNone/>
                      </a:pPr>
                      <a:r>
                        <a:rPr lang="en-US" sz="1600" u="none" strike="noStrike">
                          <a:effectLst/>
                        </a:rPr>
                        <a:t>Available_seats</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INT</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5</a:t>
                      </a:r>
                      <a:endParaRPr lang="en-US" sz="1600">
                        <a:effectLst/>
                      </a:endParaRPr>
                    </a:p>
                  </a:txBody>
                  <a:tcPr marL="36394" marR="36394" marT="24263" marB="24263" anchor="ctr"/>
                </a:tc>
                <a:tc>
                  <a:txBody>
                    <a:bodyPr/>
                    <a:lstStyle/>
                    <a:p>
                      <a:pPr algn="l" rtl="0" fontAlgn="t">
                        <a:spcAft>
                          <a:spcPts val="800"/>
                        </a:spcAft>
                        <a:buNone/>
                      </a:pPr>
                      <a:r>
                        <a:rPr lang="en-US" sz="1600" u="none" strike="noStrike">
                          <a:effectLst/>
                        </a:rPr>
                        <a:t>Not null</a:t>
                      </a:r>
                      <a:endParaRPr lang="en-US" sz="1600">
                        <a:effectLst/>
                      </a:endParaRPr>
                    </a:p>
                  </a:txBody>
                  <a:tcPr marL="36394" marR="36394" marT="24263" marB="24263" anchor="ctr"/>
                </a:tc>
                <a:tc>
                  <a:txBody>
                    <a:bodyPr/>
                    <a:lstStyle/>
                    <a:p>
                      <a:pPr algn="l" rtl="0" fontAlgn="t">
                        <a:spcAft>
                          <a:spcPts val="800"/>
                        </a:spcAft>
                        <a:buNone/>
                      </a:pPr>
                      <a:r>
                        <a:rPr lang="en-US" sz="1600" u="none" strike="noStrike" dirty="0">
                          <a:effectLst/>
                        </a:rPr>
                        <a:t>Seats available</a:t>
                      </a:r>
                      <a:endParaRPr lang="en-US" sz="1600" dirty="0">
                        <a:effectLst/>
                      </a:endParaRPr>
                    </a:p>
                  </a:txBody>
                  <a:tcPr marL="36394" marR="36394" marT="24263" marB="24263" anchor="ctr"/>
                </a:tc>
                <a:extLst>
                  <a:ext uri="{0D108BD9-81ED-4DB2-BD59-A6C34878D82A}">
                    <a16:rowId xmlns:a16="http://schemas.microsoft.com/office/drawing/2014/main" val="1759788019"/>
                  </a:ext>
                </a:extLst>
              </a:tr>
            </a:tbl>
          </a:graphicData>
        </a:graphic>
      </p:graphicFrame>
    </p:spTree>
    <p:extLst>
      <p:ext uri="{BB962C8B-B14F-4D97-AF65-F5344CB8AC3E}">
        <p14:creationId xmlns:p14="http://schemas.microsoft.com/office/powerpoint/2010/main" val="7044479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35670F-6C3A-9216-3F3F-1A61920BA664}"/>
              </a:ext>
            </a:extLst>
          </p:cNvPr>
          <p:cNvSpPr txBox="1"/>
          <p:nvPr/>
        </p:nvSpPr>
        <p:spPr>
          <a:xfrm>
            <a:off x="909279" y="738158"/>
            <a:ext cx="6094028" cy="400110"/>
          </a:xfrm>
          <a:prstGeom prst="rect">
            <a:avLst/>
          </a:prstGeom>
          <a:noFill/>
        </p:spPr>
        <p:txBody>
          <a:bodyPr wrap="square">
            <a:spAutoFit/>
          </a:bodyPr>
          <a:lstStyle/>
          <a:p>
            <a:pPr marL="318770" algn="just" rtl="0">
              <a:buNone/>
            </a:pPr>
            <a:r>
              <a:rPr lang="en-US" sz="2000" b="1" dirty="0">
                <a:solidFill>
                  <a:srgbClr val="000000"/>
                </a:solidFill>
                <a:latin typeface="Calibri" panose="020F0502020204030204" pitchFamily="34" charset="0"/>
              </a:rPr>
              <a:t>3</a:t>
            </a:r>
            <a:r>
              <a:rPr lang="en-US" sz="2000" b="1" i="0" u="none" strike="noStrike" dirty="0">
                <a:solidFill>
                  <a:srgbClr val="000000"/>
                </a:solidFill>
                <a:effectLst/>
                <a:latin typeface="Calibri" panose="020F0502020204030204" pitchFamily="34" charset="0"/>
              </a:rPr>
              <a:t>. user table</a:t>
            </a:r>
            <a:endParaRPr lang="en-US" sz="2000" dirty="0">
              <a:effectLst/>
            </a:endParaRPr>
          </a:p>
        </p:txBody>
      </p:sp>
      <p:graphicFrame>
        <p:nvGraphicFramePr>
          <p:cNvPr id="5" name="Table 4">
            <a:extLst>
              <a:ext uri="{FF2B5EF4-FFF2-40B4-BE49-F238E27FC236}">
                <a16:creationId xmlns:a16="http://schemas.microsoft.com/office/drawing/2014/main" id="{F90D7504-42EF-B06D-E9A5-4E286C37F6A2}"/>
              </a:ext>
            </a:extLst>
          </p:cNvPr>
          <p:cNvGraphicFramePr/>
          <p:nvPr>
            <p:extLst>
              <p:ext uri="{D42A27DB-BD31-4B8C-83A1-F6EECF244321}">
                <p14:modId xmlns:p14="http://schemas.microsoft.com/office/powerpoint/2010/main" val="3745706075"/>
              </p:ext>
            </p:extLst>
          </p:nvPr>
        </p:nvGraphicFramePr>
        <p:xfrm>
          <a:off x="1950079" y="1430412"/>
          <a:ext cx="8291841" cy="3621783"/>
        </p:xfrm>
        <a:graphic>
          <a:graphicData uri="http://schemas.openxmlformats.org/drawingml/2006/table">
            <a:tbl>
              <a:tblPr>
                <a:tableStyleId>{5C22544A-7EE6-4342-B048-85BDC9FD1C3A}</a:tableStyleId>
              </a:tblPr>
              <a:tblGrid>
                <a:gridCol w="1649610">
                  <a:extLst>
                    <a:ext uri="{9D8B030D-6E8A-4147-A177-3AD203B41FA5}">
                      <a16:colId xmlns:a16="http://schemas.microsoft.com/office/drawing/2014/main" val="433444368"/>
                    </a:ext>
                  </a:extLst>
                </a:gridCol>
                <a:gridCol w="1649610">
                  <a:extLst>
                    <a:ext uri="{9D8B030D-6E8A-4147-A177-3AD203B41FA5}">
                      <a16:colId xmlns:a16="http://schemas.microsoft.com/office/drawing/2014/main" val="4187038612"/>
                    </a:ext>
                  </a:extLst>
                </a:gridCol>
                <a:gridCol w="1664207">
                  <a:extLst>
                    <a:ext uri="{9D8B030D-6E8A-4147-A177-3AD203B41FA5}">
                      <a16:colId xmlns:a16="http://schemas.microsoft.com/office/drawing/2014/main" val="593673755"/>
                    </a:ext>
                  </a:extLst>
                </a:gridCol>
                <a:gridCol w="1664207">
                  <a:extLst>
                    <a:ext uri="{9D8B030D-6E8A-4147-A177-3AD203B41FA5}">
                      <a16:colId xmlns:a16="http://schemas.microsoft.com/office/drawing/2014/main" val="2362745657"/>
                    </a:ext>
                  </a:extLst>
                </a:gridCol>
                <a:gridCol w="1664207">
                  <a:extLst>
                    <a:ext uri="{9D8B030D-6E8A-4147-A177-3AD203B41FA5}">
                      <a16:colId xmlns:a16="http://schemas.microsoft.com/office/drawing/2014/main" val="1270878090"/>
                    </a:ext>
                  </a:extLst>
                </a:gridCol>
              </a:tblGrid>
              <a:tr h="832817">
                <a:tc>
                  <a:txBody>
                    <a:bodyPr/>
                    <a:lstStyle/>
                    <a:p>
                      <a:pPr algn="just" rtl="0" fontAlgn="t">
                        <a:spcAft>
                          <a:spcPts val="800"/>
                        </a:spcAft>
                        <a:buNone/>
                      </a:pPr>
                      <a:r>
                        <a:rPr lang="en-US" sz="1600" u="none" strike="noStrike">
                          <a:effectLst/>
                        </a:rPr>
                        <a:t>Field name</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Data type</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Size</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Constraints</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Description</a:t>
                      </a:r>
                      <a:endParaRPr lang="en-US" sz="1600">
                        <a:effectLst/>
                      </a:endParaRPr>
                    </a:p>
                  </a:txBody>
                  <a:tcPr marL="65198" marR="65198" marT="43465" marB="43465"/>
                </a:tc>
                <a:extLst>
                  <a:ext uri="{0D108BD9-81ED-4DB2-BD59-A6C34878D82A}">
                    <a16:rowId xmlns:a16="http://schemas.microsoft.com/office/drawing/2014/main" val="1230182085"/>
                  </a:ext>
                </a:extLst>
              </a:tr>
              <a:tr h="755345">
                <a:tc>
                  <a:txBody>
                    <a:bodyPr/>
                    <a:lstStyle/>
                    <a:p>
                      <a:pPr algn="just" rtl="0" fontAlgn="t">
                        <a:spcAft>
                          <a:spcPts val="800"/>
                        </a:spcAft>
                        <a:buNone/>
                      </a:pPr>
                      <a:r>
                        <a:rPr lang="en-US" sz="1600" u="none" strike="noStrike">
                          <a:effectLst/>
                        </a:rPr>
                        <a:t>User_id</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INT</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10</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PK,Auto increment</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Unique user ID</a:t>
                      </a:r>
                      <a:endParaRPr lang="en-US" sz="1600">
                        <a:effectLst/>
                      </a:endParaRPr>
                    </a:p>
                  </a:txBody>
                  <a:tcPr marL="65198" marR="65198" marT="43465" marB="43465"/>
                </a:tc>
                <a:extLst>
                  <a:ext uri="{0D108BD9-81ED-4DB2-BD59-A6C34878D82A}">
                    <a16:rowId xmlns:a16="http://schemas.microsoft.com/office/drawing/2014/main" val="2794438830"/>
                  </a:ext>
                </a:extLst>
              </a:tr>
              <a:tr h="639138">
                <a:tc>
                  <a:txBody>
                    <a:bodyPr/>
                    <a:lstStyle/>
                    <a:p>
                      <a:pPr algn="just" rtl="0" fontAlgn="t">
                        <a:spcAft>
                          <a:spcPts val="800"/>
                        </a:spcAft>
                        <a:buNone/>
                      </a:pPr>
                      <a:r>
                        <a:rPr lang="en-US" sz="1600" u="none" strike="noStrike">
                          <a:effectLst/>
                        </a:rPr>
                        <a:t>Full_name</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VARCHAR</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100</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Not null</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Passenger name</a:t>
                      </a:r>
                      <a:endParaRPr lang="en-US" sz="1600">
                        <a:effectLst/>
                      </a:endParaRPr>
                    </a:p>
                  </a:txBody>
                  <a:tcPr marL="65198" marR="65198" marT="43465" marB="43465"/>
                </a:tc>
                <a:extLst>
                  <a:ext uri="{0D108BD9-81ED-4DB2-BD59-A6C34878D82A}">
                    <a16:rowId xmlns:a16="http://schemas.microsoft.com/office/drawing/2014/main" val="310940155"/>
                  </a:ext>
                </a:extLst>
              </a:tr>
              <a:tr h="522931">
                <a:tc>
                  <a:txBody>
                    <a:bodyPr/>
                    <a:lstStyle/>
                    <a:p>
                      <a:pPr algn="just" rtl="0" fontAlgn="t">
                        <a:spcAft>
                          <a:spcPts val="800"/>
                        </a:spcAft>
                        <a:buNone/>
                      </a:pPr>
                      <a:r>
                        <a:rPr lang="en-US" sz="1600" u="none" strike="noStrike">
                          <a:effectLst/>
                        </a:rPr>
                        <a:t>Email</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VARCHAR</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100</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Unique</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User email</a:t>
                      </a:r>
                      <a:endParaRPr lang="en-US" sz="1600">
                        <a:effectLst/>
                      </a:endParaRPr>
                    </a:p>
                  </a:txBody>
                  <a:tcPr marL="65198" marR="65198" marT="43465" marB="43465"/>
                </a:tc>
                <a:extLst>
                  <a:ext uri="{0D108BD9-81ED-4DB2-BD59-A6C34878D82A}">
                    <a16:rowId xmlns:a16="http://schemas.microsoft.com/office/drawing/2014/main" val="666854737"/>
                  </a:ext>
                </a:extLst>
              </a:tr>
              <a:tr h="871552">
                <a:tc>
                  <a:txBody>
                    <a:bodyPr/>
                    <a:lstStyle/>
                    <a:p>
                      <a:pPr algn="just" rtl="0" fontAlgn="t">
                        <a:spcAft>
                          <a:spcPts val="800"/>
                        </a:spcAft>
                        <a:buNone/>
                      </a:pPr>
                      <a:r>
                        <a:rPr lang="en-US" sz="1600" u="none" strike="noStrike">
                          <a:effectLst/>
                        </a:rPr>
                        <a:t>Phone</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VARCHAR</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15</a:t>
                      </a:r>
                      <a:endParaRPr lang="en-US" sz="1600">
                        <a:effectLst/>
                      </a:endParaRPr>
                    </a:p>
                  </a:txBody>
                  <a:tcPr marL="65198" marR="65198" marT="43465" marB="43465"/>
                </a:tc>
                <a:tc>
                  <a:txBody>
                    <a:bodyPr/>
                    <a:lstStyle/>
                    <a:p>
                      <a:pPr algn="just" rtl="0" fontAlgn="t">
                        <a:spcAft>
                          <a:spcPts val="800"/>
                        </a:spcAft>
                        <a:buNone/>
                      </a:pPr>
                      <a:r>
                        <a:rPr lang="en-US" sz="1600" u="none" strike="noStrike">
                          <a:effectLst/>
                        </a:rPr>
                        <a:t>Not null</a:t>
                      </a:r>
                      <a:endParaRPr lang="en-US" sz="1600">
                        <a:effectLst/>
                      </a:endParaRPr>
                    </a:p>
                  </a:txBody>
                  <a:tcPr marL="65198" marR="65198" marT="43465" marB="43465"/>
                </a:tc>
                <a:tc>
                  <a:txBody>
                    <a:bodyPr/>
                    <a:lstStyle/>
                    <a:p>
                      <a:pPr algn="just" rtl="0" fontAlgn="t">
                        <a:spcAft>
                          <a:spcPts val="800"/>
                        </a:spcAft>
                        <a:buNone/>
                      </a:pPr>
                      <a:r>
                        <a:rPr lang="en-US" sz="1600" u="none" strike="noStrike" dirty="0">
                          <a:effectLst/>
                        </a:rPr>
                        <a:t>User phone number</a:t>
                      </a:r>
                      <a:endParaRPr lang="en-US" sz="1600" dirty="0">
                        <a:effectLst/>
                      </a:endParaRPr>
                    </a:p>
                  </a:txBody>
                  <a:tcPr marL="65198" marR="65198" marT="43465" marB="43465"/>
                </a:tc>
                <a:extLst>
                  <a:ext uri="{0D108BD9-81ED-4DB2-BD59-A6C34878D82A}">
                    <a16:rowId xmlns:a16="http://schemas.microsoft.com/office/drawing/2014/main" val="1848486515"/>
                  </a:ext>
                </a:extLst>
              </a:tr>
            </a:tbl>
          </a:graphicData>
        </a:graphic>
      </p:graphicFrame>
    </p:spTree>
    <p:extLst>
      <p:ext uri="{BB962C8B-B14F-4D97-AF65-F5344CB8AC3E}">
        <p14:creationId xmlns:p14="http://schemas.microsoft.com/office/powerpoint/2010/main" val="26929488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8C36A1-8F6A-1F21-585A-BD86994116C9}"/>
              </a:ext>
            </a:extLst>
          </p:cNvPr>
          <p:cNvSpPr txBox="1"/>
          <p:nvPr/>
        </p:nvSpPr>
        <p:spPr>
          <a:xfrm>
            <a:off x="694221" y="311027"/>
            <a:ext cx="6094028" cy="369332"/>
          </a:xfrm>
          <a:prstGeom prst="rect">
            <a:avLst/>
          </a:prstGeom>
          <a:noFill/>
        </p:spPr>
        <p:txBody>
          <a:bodyPr wrap="square">
            <a:spAutoFit/>
          </a:bodyPr>
          <a:lstStyle/>
          <a:p>
            <a:pPr marL="318770" algn="just" rtl="0">
              <a:buNone/>
            </a:pPr>
            <a:r>
              <a:rPr lang="en-US" b="1" dirty="0">
                <a:solidFill>
                  <a:srgbClr val="000000"/>
                </a:solidFill>
                <a:latin typeface="Calibri" panose="020F0502020204030204" pitchFamily="34" charset="0"/>
              </a:rPr>
              <a:t>4</a:t>
            </a:r>
            <a:r>
              <a:rPr lang="en-US" sz="1800" b="1" i="0" u="none" strike="noStrike" dirty="0">
                <a:solidFill>
                  <a:srgbClr val="000000"/>
                </a:solidFill>
                <a:effectLst/>
                <a:latin typeface="Calibri" panose="020F0502020204030204" pitchFamily="34" charset="0"/>
              </a:rPr>
              <a:t>. booking table</a:t>
            </a:r>
            <a:endParaRPr lang="en-US" dirty="0">
              <a:effectLst/>
            </a:endParaRPr>
          </a:p>
        </p:txBody>
      </p:sp>
      <p:graphicFrame>
        <p:nvGraphicFramePr>
          <p:cNvPr id="5" name="Table 4">
            <a:extLst>
              <a:ext uri="{FF2B5EF4-FFF2-40B4-BE49-F238E27FC236}">
                <a16:creationId xmlns:a16="http://schemas.microsoft.com/office/drawing/2014/main" id="{D41F0A71-EA61-59EC-3C71-E9E42FA3933B}"/>
              </a:ext>
            </a:extLst>
          </p:cNvPr>
          <p:cNvGraphicFramePr/>
          <p:nvPr>
            <p:extLst>
              <p:ext uri="{D42A27DB-BD31-4B8C-83A1-F6EECF244321}">
                <p14:modId xmlns:p14="http://schemas.microsoft.com/office/powerpoint/2010/main" val="3258481829"/>
              </p:ext>
            </p:extLst>
          </p:nvPr>
        </p:nvGraphicFramePr>
        <p:xfrm>
          <a:off x="1847272" y="1105361"/>
          <a:ext cx="9388612" cy="4720653"/>
        </p:xfrm>
        <a:graphic>
          <a:graphicData uri="http://schemas.openxmlformats.org/drawingml/2006/table">
            <a:tbl>
              <a:tblPr>
                <a:tableStyleId>{5C22544A-7EE6-4342-B048-85BDC9FD1C3A}</a:tableStyleId>
              </a:tblPr>
              <a:tblGrid>
                <a:gridCol w="1448611">
                  <a:extLst>
                    <a:ext uri="{9D8B030D-6E8A-4147-A177-3AD203B41FA5}">
                      <a16:colId xmlns:a16="http://schemas.microsoft.com/office/drawing/2014/main" val="3471909846"/>
                    </a:ext>
                  </a:extLst>
                </a:gridCol>
                <a:gridCol w="1126698">
                  <a:extLst>
                    <a:ext uri="{9D8B030D-6E8A-4147-A177-3AD203B41FA5}">
                      <a16:colId xmlns:a16="http://schemas.microsoft.com/office/drawing/2014/main" val="416736309"/>
                    </a:ext>
                  </a:extLst>
                </a:gridCol>
                <a:gridCol w="3017407">
                  <a:extLst>
                    <a:ext uri="{9D8B030D-6E8A-4147-A177-3AD203B41FA5}">
                      <a16:colId xmlns:a16="http://schemas.microsoft.com/office/drawing/2014/main" val="4183769578"/>
                    </a:ext>
                  </a:extLst>
                </a:gridCol>
                <a:gridCol w="1140106">
                  <a:extLst>
                    <a:ext uri="{9D8B030D-6E8A-4147-A177-3AD203B41FA5}">
                      <a16:colId xmlns:a16="http://schemas.microsoft.com/office/drawing/2014/main" val="3999983969"/>
                    </a:ext>
                  </a:extLst>
                </a:gridCol>
                <a:gridCol w="2655790">
                  <a:extLst>
                    <a:ext uri="{9D8B030D-6E8A-4147-A177-3AD203B41FA5}">
                      <a16:colId xmlns:a16="http://schemas.microsoft.com/office/drawing/2014/main" val="325857708"/>
                    </a:ext>
                  </a:extLst>
                </a:gridCol>
              </a:tblGrid>
              <a:tr h="652399">
                <a:tc>
                  <a:txBody>
                    <a:bodyPr/>
                    <a:lstStyle/>
                    <a:p>
                      <a:pPr algn="just" rtl="0" fontAlgn="t">
                        <a:spcAft>
                          <a:spcPts val="800"/>
                        </a:spcAft>
                        <a:buNone/>
                      </a:pPr>
                      <a:r>
                        <a:rPr lang="en-US" sz="1600" u="none" strike="noStrike">
                          <a:effectLst/>
                        </a:rPr>
                        <a:t>Field Name</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Data type</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Size</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Consatraints</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Description</a:t>
                      </a:r>
                      <a:endParaRPr lang="en-US" sz="1600">
                        <a:effectLst/>
                      </a:endParaRPr>
                    </a:p>
                  </a:txBody>
                  <a:tcPr marL="30866" marR="30866" marT="20577" marB="20577"/>
                </a:tc>
                <a:extLst>
                  <a:ext uri="{0D108BD9-81ED-4DB2-BD59-A6C34878D82A}">
                    <a16:rowId xmlns:a16="http://schemas.microsoft.com/office/drawing/2014/main" val="2818769669"/>
                  </a:ext>
                </a:extLst>
              </a:tr>
              <a:tr h="757010">
                <a:tc>
                  <a:txBody>
                    <a:bodyPr/>
                    <a:lstStyle/>
                    <a:p>
                      <a:pPr algn="just" rtl="0" fontAlgn="t">
                        <a:spcAft>
                          <a:spcPts val="800"/>
                        </a:spcAft>
                        <a:buNone/>
                      </a:pPr>
                      <a:r>
                        <a:rPr lang="en-US" sz="1600" u="none" strike="noStrike">
                          <a:effectLst/>
                        </a:rPr>
                        <a:t>Booking_id</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INT</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7</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PK, Auto increment</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Unique booking ID</a:t>
                      </a:r>
                      <a:endParaRPr lang="en-US" sz="1600">
                        <a:effectLst/>
                      </a:endParaRPr>
                    </a:p>
                  </a:txBody>
                  <a:tcPr marL="30866" marR="30866" marT="20577" marB="20577"/>
                </a:tc>
                <a:extLst>
                  <a:ext uri="{0D108BD9-81ED-4DB2-BD59-A6C34878D82A}">
                    <a16:rowId xmlns:a16="http://schemas.microsoft.com/office/drawing/2014/main" val="2213999219"/>
                  </a:ext>
                </a:extLst>
              </a:tr>
              <a:tr h="652399">
                <a:tc>
                  <a:txBody>
                    <a:bodyPr/>
                    <a:lstStyle/>
                    <a:p>
                      <a:pPr algn="just" rtl="0" fontAlgn="t">
                        <a:spcAft>
                          <a:spcPts val="800"/>
                        </a:spcAft>
                        <a:buNone/>
                      </a:pPr>
                      <a:r>
                        <a:rPr lang="en-US" sz="1600" u="none" strike="noStrike">
                          <a:effectLst/>
                        </a:rPr>
                        <a:t>User_id</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INT</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5</a:t>
                      </a:r>
                      <a:endParaRPr lang="en-US" sz="1600">
                        <a:effectLst/>
                      </a:endParaRPr>
                    </a:p>
                  </a:txBody>
                  <a:tcPr marL="30866" marR="30866" marT="20577" marB="20577"/>
                </a:tc>
                <a:tc>
                  <a:txBody>
                    <a:bodyPr/>
                    <a:lstStyle/>
                    <a:p>
                      <a:pPr algn="just" rtl="0" fontAlgn="t">
                        <a:buNone/>
                      </a:pPr>
                      <a:r>
                        <a:rPr lang="en-US" sz="1600" u="none" strike="noStrike">
                          <a:effectLst/>
                        </a:rPr>
                        <a:t>Fk-user</a:t>
                      </a:r>
                      <a:endParaRPr lang="en-US" sz="1600">
                        <a:effectLst/>
                      </a:endParaRPr>
                    </a:p>
                    <a:p>
                      <a:pPr algn="just" rtl="0" fontAlgn="t">
                        <a:spcAft>
                          <a:spcPts val="800"/>
                        </a:spcAft>
                        <a:buNone/>
                      </a:pPr>
                      <a:r>
                        <a:rPr lang="en-US" sz="1600" u="none" strike="noStrike">
                          <a:effectLst/>
                        </a:rPr>
                        <a:t>(user_id)</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User reference</a:t>
                      </a:r>
                      <a:endParaRPr lang="en-US" sz="1600">
                        <a:effectLst/>
                      </a:endParaRPr>
                    </a:p>
                  </a:txBody>
                  <a:tcPr marL="30866" marR="30866" marT="20577" marB="20577"/>
                </a:tc>
                <a:extLst>
                  <a:ext uri="{0D108BD9-81ED-4DB2-BD59-A6C34878D82A}">
                    <a16:rowId xmlns:a16="http://schemas.microsoft.com/office/drawing/2014/main" val="336309881"/>
                  </a:ext>
                </a:extLst>
              </a:tr>
              <a:tr h="691184">
                <a:tc>
                  <a:txBody>
                    <a:bodyPr/>
                    <a:lstStyle/>
                    <a:p>
                      <a:pPr algn="just" rtl="0" fontAlgn="t">
                        <a:spcAft>
                          <a:spcPts val="800"/>
                        </a:spcAft>
                        <a:buNone/>
                      </a:pPr>
                      <a:r>
                        <a:rPr lang="en-US" sz="1600" u="none" strike="noStrike">
                          <a:effectLst/>
                        </a:rPr>
                        <a:t>Flight_id</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INT</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10</a:t>
                      </a:r>
                      <a:endParaRPr lang="en-US" sz="1600">
                        <a:effectLst/>
                      </a:endParaRPr>
                    </a:p>
                  </a:txBody>
                  <a:tcPr marL="30866" marR="30866" marT="20577" marB="20577"/>
                </a:tc>
                <a:tc>
                  <a:txBody>
                    <a:bodyPr/>
                    <a:lstStyle/>
                    <a:p>
                      <a:pPr algn="just" rtl="0" fontAlgn="t">
                        <a:buNone/>
                      </a:pPr>
                      <a:r>
                        <a:rPr lang="en-US" sz="1600" u="none" strike="noStrike">
                          <a:effectLst/>
                        </a:rPr>
                        <a:t>FK- flight</a:t>
                      </a:r>
                      <a:endParaRPr lang="en-US" sz="1600">
                        <a:effectLst/>
                      </a:endParaRPr>
                    </a:p>
                    <a:p>
                      <a:pPr algn="just" rtl="0" fontAlgn="t">
                        <a:spcAft>
                          <a:spcPts val="800"/>
                        </a:spcAft>
                        <a:buNone/>
                      </a:pPr>
                      <a:r>
                        <a:rPr lang="en-US" sz="1600" u="none" strike="noStrike">
                          <a:effectLst/>
                        </a:rPr>
                        <a:t>(flight_id)</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Flight reference</a:t>
                      </a:r>
                      <a:endParaRPr lang="en-US" sz="1600">
                        <a:effectLst/>
                      </a:endParaRPr>
                    </a:p>
                  </a:txBody>
                  <a:tcPr marL="30866" marR="30866" marT="20577" marB="20577"/>
                </a:tc>
                <a:extLst>
                  <a:ext uri="{0D108BD9-81ED-4DB2-BD59-A6C34878D82A}">
                    <a16:rowId xmlns:a16="http://schemas.microsoft.com/office/drawing/2014/main" val="1841599460"/>
                  </a:ext>
                </a:extLst>
              </a:tr>
              <a:tr h="652399">
                <a:tc>
                  <a:txBody>
                    <a:bodyPr/>
                    <a:lstStyle/>
                    <a:p>
                      <a:pPr algn="just" rtl="0" fontAlgn="t">
                        <a:spcAft>
                          <a:spcPts val="800"/>
                        </a:spcAft>
                        <a:buNone/>
                      </a:pPr>
                      <a:r>
                        <a:rPr lang="en-US" sz="1600" u="none" strike="noStrike">
                          <a:effectLst/>
                        </a:rPr>
                        <a:t>Booking_date</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DATETIME</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Not null</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Date of booking</a:t>
                      </a:r>
                      <a:endParaRPr lang="en-US" sz="1600">
                        <a:effectLst/>
                      </a:endParaRPr>
                    </a:p>
                  </a:txBody>
                  <a:tcPr marL="30866" marR="30866" marT="20577" marB="20577"/>
                </a:tc>
                <a:extLst>
                  <a:ext uri="{0D108BD9-81ED-4DB2-BD59-A6C34878D82A}">
                    <a16:rowId xmlns:a16="http://schemas.microsoft.com/office/drawing/2014/main" val="3761734532"/>
                  </a:ext>
                </a:extLst>
              </a:tr>
              <a:tr h="362048">
                <a:tc>
                  <a:txBody>
                    <a:bodyPr/>
                    <a:lstStyle/>
                    <a:p>
                      <a:pPr algn="just" rtl="0" fontAlgn="t">
                        <a:spcAft>
                          <a:spcPts val="800"/>
                        </a:spcAft>
                        <a:buNone/>
                      </a:pPr>
                      <a:r>
                        <a:rPr lang="en-US" sz="1600" u="none" strike="noStrike">
                          <a:effectLst/>
                        </a:rPr>
                        <a:t>Seat_count</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INT</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3</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Not null</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Number of seats booked</a:t>
                      </a:r>
                      <a:endParaRPr lang="en-US" sz="1600">
                        <a:effectLst/>
                      </a:endParaRPr>
                    </a:p>
                  </a:txBody>
                  <a:tcPr marL="30866" marR="30866" marT="20577" marB="20577"/>
                </a:tc>
                <a:extLst>
                  <a:ext uri="{0D108BD9-81ED-4DB2-BD59-A6C34878D82A}">
                    <a16:rowId xmlns:a16="http://schemas.microsoft.com/office/drawing/2014/main" val="3208469351"/>
                  </a:ext>
                </a:extLst>
              </a:tr>
              <a:tr h="953214">
                <a:tc>
                  <a:txBody>
                    <a:bodyPr/>
                    <a:lstStyle/>
                    <a:p>
                      <a:pPr algn="just" rtl="0" fontAlgn="t">
                        <a:spcAft>
                          <a:spcPts val="800"/>
                        </a:spcAft>
                        <a:buNone/>
                      </a:pPr>
                      <a:r>
                        <a:rPr lang="en-US" sz="1600" u="none" strike="noStrike">
                          <a:effectLst/>
                        </a:rPr>
                        <a:t>status</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VARCHAR</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20</a:t>
                      </a:r>
                      <a:endParaRPr lang="en-US" sz="1600">
                        <a:effectLst/>
                      </a:endParaRPr>
                    </a:p>
                  </a:txBody>
                  <a:tcPr marL="30866" marR="30866" marT="20577" marB="20577"/>
                </a:tc>
                <a:tc>
                  <a:txBody>
                    <a:bodyPr/>
                    <a:lstStyle/>
                    <a:p>
                      <a:pPr algn="just" rtl="0" fontAlgn="t">
                        <a:spcAft>
                          <a:spcPts val="800"/>
                        </a:spcAft>
                        <a:buNone/>
                      </a:pPr>
                      <a:r>
                        <a:rPr lang="en-US" sz="1600" u="none" strike="noStrike">
                          <a:effectLst/>
                        </a:rPr>
                        <a:t>Default: confirmed</a:t>
                      </a:r>
                      <a:endParaRPr lang="en-US" sz="1600">
                        <a:effectLst/>
                      </a:endParaRPr>
                    </a:p>
                  </a:txBody>
                  <a:tcPr marL="30866" marR="30866" marT="20577" marB="20577"/>
                </a:tc>
                <a:tc>
                  <a:txBody>
                    <a:bodyPr/>
                    <a:lstStyle/>
                    <a:p>
                      <a:pPr algn="just" rtl="0" fontAlgn="t">
                        <a:spcAft>
                          <a:spcPts val="800"/>
                        </a:spcAft>
                        <a:buNone/>
                      </a:pPr>
                      <a:r>
                        <a:rPr lang="en-US" sz="1600" u="none" strike="noStrike" dirty="0">
                          <a:effectLst/>
                        </a:rPr>
                        <a:t>Booking status(confirmed/cancelled)</a:t>
                      </a:r>
                      <a:endParaRPr lang="en-US" sz="1600" dirty="0">
                        <a:effectLst/>
                      </a:endParaRPr>
                    </a:p>
                  </a:txBody>
                  <a:tcPr marL="30866" marR="30866" marT="20577" marB="20577"/>
                </a:tc>
                <a:extLst>
                  <a:ext uri="{0D108BD9-81ED-4DB2-BD59-A6C34878D82A}">
                    <a16:rowId xmlns:a16="http://schemas.microsoft.com/office/drawing/2014/main" val="2177609491"/>
                  </a:ext>
                </a:extLst>
              </a:tr>
            </a:tbl>
          </a:graphicData>
        </a:graphic>
      </p:graphicFrame>
    </p:spTree>
    <p:extLst>
      <p:ext uri="{BB962C8B-B14F-4D97-AF65-F5344CB8AC3E}">
        <p14:creationId xmlns:p14="http://schemas.microsoft.com/office/powerpoint/2010/main" val="1444491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151B1C6-792C-E039-F388-49651E919102}"/>
              </a:ext>
            </a:extLst>
          </p:cNvPr>
          <p:cNvGraphicFramePr/>
          <p:nvPr>
            <p:extLst>
              <p:ext uri="{D42A27DB-BD31-4B8C-83A1-F6EECF244321}">
                <p14:modId xmlns:p14="http://schemas.microsoft.com/office/powerpoint/2010/main" val="1603428055"/>
              </p:ext>
            </p:extLst>
          </p:nvPr>
        </p:nvGraphicFramePr>
        <p:xfrm>
          <a:off x="390113" y="1062493"/>
          <a:ext cx="9209017" cy="5120199"/>
        </p:xfrm>
        <a:graphic>
          <a:graphicData uri="http://schemas.openxmlformats.org/drawingml/2006/table">
            <a:tbl>
              <a:tblPr>
                <a:tableStyleId>{5C22544A-7EE6-4342-B048-85BDC9FD1C3A}</a:tableStyleId>
              </a:tblPr>
              <a:tblGrid>
                <a:gridCol w="1639183">
                  <a:extLst>
                    <a:ext uri="{9D8B030D-6E8A-4147-A177-3AD203B41FA5}">
                      <a16:colId xmlns:a16="http://schemas.microsoft.com/office/drawing/2014/main" val="1474307284"/>
                    </a:ext>
                  </a:extLst>
                </a:gridCol>
                <a:gridCol w="1021330">
                  <a:extLst>
                    <a:ext uri="{9D8B030D-6E8A-4147-A177-3AD203B41FA5}">
                      <a16:colId xmlns:a16="http://schemas.microsoft.com/office/drawing/2014/main" val="2577043525"/>
                    </a:ext>
                  </a:extLst>
                </a:gridCol>
                <a:gridCol w="2589256">
                  <a:extLst>
                    <a:ext uri="{9D8B030D-6E8A-4147-A177-3AD203B41FA5}">
                      <a16:colId xmlns:a16="http://schemas.microsoft.com/office/drawing/2014/main" val="4118937411"/>
                    </a:ext>
                  </a:extLst>
                </a:gridCol>
                <a:gridCol w="1979624">
                  <a:extLst>
                    <a:ext uri="{9D8B030D-6E8A-4147-A177-3AD203B41FA5}">
                      <a16:colId xmlns:a16="http://schemas.microsoft.com/office/drawing/2014/main" val="1404254987"/>
                    </a:ext>
                  </a:extLst>
                </a:gridCol>
                <a:gridCol w="1979624">
                  <a:extLst>
                    <a:ext uri="{9D8B030D-6E8A-4147-A177-3AD203B41FA5}">
                      <a16:colId xmlns:a16="http://schemas.microsoft.com/office/drawing/2014/main" val="1438282422"/>
                    </a:ext>
                  </a:extLst>
                </a:gridCol>
              </a:tblGrid>
              <a:tr h="973274">
                <a:tc>
                  <a:txBody>
                    <a:bodyPr/>
                    <a:lstStyle/>
                    <a:p>
                      <a:pPr algn="just" rtl="0" fontAlgn="t">
                        <a:spcAft>
                          <a:spcPts val="800"/>
                        </a:spcAft>
                        <a:buNone/>
                      </a:pPr>
                      <a:r>
                        <a:rPr lang="en-US" sz="1600" u="none" strike="noStrike">
                          <a:effectLst/>
                        </a:rPr>
                        <a:t>Field Name</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Data type</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Size</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Consatraints</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Description</a:t>
                      </a:r>
                      <a:endParaRPr lang="en-US" sz="1600">
                        <a:effectLst/>
                      </a:endParaRPr>
                    </a:p>
                  </a:txBody>
                  <a:tcPr marL="41611" marR="41611" marT="27741" marB="27741"/>
                </a:tc>
                <a:extLst>
                  <a:ext uri="{0D108BD9-81ED-4DB2-BD59-A6C34878D82A}">
                    <a16:rowId xmlns:a16="http://schemas.microsoft.com/office/drawing/2014/main" val="2129732562"/>
                  </a:ext>
                </a:extLst>
              </a:tr>
              <a:tr h="445397">
                <a:tc>
                  <a:txBody>
                    <a:bodyPr/>
                    <a:lstStyle/>
                    <a:p>
                      <a:pPr algn="just" rtl="0" fontAlgn="t">
                        <a:spcAft>
                          <a:spcPts val="800"/>
                        </a:spcAft>
                        <a:buNone/>
                      </a:pPr>
                      <a:r>
                        <a:rPr lang="en-US" sz="1600" u="none" strike="noStrike">
                          <a:effectLst/>
                        </a:rPr>
                        <a:t>Payment_id</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INT</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5</a:t>
                      </a:r>
                      <a:endParaRPr lang="en-US" sz="1600">
                        <a:effectLst/>
                      </a:endParaRPr>
                    </a:p>
                  </a:txBody>
                  <a:tcPr marL="41611" marR="41611" marT="27741" marB="27741"/>
                </a:tc>
                <a:tc>
                  <a:txBody>
                    <a:bodyPr/>
                    <a:lstStyle/>
                    <a:p>
                      <a:pPr algn="just" rtl="0" fontAlgn="t">
                        <a:buNone/>
                      </a:pPr>
                      <a:r>
                        <a:rPr lang="en-US" sz="1600" u="none" strike="noStrike">
                          <a:effectLst/>
                        </a:rPr>
                        <a:t>PK , Auto increment</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Unique payment ID</a:t>
                      </a:r>
                      <a:endParaRPr lang="en-US" sz="1600">
                        <a:effectLst/>
                      </a:endParaRPr>
                    </a:p>
                  </a:txBody>
                  <a:tcPr marL="41611" marR="41611" marT="27741" marB="27741"/>
                </a:tc>
                <a:extLst>
                  <a:ext uri="{0D108BD9-81ED-4DB2-BD59-A6C34878D82A}">
                    <a16:rowId xmlns:a16="http://schemas.microsoft.com/office/drawing/2014/main" val="2297768568"/>
                  </a:ext>
                </a:extLst>
              </a:tr>
              <a:tr h="831193">
                <a:tc>
                  <a:txBody>
                    <a:bodyPr/>
                    <a:lstStyle/>
                    <a:p>
                      <a:pPr algn="just" rtl="0" fontAlgn="t">
                        <a:spcAft>
                          <a:spcPts val="800"/>
                        </a:spcAft>
                        <a:buNone/>
                      </a:pPr>
                      <a:r>
                        <a:rPr lang="en-US" sz="1600" u="none" strike="noStrike">
                          <a:effectLst/>
                        </a:rPr>
                        <a:t>Booking_id</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INT</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5</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Fk-Booking(booking_id)</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Booking reference</a:t>
                      </a:r>
                      <a:endParaRPr lang="en-US" sz="1600">
                        <a:effectLst/>
                      </a:endParaRPr>
                    </a:p>
                  </a:txBody>
                  <a:tcPr marL="41611" marR="41611" marT="27741" marB="27741"/>
                </a:tc>
                <a:extLst>
                  <a:ext uri="{0D108BD9-81ED-4DB2-BD59-A6C34878D82A}">
                    <a16:rowId xmlns:a16="http://schemas.microsoft.com/office/drawing/2014/main" val="1176733143"/>
                  </a:ext>
                </a:extLst>
              </a:tr>
              <a:tr h="643351">
                <a:tc>
                  <a:txBody>
                    <a:bodyPr/>
                    <a:lstStyle/>
                    <a:p>
                      <a:pPr algn="just" rtl="0" fontAlgn="t">
                        <a:spcAft>
                          <a:spcPts val="800"/>
                        </a:spcAft>
                        <a:buNone/>
                      </a:pPr>
                      <a:r>
                        <a:rPr lang="en-US" sz="1600" u="none" strike="noStrike">
                          <a:effectLst/>
                        </a:rPr>
                        <a:t>Amount</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DECIMAL</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10,2</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Not null</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Ticket amount</a:t>
                      </a:r>
                      <a:endParaRPr lang="en-US" sz="1600">
                        <a:effectLst/>
                      </a:endParaRPr>
                    </a:p>
                  </a:txBody>
                  <a:tcPr marL="41611" marR="41611" marT="27741" marB="27741"/>
                </a:tc>
                <a:extLst>
                  <a:ext uri="{0D108BD9-81ED-4DB2-BD59-A6C34878D82A}">
                    <a16:rowId xmlns:a16="http://schemas.microsoft.com/office/drawing/2014/main" val="1571247561"/>
                  </a:ext>
                </a:extLst>
              </a:tr>
              <a:tr h="742328">
                <a:tc>
                  <a:txBody>
                    <a:bodyPr/>
                    <a:lstStyle/>
                    <a:p>
                      <a:pPr algn="just" rtl="0" fontAlgn="t">
                        <a:spcAft>
                          <a:spcPts val="800"/>
                        </a:spcAft>
                        <a:buNone/>
                      </a:pPr>
                      <a:r>
                        <a:rPr lang="en-US" sz="1600" u="none" strike="noStrike">
                          <a:effectLst/>
                        </a:rPr>
                        <a:t>Payment_method</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VARCHAR</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50</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Not null</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UPI/Card/NetBanking</a:t>
                      </a:r>
                      <a:endParaRPr lang="en-US" sz="1600">
                        <a:effectLst/>
                      </a:endParaRPr>
                    </a:p>
                  </a:txBody>
                  <a:tcPr marL="41611" marR="41611" marT="27741" marB="27741"/>
                </a:tc>
                <a:extLst>
                  <a:ext uri="{0D108BD9-81ED-4DB2-BD59-A6C34878D82A}">
                    <a16:rowId xmlns:a16="http://schemas.microsoft.com/office/drawing/2014/main" val="328112080"/>
                  </a:ext>
                </a:extLst>
              </a:tr>
              <a:tr h="742328">
                <a:tc>
                  <a:txBody>
                    <a:bodyPr/>
                    <a:lstStyle/>
                    <a:p>
                      <a:pPr algn="just" rtl="0" fontAlgn="t">
                        <a:spcAft>
                          <a:spcPts val="800"/>
                        </a:spcAft>
                        <a:buNone/>
                      </a:pPr>
                      <a:r>
                        <a:rPr lang="en-US" sz="1600" u="none" strike="noStrike">
                          <a:effectLst/>
                        </a:rPr>
                        <a:t>Payment_date</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DATETIME</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Not null</a:t>
                      </a:r>
                      <a:endParaRPr lang="en-US" sz="1600">
                        <a:effectLst/>
                      </a:endParaRPr>
                    </a:p>
                  </a:txBody>
                  <a:tcPr marL="41611" marR="41611" marT="27741" marB="27741"/>
                </a:tc>
                <a:tc>
                  <a:txBody>
                    <a:bodyPr/>
                    <a:lstStyle/>
                    <a:p>
                      <a:pPr algn="just" rtl="0" fontAlgn="t">
                        <a:spcAft>
                          <a:spcPts val="800"/>
                        </a:spcAft>
                        <a:buNone/>
                      </a:pPr>
                      <a:r>
                        <a:rPr lang="en-US" sz="1600" u="none" strike="noStrike" dirty="0">
                          <a:effectLst/>
                        </a:rPr>
                        <a:t>Date of payment</a:t>
                      </a:r>
                      <a:endParaRPr lang="en-US" sz="1600" dirty="0">
                        <a:effectLst/>
                      </a:endParaRPr>
                    </a:p>
                  </a:txBody>
                  <a:tcPr marL="41611" marR="41611" marT="27741" marB="27741"/>
                </a:tc>
                <a:extLst>
                  <a:ext uri="{0D108BD9-81ED-4DB2-BD59-A6C34878D82A}">
                    <a16:rowId xmlns:a16="http://schemas.microsoft.com/office/drawing/2014/main" val="674265290"/>
                  </a:ext>
                </a:extLst>
              </a:tr>
              <a:tr h="742328">
                <a:tc>
                  <a:txBody>
                    <a:bodyPr/>
                    <a:lstStyle/>
                    <a:p>
                      <a:pPr algn="just" rtl="0" fontAlgn="t">
                        <a:spcAft>
                          <a:spcPts val="800"/>
                        </a:spcAft>
                        <a:buNone/>
                      </a:pPr>
                      <a:r>
                        <a:rPr lang="en-US" sz="1600" u="none" strike="noStrike">
                          <a:effectLst/>
                        </a:rPr>
                        <a:t>Payment_status</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VARCHAR</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20</a:t>
                      </a:r>
                      <a:endParaRPr lang="en-US" sz="1600">
                        <a:effectLst/>
                      </a:endParaRPr>
                    </a:p>
                  </a:txBody>
                  <a:tcPr marL="41611" marR="41611" marT="27741" marB="27741"/>
                </a:tc>
                <a:tc>
                  <a:txBody>
                    <a:bodyPr/>
                    <a:lstStyle/>
                    <a:p>
                      <a:pPr algn="just" rtl="0" fontAlgn="t">
                        <a:spcAft>
                          <a:spcPts val="800"/>
                        </a:spcAft>
                        <a:buNone/>
                      </a:pPr>
                      <a:r>
                        <a:rPr lang="en-US" sz="1600" u="none" strike="noStrike">
                          <a:effectLst/>
                        </a:rPr>
                        <a:t>Dafault : Success</a:t>
                      </a:r>
                      <a:endParaRPr lang="en-US" sz="1600">
                        <a:effectLst/>
                      </a:endParaRPr>
                    </a:p>
                  </a:txBody>
                  <a:tcPr marL="41611" marR="41611" marT="27741" marB="27741"/>
                </a:tc>
                <a:tc>
                  <a:txBody>
                    <a:bodyPr/>
                    <a:lstStyle/>
                    <a:p>
                      <a:pPr algn="just" rtl="0" fontAlgn="t">
                        <a:spcAft>
                          <a:spcPts val="800"/>
                        </a:spcAft>
                        <a:buNone/>
                      </a:pPr>
                      <a:r>
                        <a:rPr lang="en-US" sz="1600" u="none" strike="noStrike" dirty="0">
                          <a:effectLst/>
                        </a:rPr>
                        <a:t>Success/Failed/pending</a:t>
                      </a:r>
                      <a:endParaRPr lang="en-US" sz="1600" dirty="0">
                        <a:effectLst/>
                      </a:endParaRPr>
                    </a:p>
                  </a:txBody>
                  <a:tcPr marL="41611" marR="41611" marT="27741" marB="27741"/>
                </a:tc>
                <a:extLst>
                  <a:ext uri="{0D108BD9-81ED-4DB2-BD59-A6C34878D82A}">
                    <a16:rowId xmlns:a16="http://schemas.microsoft.com/office/drawing/2014/main" val="3241604592"/>
                  </a:ext>
                </a:extLst>
              </a:tr>
            </a:tbl>
          </a:graphicData>
        </a:graphic>
      </p:graphicFrame>
      <p:sp>
        <p:nvSpPr>
          <p:cNvPr id="5" name="TextBox 4">
            <a:extLst>
              <a:ext uri="{FF2B5EF4-FFF2-40B4-BE49-F238E27FC236}">
                <a16:creationId xmlns:a16="http://schemas.microsoft.com/office/drawing/2014/main" id="{C6766650-6435-F6E8-7569-E2C32BDDEC22}"/>
              </a:ext>
            </a:extLst>
          </p:cNvPr>
          <p:cNvSpPr txBox="1"/>
          <p:nvPr/>
        </p:nvSpPr>
        <p:spPr>
          <a:xfrm>
            <a:off x="755597" y="162640"/>
            <a:ext cx="6094028" cy="369332"/>
          </a:xfrm>
          <a:prstGeom prst="rect">
            <a:avLst/>
          </a:prstGeom>
          <a:noFill/>
        </p:spPr>
        <p:txBody>
          <a:bodyPr wrap="square">
            <a:spAutoFit/>
          </a:bodyPr>
          <a:lstStyle/>
          <a:p>
            <a:pPr marL="318770" algn="just" rtl="0">
              <a:buNone/>
            </a:pPr>
            <a:r>
              <a:rPr lang="en-US" b="1" dirty="0">
                <a:solidFill>
                  <a:srgbClr val="000000"/>
                </a:solidFill>
                <a:latin typeface="Calibri" panose="020F0502020204030204" pitchFamily="34" charset="0"/>
              </a:rPr>
              <a:t>5.</a:t>
            </a:r>
            <a:r>
              <a:rPr lang="en-US" sz="1800" b="1" i="0" u="none" strike="noStrike" dirty="0">
                <a:solidFill>
                  <a:srgbClr val="000000"/>
                </a:solidFill>
                <a:effectLst/>
                <a:latin typeface="Calibri" panose="020F0502020204030204" pitchFamily="34" charset="0"/>
              </a:rPr>
              <a:t>payment table</a:t>
            </a:r>
            <a:endParaRPr lang="en-US" dirty="0">
              <a:effectLst/>
            </a:endParaRPr>
          </a:p>
        </p:txBody>
      </p:sp>
      <p:sp>
        <p:nvSpPr>
          <p:cNvPr id="4" name="TextBox 3">
            <a:extLst>
              <a:ext uri="{FF2B5EF4-FFF2-40B4-BE49-F238E27FC236}">
                <a16:creationId xmlns:a16="http://schemas.microsoft.com/office/drawing/2014/main" id="{E58CCF86-D3A4-0AF1-FA65-823E5A062086}"/>
              </a:ext>
            </a:extLst>
          </p:cNvPr>
          <p:cNvSpPr txBox="1"/>
          <p:nvPr/>
        </p:nvSpPr>
        <p:spPr>
          <a:xfrm>
            <a:off x="5865478" y="6343881"/>
            <a:ext cx="6094028" cy="369332"/>
          </a:xfrm>
          <a:prstGeom prst="rect">
            <a:avLst/>
          </a:prstGeom>
          <a:noFill/>
        </p:spPr>
        <p:txBody>
          <a:bodyPr wrap="square">
            <a:spAutoFit/>
          </a:bodyPr>
          <a:lstStyle/>
          <a:p>
            <a:pPr marL="318770" algn="just" rtl="0">
              <a:buNone/>
            </a:pPr>
            <a:endParaRPr lang="en-US" dirty="0">
              <a:effectLst/>
            </a:endParaRPr>
          </a:p>
        </p:txBody>
      </p:sp>
    </p:spTree>
    <p:extLst>
      <p:ext uri="{BB962C8B-B14F-4D97-AF65-F5344CB8AC3E}">
        <p14:creationId xmlns:p14="http://schemas.microsoft.com/office/powerpoint/2010/main" val="3154527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7419B7-7F41-A950-11FA-A78BE8715162}"/>
              </a:ext>
            </a:extLst>
          </p:cNvPr>
          <p:cNvSpPr txBox="1"/>
          <p:nvPr/>
        </p:nvSpPr>
        <p:spPr>
          <a:xfrm>
            <a:off x="3839062" y="2546121"/>
            <a:ext cx="6094028" cy="1323439"/>
          </a:xfrm>
          <a:prstGeom prst="rect">
            <a:avLst/>
          </a:prstGeom>
          <a:noFill/>
        </p:spPr>
        <p:txBody>
          <a:bodyPr wrap="square">
            <a:spAutoFit/>
          </a:bodyPr>
          <a:lstStyle/>
          <a:p>
            <a:r>
              <a:rPr lang="en-US" sz="8000" b="1" dirty="0">
                <a:solidFill>
                  <a:srgbClr val="000000"/>
                </a:solidFill>
                <a:latin typeface="Calibri" panose="020F0502020204030204" pitchFamily="34" charset="0"/>
              </a:rPr>
              <a:t>Thank you</a:t>
            </a:r>
            <a:endParaRPr lang="en-US" sz="8000" b="1" dirty="0"/>
          </a:p>
        </p:txBody>
      </p:sp>
    </p:spTree>
    <p:extLst>
      <p:ext uri="{BB962C8B-B14F-4D97-AF65-F5344CB8AC3E}">
        <p14:creationId xmlns:p14="http://schemas.microsoft.com/office/powerpoint/2010/main" val="339430918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173</TotalTime>
  <Words>1858</Words>
  <Application>Microsoft Office PowerPoint</Application>
  <PresentationFormat>Widescreen</PresentationFormat>
  <Paragraphs>364</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Calibri Light</vt:lpstr>
      <vt:lpstr>Noto Sans Symbols</vt:lpstr>
      <vt:lpstr>Segoe UI Symbol</vt:lpstr>
      <vt:lpstr>Times New Roman</vt:lpstr>
      <vt:lpstr>Office 2013 - 2022 Theme</vt:lpstr>
      <vt:lpstr>A Project Report On Airlines ticket Booking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Project Report On Airlines ticket Booking System </dc:title>
  <dc:creator>ASUS</dc:creator>
  <cp:lastModifiedBy>Zanzarukiya Vidhi</cp:lastModifiedBy>
  <cp:revision>9</cp:revision>
  <dcterms:created xsi:type="dcterms:W3CDTF">2025-12-09T08:56:48Z</dcterms:created>
  <dcterms:modified xsi:type="dcterms:W3CDTF">2026-01-02T14:01:43Z</dcterms:modified>
</cp:coreProperties>
</file>